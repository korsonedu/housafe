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21"/>
  </p:handoutMasterIdLst>
  <p:sldIdLst>
    <p:sldId id="256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75" r:id="rId11"/>
    <p:sldId id="276" r:id="rId12"/>
    <p:sldId id="266" r:id="rId13"/>
    <p:sldId id="268" r:id="rId14"/>
    <p:sldId id="278" r:id="rId15"/>
    <p:sldId id="279" r:id="rId16"/>
    <p:sldId id="267" r:id="rId17"/>
    <p:sldId id="274" r:id="rId19"/>
    <p:sldId id="270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30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4"/>
    <a:srgbClr val="002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40"/>
        <p:guide pos="30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Helvetica Neue" panose="02000503000000020004" charset="0"/>
              <a:ea typeface="苹方-简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Helvetica Neue" panose="02000503000000020004" charset="0"/>
                <a:ea typeface="苹方-简" panose="020B0400000000000000" charset="-122"/>
              </a:rPr>
            </a:fld>
            <a:endParaRPr lang="zh-CN" altLang="en-US">
              <a:latin typeface="Helvetica Neue" panose="02000503000000020004" charset="0"/>
              <a:ea typeface="苹方-简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Helvetica Neue" panose="02000503000000020004" charset="0"/>
              <a:ea typeface="苹方-简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Helvetica Neue" panose="02000503000000020004" charset="0"/>
                <a:ea typeface="苹方-简" panose="020B0400000000000000" charset="-122"/>
              </a:rPr>
            </a:fld>
            <a:endParaRPr lang="zh-CN" altLang="en-US">
              <a:latin typeface="Helvetica Neue" panose="02000503000000020004" charset="0"/>
              <a:ea typeface="苹方-简" panose="020B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Neue" panose="02000503000000020004" charset="0"/>
                <a:ea typeface="苹方-简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Neue" panose="02000503000000020004" charset="0"/>
                <a:ea typeface="苹方-简" panose="020B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Neue" panose="02000503000000020004" charset="0"/>
                <a:ea typeface="苹方-简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Neue" panose="02000503000000020004" charset="0"/>
                <a:ea typeface="苹方-简" panose="020B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elvetica Neue" panose="02000503000000020004" charset="0"/>
        <a:ea typeface="苹方-简" panose="020B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charset="0"/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charset="0"/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家安</a:t>
            </a:r>
            <a:r>
              <a:rPr lang="zh-CN" sz="12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科技</a:t>
            </a:r>
            <a:r>
              <a:rPr sz="12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· 商业计划书</a:t>
            </a:r>
            <a:endParaRPr sz="1200" b="0" i="0" spc="12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82296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HOUSAFE · </a:t>
            </a:r>
            <a:r>
              <a:rPr lang="zh-CN"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基于世界模型构建的</a:t>
            </a:r>
            <a:r>
              <a:rPr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养老</a:t>
            </a:r>
            <a:r>
              <a:rPr lang="zh-CN"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监测</a:t>
            </a:r>
            <a:r>
              <a:rPr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AI </a:t>
            </a:r>
            <a:r>
              <a:rPr lang="zh-CN" b="1" i="0" spc="15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产品</a:t>
            </a:r>
            <a:endParaRPr lang="zh-CN" b="1" i="0" spc="15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955165"/>
            <a:ext cx="11548872" cy="1196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让每一位独居老人</a:t>
            </a:r>
            <a:r>
              <a:rPr lang="zh-CN"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的健康</a:t>
            </a:r>
            <a:r>
              <a:rPr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endParaRPr sz="36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  <a:p>
            <a:pPr>
              <a:lnSpc>
                <a:spcPct val="108000"/>
              </a:lnSpc>
            </a:pPr>
            <a:r>
              <a:rPr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被持续</a:t>
            </a:r>
            <a:r>
              <a:rPr lang="zh-CN"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关注</a:t>
            </a:r>
            <a:endParaRPr lang="zh-CN" sz="36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3555365"/>
            <a:ext cx="11548872" cy="0"/>
          </a:xfrm>
          <a:prstGeom prst="bentConnector3">
            <a:avLst/>
          </a:prstGeom>
          <a:ln w="12700">
            <a:solidFill>
              <a:srgbClr val="6E8A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3738245"/>
            <a:ext cx="11548872" cy="639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毫米波雷达组网，</a:t>
            </a:r>
            <a:r>
              <a:rPr 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上传世界模型底座进行计算</a:t>
            </a:r>
            <a:r>
              <a:rPr lang="en-US" alt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lang="zh-CN" altLang="en-US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持续</a:t>
            </a:r>
            <a:r>
              <a:rPr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感知老人在家状态，</a:t>
            </a:r>
            <a:r>
              <a:rPr 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关注</a:t>
            </a:r>
            <a:r>
              <a:rPr 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微小的异常</a:t>
            </a:r>
            <a:r>
              <a:rPr lang="en-US" altLang="zh-CN"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分级通知异地子女。从跌倒监测切入，做居家养老的健康基础设施。</a:t>
            </a:r>
            <a:endParaRPr sz="16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5277358"/>
            <a:ext cx="1154887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天使轮 · 拟融资</a:t>
            </a:r>
            <a:r>
              <a:rPr lang="en-US"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 3</a:t>
            </a:r>
            <a:r>
              <a:rPr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00 万人民币 / </a:t>
            </a:r>
            <a:r>
              <a:rPr lang="en-US"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12</a:t>
            </a:r>
            <a:r>
              <a:rPr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 个月 · 出让约 1</a:t>
            </a:r>
            <a:r>
              <a:rPr lang="en-US"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0</a:t>
            </a:r>
            <a:r>
              <a:rPr sz="1200" b="0" i="0" spc="110">
                <a:solidFill>
                  <a:srgbClr val="D5DDF2"/>
                </a:solidFill>
                <a:latin typeface="Arial" panose="020B0604020202090204"/>
                <a:ea typeface="苹方-简" panose="020B0400000000000000" charset="-122"/>
              </a:rPr>
              <a:t>%</a:t>
            </a:r>
            <a:endParaRPr sz="1200" b="0" i="0" spc="110">
              <a:solidFill>
                <a:srgbClr val="D5DDF2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6315455"/>
            <a:ext cx="1154887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1200" b="0" i="0" spc="11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家安科技</a:t>
            </a:r>
            <a:r>
              <a:rPr lang="en-US" altLang="zh-CN" sz="1200" b="0" i="0" spc="11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HOUSAFE</a:t>
            </a:r>
            <a:r>
              <a:rPr sz="1200" b="0" i="0" spc="11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· 2026</a:t>
            </a:r>
            <a:endParaRPr sz="1200" b="0" i="0" spc="11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pic>
        <p:nvPicPr>
          <p:cNvPr id="4" name="图片 3" descr="家安科技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5060" y="0"/>
            <a:ext cx="2186940" cy="2186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822960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被忽视的高频高危</a:t>
            </a:r>
            <a:endParaRPr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3958590" cy="2131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4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每 3 位老人</a:t>
            </a:r>
            <a:endParaRPr sz="4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>
              <a:lnSpc>
                <a:spcPct val="105000"/>
              </a:lnSpc>
            </a:pPr>
            <a:r>
              <a:rPr sz="4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就有 1 人</a:t>
            </a:r>
            <a:endParaRPr sz="4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>
              <a:lnSpc>
                <a:spcPct val="105000"/>
              </a:lnSpc>
            </a:pPr>
            <a:r>
              <a:rPr sz="4400" b="0" i="1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每年跌倒</a:t>
            </a:r>
            <a:endParaRPr sz="4400" b="0" i="1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3581400"/>
            <a:ext cx="4572000" cy="2153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2.2 亿 65+ 老人（占 15.6%，2035 年约 3 亿）。90% 居家养老。独居/空巢约 1.2 亿</a:t>
            </a:r>
            <a:r>
              <a:rPr lang="en-US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异地子女</a:t>
            </a:r>
            <a:r>
              <a:rPr 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难以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知晓</a:t>
            </a:r>
            <a:r>
              <a:rPr 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父母真实状态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。跌倒是 65+ </a:t>
            </a:r>
            <a:r>
              <a:rPr 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老人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伤害死亡首位、创伤性骨折首位。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更根本的盲区：现有方案只能出事后告警。日常的、微小的偏离</a:t>
            </a:r>
            <a:r>
              <a:rPr lang="en-US" alt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如活动量连续下降、睡眠逐渐恶化、呼吸频率变化等没人关注。这些</a:t>
            </a:r>
            <a:r>
              <a:rPr lang="zh-CN" altLang="en-US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才是大问题的前兆。</a:t>
            </a:r>
            <a:endParaRPr lang="zh-CN" altLang="en-US"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0" y="823595"/>
            <a:ext cx="63825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0" y="942340"/>
            <a:ext cx="6382512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年跌倒人数</a:t>
            </a:r>
            <a:endParaRPr sz="16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1167257"/>
            <a:ext cx="6382512" cy="67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4000万+</a:t>
            </a:r>
            <a:endParaRPr sz="44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0" y="1776730"/>
            <a:ext cx="6382512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约 30% 每年至少跌倒一次。跌倒是伤害死亡首位、创伤性骨折首位。</a:t>
            </a:r>
            <a:endParaRPr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486400" y="2563495"/>
            <a:ext cx="63825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0" y="2641600"/>
            <a:ext cx="6382512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摔倒后无法自行起身</a:t>
            </a:r>
            <a:endParaRPr sz="16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2959862"/>
            <a:ext cx="6382512" cy="67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47%</a:t>
            </a:r>
            <a:endParaRPr sz="44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0" y="3669030"/>
            <a:ext cx="6382512" cy="66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20–30% 倒地超 1 小时。髋部骨折 1 年死亡率 14–25%，人均住院约 1.98 万元。</a:t>
            </a:r>
            <a:endParaRPr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4475480"/>
            <a:ext cx="63825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0" y="4603115"/>
            <a:ext cx="6382512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现有方案</a:t>
            </a:r>
            <a:r>
              <a:rPr lang="zh-CN" sz="16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痛点</a:t>
            </a:r>
            <a:endParaRPr lang="zh-CN" sz="16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1375" y="4918710"/>
            <a:ext cx="4177665" cy="3530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浴室卧室不可装，隐私争议大，老人抵触强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91375" y="5263515"/>
            <a:ext cx="4803775" cy="33782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依从性</a:t>
            </a:r>
            <a:r>
              <a:rPr 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低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，忘戴、洗澡取下、充电时失效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91375" y="5593080"/>
            <a:ext cx="4803775" cy="33782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摔倒后够不到，意识丧失时完全无效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91375" y="5946775"/>
            <a:ext cx="4803775" cy="33782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单房间覆盖、误报率高、精度出厂定型、无长期趋势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" y="6492240"/>
            <a:ext cx="11548872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来源：民政部《2024 国家老龄事业发展公报》· CDC《老年人跌倒干预技术指南》(2011)/《核心信息》(2021) · BMJ Long-lie 研究(2023)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414010" y="4918710"/>
            <a:ext cx="8788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latin typeface="Arial" panose="020B0604020202090204"/>
                <a:ea typeface="苹方-简" panose="020B0400000000000000" charset="-122"/>
                <a:sym typeface="+mn-ea"/>
              </a:rPr>
              <a:t>摄像头</a:t>
            </a:r>
            <a:endParaRPr lang="zh-CN" altLang="en-US" sz="1600"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14010" y="5255260"/>
            <a:ext cx="11576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latin typeface="Arial" panose="020B0604020202090204"/>
                <a:ea typeface="苹方-简" panose="020B0400000000000000" charset="-122"/>
                <a:sym typeface="+mn-ea"/>
              </a:rPr>
              <a:t>手环/手表</a:t>
            </a:r>
            <a:endParaRPr lang="zh-CN" altLang="en-US" sz="1600"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14010" y="5588000"/>
            <a:ext cx="11569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latin typeface="Arial" panose="020B0604020202090204"/>
                <a:ea typeface="苹方-简" panose="020B0400000000000000" charset="-122"/>
                <a:sym typeface="+mn-ea"/>
              </a:rPr>
              <a:t>紧急按钮 </a:t>
            </a:r>
            <a:endParaRPr lang="zh-CN" altLang="en-US" sz="1600"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414010" y="5944235"/>
            <a:ext cx="1186815" cy="3371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/>
            <a:r>
              <a:rPr lang="zh-CN" sz="1600">
                <a:latin typeface="Arial" panose="020B0604020202090204"/>
                <a:ea typeface="苹方-简" panose="020B0400000000000000" charset="-122"/>
                <a:sym typeface="+mn-ea"/>
              </a:rPr>
              <a:t>单</a:t>
            </a:r>
            <a:r>
              <a:rPr sz="1600">
                <a:latin typeface="Arial" panose="020B0604020202090204"/>
                <a:ea typeface="苹方-简" panose="020B0400000000000000" charset="-122"/>
                <a:sym typeface="+mn-ea"/>
              </a:rPr>
              <a:t>雷达</a:t>
            </a:r>
            <a:endParaRPr lang="zh-CN" altLang="en-US" sz="1600"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6497320" y="6106160"/>
            <a:ext cx="518160" cy="0"/>
          </a:xfrm>
          <a:prstGeom prst="straightConnector1">
            <a:avLst/>
          </a:prstGeom>
          <a:ln w="12700">
            <a:solidFill>
              <a:srgbClr val="002FA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6497320" y="5085715"/>
            <a:ext cx="518160" cy="0"/>
          </a:xfrm>
          <a:prstGeom prst="straightConnector1">
            <a:avLst/>
          </a:prstGeom>
          <a:ln w="12700">
            <a:solidFill>
              <a:srgbClr val="002FA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6497320" y="5417820"/>
            <a:ext cx="518160" cy="0"/>
          </a:xfrm>
          <a:prstGeom prst="straightConnector1">
            <a:avLst/>
          </a:prstGeom>
          <a:ln w="12700">
            <a:solidFill>
              <a:srgbClr val="002FA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6497320" y="5749925"/>
            <a:ext cx="518160" cy="0"/>
          </a:xfrm>
          <a:prstGeom prst="straightConnector1">
            <a:avLst/>
          </a:prstGeom>
          <a:ln w="12700">
            <a:solidFill>
              <a:srgbClr val="002FA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7762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市场分析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455" y="642620"/>
            <a:ext cx="11548745" cy="387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一个正在爆发的银发健康市场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069975"/>
            <a:ext cx="11548872" cy="538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银发经济 2024 约 7 万亿 → 2035 约 30 万亿（CAGR≈15%）。我们切入具体刚需：独居老人室内无感监测。需求、供给、政策三端同时在 2024–2025 年到位。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2102485"/>
            <a:ext cx="2788920" cy="2103755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429768" y="2225039"/>
            <a:ext cx="260603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TAM · 银发经济 2035E</a:t>
            </a:r>
            <a:endParaRPr sz="1050" b="0" i="0" spc="10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2453639"/>
            <a:ext cx="2606039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30 万亿</a:t>
            </a:r>
            <a:endParaRPr sz="32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768" y="3703320"/>
            <a:ext cx="2606039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DE4F5"/>
                </a:solidFill>
                <a:latin typeface="Arial" panose="020B0604020202090204"/>
                <a:ea typeface="苹方-简" panose="020B0400000000000000" charset="-122"/>
              </a:rPr>
              <a:t>2024 约 7 万亿，CAGR≈15%
占 GDP 6%→10%</a:t>
            </a:r>
            <a:endParaRPr sz="1200" b="0" i="0">
              <a:solidFill>
                <a:srgbClr val="DDE4F5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18688" y="2560320"/>
            <a:ext cx="2788920" cy="164592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328416" y="2651760"/>
            <a:ext cx="260603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SAM · 智能养老设备</a:t>
            </a:r>
            <a:endParaRPr sz="105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8416" y="2880360"/>
            <a:ext cx="2606039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≈2400 亿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28416" y="3703320"/>
            <a:ext cx="2606039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设备 1840 亿 + 适老化
≈600 亿（2025），年增≈20%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17336" y="2194559"/>
            <a:ext cx="2788920" cy="201168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227064" y="2285999"/>
            <a:ext cx="260603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刚需人群 · 年跌倒人次</a:t>
            </a:r>
            <a:endParaRPr sz="105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27064" y="2514599"/>
            <a:ext cx="2606039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4000 万+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27064" y="3703320"/>
            <a:ext cx="2606039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65+ 老人跌倒/年
居家场景最刚性需求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15730" y="2614930"/>
            <a:ext cx="2788920" cy="159131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137776" y="2755265"/>
            <a:ext cx="2606039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需求信号 · 出货增速</a:t>
            </a:r>
            <a:endParaRPr sz="105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8411" y="2999740"/>
            <a:ext cx="2606039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+53.6%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25711" y="3703320"/>
            <a:ext cx="2606039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健康监测可穿戴 25H1 出货
</a:t>
            </a:r>
            <a:r>
              <a:rPr 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用户心智成熟</a:t>
            </a:r>
            <a:endParaRPr lang="zh-CN"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20040" y="443484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4220" y="4690745"/>
            <a:ext cx="3400425" cy="515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① 雷达降本：60GHz SoC 从千元级走向百元内，消费级定价成为可能。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7850" y="4688205"/>
            <a:ext cx="3620770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② AI 成熟：云端深度模型处理稀疏点云可行，GPU 推理成本降至可接受范围。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4220" y="5522595"/>
            <a:ext cx="338137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③ 老龄化拐点：65+ 已 2.2 亿（15.6%），深度老龄化社会，独居/空巢超半数。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8485" y="5534660"/>
            <a:ext cx="3606165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④ 政策明确：国办发〔2024〕1 号写入"家庭配备智能安全监护设备"。毫米波雷达已入工信部/民政部/卫健委《推广目录》。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" y="6400800"/>
            <a:ext cx="11548872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来源：《银发经济蓝皮书(2024)》社科文献出版社 · 中商产业研究院(2025) · IDC(2025H1) · 国办发〔2024〕1 号。市场金额为机构测算。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392420" y="5017770"/>
            <a:ext cx="1441450" cy="851535"/>
          </a:xfrm>
          <a:prstGeom prst="roundRect">
            <a:avLst/>
          </a:prstGeom>
          <a:solidFill>
            <a:srgbClr val="000000">
              <a:alpha val="0"/>
            </a:srgbClr>
          </a:solidFill>
          <a:ln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>
                <a:solidFill>
                  <a:schemeClr val="tx1"/>
                </a:solidFill>
              </a:rPr>
              <a:t>四个核心驱动力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肘形连接符 30"/>
          <p:cNvCxnSpPr>
            <a:endCxn id="26" idx="3"/>
          </p:cNvCxnSpPr>
          <p:nvPr/>
        </p:nvCxnSpPr>
        <p:spPr>
          <a:xfrm rot="10800000">
            <a:off x="4144645" y="4948555"/>
            <a:ext cx="1245870" cy="257810"/>
          </a:xfrm>
          <a:prstGeom prst="bentConnector3">
            <a:avLst>
              <a:gd name="adj1" fmla="val 50000"/>
            </a:avLst>
          </a:prstGeom>
          <a:ln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endCxn id="28" idx="3"/>
          </p:cNvCxnSpPr>
          <p:nvPr/>
        </p:nvCxnSpPr>
        <p:spPr>
          <a:xfrm rot="10800000" flipV="1">
            <a:off x="4124960" y="5570220"/>
            <a:ext cx="1265555" cy="210185"/>
          </a:xfrm>
          <a:prstGeom prst="bentConnector3">
            <a:avLst>
              <a:gd name="adj1" fmla="val 49975"/>
            </a:avLst>
          </a:prstGeom>
          <a:ln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/>
          <p:nvPr/>
        </p:nvCxnSpPr>
        <p:spPr>
          <a:xfrm flipV="1">
            <a:off x="6833870" y="4948555"/>
            <a:ext cx="1205865" cy="255905"/>
          </a:xfrm>
          <a:prstGeom prst="bentConnector3">
            <a:avLst>
              <a:gd name="adj1" fmla="val 50026"/>
            </a:avLst>
          </a:prstGeom>
          <a:ln w="25400" cap="flat" cmpd="sng">
            <a:solidFill>
              <a:schemeClr val="accent1"/>
            </a:solidFill>
            <a:prstDash val="solid"/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肘形连接符 33"/>
          <p:cNvCxnSpPr/>
          <p:nvPr/>
        </p:nvCxnSpPr>
        <p:spPr>
          <a:xfrm>
            <a:off x="6833870" y="5570220"/>
            <a:ext cx="1205865" cy="351790"/>
          </a:xfrm>
          <a:prstGeom prst="bentConnector3">
            <a:avLst>
              <a:gd name="adj1" fmla="val 50026"/>
            </a:avLst>
          </a:prstGeom>
          <a:ln w="25400" cap="flat" cmpd="sng">
            <a:solidFill>
              <a:schemeClr val="accent1"/>
            </a:solidFill>
            <a:prstDash val="solid"/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4275"/>
            <a:ext cx="12191365" cy="5673090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320040" y="36334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产品</a:t>
            </a:r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系统简图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0040" y="727710"/>
            <a:ext cx="5955665" cy="30670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latin typeface="苹方-简" panose="020B0400000000000000" charset="-122"/>
                <a:ea typeface="Thonburi" panose="00000400000000000000" charset="0"/>
                <a:cs typeface="苹方-简" panose="020B0400000000000000" charset="-122"/>
              </a:rPr>
              <a:t>雷达感知 </a:t>
            </a:r>
            <a:r>
              <a:rPr lang="en-US" altLang="zh-CN" sz="1400">
                <a:solidFill>
                  <a:schemeClr val="tx1"/>
                </a:solidFill>
                <a:latin typeface="苹方-简" panose="020B0400000000000000" charset="-122"/>
                <a:ea typeface="Thonburi" panose="00000400000000000000" charset="0"/>
                <a:cs typeface="苹方-简" panose="020B0400000000000000" charset="-122"/>
              </a:rPr>
              <a:t>→ </a:t>
            </a:r>
            <a:r>
              <a:rPr lang="zh-CN" altLang="en-US" sz="1400">
                <a:solidFill>
                  <a:schemeClr val="tx1"/>
                </a:solidFill>
                <a:latin typeface="苹方-简" panose="020B0400000000000000" charset="-122"/>
                <a:ea typeface="Thonburi" panose="00000400000000000000" charset="0"/>
                <a:cs typeface="苹方-简" panose="020B0400000000000000" charset="-122"/>
              </a:rPr>
              <a:t>云端理解 </a:t>
            </a:r>
            <a:r>
              <a:rPr lang="en-US" altLang="zh-CN" sz="1400">
                <a:solidFill>
                  <a:schemeClr val="tx1"/>
                </a:solidFill>
                <a:latin typeface="苹方-简" panose="020B0400000000000000" charset="-122"/>
                <a:ea typeface="Thonburi" panose="00000400000000000000" charset="0"/>
                <a:cs typeface="苹方-简" panose="020B0400000000000000" charset="-122"/>
              </a:rPr>
              <a:t>→ </a:t>
            </a:r>
            <a:r>
              <a:rPr lang="zh-CN" altLang="en-US" sz="1400">
                <a:solidFill>
                  <a:schemeClr val="tx1"/>
                </a:solidFill>
                <a:latin typeface="苹方-简" panose="020B0400000000000000" charset="-122"/>
                <a:ea typeface="Thonburi" panose="00000400000000000000" charset="0"/>
                <a:cs typeface="苹方-简" panose="020B0400000000000000" charset="-122"/>
              </a:rPr>
              <a:t>分级通知子女。微小异常，在日常被看见。</a:t>
            </a:r>
            <a:endParaRPr lang="zh-CN" altLang="en-US" sz="1400">
              <a:solidFill>
                <a:schemeClr val="tx1"/>
              </a:solidFill>
              <a:latin typeface="苹方-简" panose="020B0400000000000000" charset="-122"/>
              <a:ea typeface="Thonburi" panose="00000400000000000000" charset="0"/>
              <a:cs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2491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产品形态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74675"/>
            <a:ext cx="11548745" cy="3670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全屋雷达组网，无感守护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969645"/>
            <a:ext cx="11548872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子女带回家，一人操作、15 分钟装完、无需工具。雷达 7×24 采集，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上传云端世界模型底座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云端 AI 识别异常。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20040" y="1529080"/>
            <a:ext cx="4531360" cy="3175"/>
          </a:xfrm>
          <a:prstGeom prst="bentConnector3">
            <a:avLst>
              <a:gd name="adj1" fmla="val 50014"/>
            </a:avLst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820" y="1574800"/>
            <a:ext cx="975360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01 采集</a:t>
            </a:r>
            <a:endParaRPr sz="14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1980" y="1838325"/>
            <a:ext cx="3880485" cy="76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毫米波雷达组网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天花板/墙壁 3M 磁吸安装，2.4G WiFi 直连云，USB-C 供电 &lt; 2W，全年电费 &lt; 40 元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（4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雷达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）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20040" y="2783840"/>
            <a:ext cx="4531360" cy="3175"/>
          </a:xfrm>
          <a:prstGeom prst="bentConnector3">
            <a:avLst>
              <a:gd name="adj1" fmla="val 50014"/>
            </a:avLst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4820" y="2830195"/>
            <a:ext cx="975360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02 感知</a:t>
            </a:r>
            <a:endParaRPr sz="14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1980" y="3093085"/>
            <a:ext cx="3880485" cy="76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EL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PD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世界模型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学习老人行为动力学、预测下一时刻状态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识别跌倒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长时间静止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生命体征异常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/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日常模式偏离四类事件。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20040" y="4038600"/>
            <a:ext cx="4531360" cy="3175"/>
          </a:xfrm>
          <a:prstGeom prst="bentConnector2">
            <a:avLst/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820" y="4085590"/>
            <a:ext cx="975360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03 判决</a:t>
            </a:r>
            <a:endParaRPr sz="14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1980" y="4363085"/>
            <a:ext cx="3841750" cy="76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多雷达交叉验证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，3-5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秒确认异常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，Predictor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对比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预测状态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与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真实状态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"，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结合个人基线判断异常信号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en-US" altLang="zh-CN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320040" y="5293360"/>
            <a:ext cx="4531360" cy="3175"/>
          </a:xfrm>
          <a:prstGeom prst="bentConnector3">
            <a:avLst>
              <a:gd name="adj1" fmla="val 50014"/>
            </a:avLst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4820" y="5340985"/>
            <a:ext cx="975360" cy="220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04 通知</a:t>
            </a:r>
            <a:endParaRPr sz="14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1980" y="5605145"/>
            <a:ext cx="3841115" cy="76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不提 / App 推送 / 强推+短信 / 电话四级。紧急事件同时短信+电话。日常模式偏离（活动量连续下降、睡眠恶化）以周报形式呈现，不实时骚扰。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548630" y="1501775"/>
            <a:ext cx="5735320" cy="36576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5756910" y="1581150"/>
            <a:ext cx="5054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六大核心场景</a:t>
            </a:r>
            <a:endParaRPr sz="16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56910" y="1955165"/>
            <a:ext cx="5188585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S1 浴室跌倒 → 强推+短信+电话</a:t>
            </a:r>
            <a:endParaRPr sz="16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56910" y="2302510"/>
            <a:ext cx="5188585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S2 蹲下捡物 → 3–5 秒延迟确认，不误报</a:t>
            </a:r>
            <a:endParaRPr sz="16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56910" y="2649855"/>
            <a:ext cx="5188585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S3 卧室静止超时 → 推送提醒子女查看</a:t>
            </a:r>
            <a:endParaRPr sz="16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56910" y="2997200"/>
            <a:ext cx="5188585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S4 连续 3 天活动量 &lt; 基线 50% → 建议关注</a:t>
            </a:r>
            <a:endParaRPr sz="16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56910" y="3345180"/>
            <a:ext cx="5188585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S5 首页卡片：昨夜睡眠 7.2h，起床 6:40，正常</a:t>
            </a:r>
            <a:endParaRPr sz="16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56910" y="3691890"/>
            <a:ext cx="5188585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S6 导出 30 天趋势 PDF 供就医参考</a:t>
            </a:r>
            <a:endParaRPr sz="16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31485" y="5327015"/>
            <a:ext cx="5434965" cy="256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10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硬边界</a:t>
            </a:r>
            <a:r>
              <a:rPr lang="en-US" sz="1400" b="1" i="0" spc="10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：</a:t>
            </a:r>
            <a:endParaRPr lang="en-US" sz="1400" b="1" i="0" spc="100">
              <a:solidFill>
                <a:schemeClr val="bg1">
                  <a:lumMod val="50000"/>
                </a:schemeClr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30215" y="5563870"/>
            <a:ext cx="5434965" cy="1077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无摄像头 / 无视频 </a:t>
            </a:r>
            <a:endParaRPr sz="1400" b="0" i="0">
              <a:solidFill>
                <a:schemeClr val="bg1">
                  <a:lumMod val="50000"/>
                </a:schemeClr>
              </a:solidFill>
              <a:latin typeface="Arial" panose="020B0604020202090204"/>
              <a:ea typeface="苹方-简" panose="020B0400000000000000" charset="-122"/>
            </a:endParaRPr>
          </a:p>
          <a:p>
            <a:pPr marL="285750" indent="-285750" algn="l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不做医学诊断</a:t>
            </a:r>
            <a:r>
              <a:rPr lang="en-US"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不做 120 调度</a:t>
            </a:r>
            <a:endParaRPr sz="1400" b="0" i="0">
              <a:solidFill>
                <a:schemeClr val="bg1">
                  <a:lumMod val="50000"/>
                </a:schemeClr>
              </a:solidFill>
              <a:latin typeface="Arial" panose="020B0604020202090204"/>
              <a:ea typeface="苹方-简" panose="020B0400000000000000" charset="-122"/>
            </a:endParaRPr>
          </a:p>
          <a:p>
            <a:pPr marL="285750" indent="-285750" algn="l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bg1">
                    <a:lumMod val="50000"/>
                  </a:schemeClr>
                </a:solidFill>
                <a:latin typeface="Arial" panose="020B0604020202090204"/>
                <a:ea typeface="苹方-简" panose="020B0400000000000000" charset="-122"/>
              </a:rPr>
              <a:t>不测血压 / 血氧 / 血糖</a:t>
            </a:r>
            <a:endParaRPr sz="1400" b="0" i="0">
              <a:solidFill>
                <a:schemeClr val="bg1">
                  <a:lumMod val="50000"/>
                </a:schemeClr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310515" y="1520190"/>
            <a:ext cx="0" cy="4893945"/>
          </a:xfrm>
          <a:prstGeom prst="straightConnector1">
            <a:avLst/>
          </a:prstGeom>
          <a:ln>
            <a:solidFill>
              <a:srgbClr val="002FA7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658485" y="4127500"/>
            <a:ext cx="5287645" cy="853440"/>
          </a:xfrm>
          <a:prstGeom prst="rect">
            <a:avLst/>
          </a:prstGeom>
          <a:solidFill>
            <a:srgbClr val="002FA7"/>
          </a:solidFill>
        </p:spPr>
        <p:txBody>
          <a:bodyPr>
            <a:noAutofit/>
          </a:bodyPr>
          <a:p>
            <a:r>
              <a:rPr lang="en-US" sz="16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S</a:t>
            </a:r>
            <a:r>
              <a:rPr sz="16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1–S3 是即时安全网，S4–S6 是长期健康追踪。从"出了什么事"到"趋势在变差"——后者是微小异常的核心，也是竞品完全缺失的能力。</a:t>
            </a:r>
            <a:endParaRPr sz="160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34429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THE CORE TECH</a:t>
            </a:r>
            <a:r>
              <a:rPr lang="en-US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：</a:t>
            </a:r>
            <a:r>
              <a:rPr lang="zh-CN" altLang="en-US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统一隐空间世界模型</a:t>
            </a:r>
            <a:endParaRPr lang="zh-CN" altLang="en-US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11548872" cy="32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ELPD 架构：Encoder → Latent Space → Predictor → Decoders</a:t>
            </a:r>
            <a:endParaRPr sz="200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988060"/>
            <a:ext cx="8064500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成品雷达模块在固件里算完，只输出"跌倒/未跌倒"，中间数据全部丢弃。家安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ELPD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架构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用隐空间统一表征所有信号，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全部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任务从同一隐空间读取，信息零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损失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1887220" cy="16637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1673225"/>
            <a:ext cx="174434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Encoder</a:t>
            </a:r>
            <a:endParaRPr sz="12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873250"/>
            <a:ext cx="1461135" cy="168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spc="8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编码器</a:t>
            </a:r>
            <a:endParaRPr sz="1200" b="0" i="0" spc="8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895" y="2130425"/>
            <a:ext cx="1745615" cy="12325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PointNet++ 变体
</a:t>
            </a:r>
            <a:r>
              <a:rPr 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因果空洞卷积</a:t>
            </a:r>
            <a:r>
              <a:rPr lang="en-US" altLang="zh-CN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TCN</a:t>
            </a:r>
            <a:endParaRPr lang="en-US" altLang="zh-CN"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多雷达 Cross-Attention
时间编码注入
体征信号旁路
→ 输出 S_t + Σ_t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5400" y="1600200"/>
            <a:ext cx="1744980" cy="16637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6840" y="1673225"/>
            <a:ext cx="16129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Latent Space</a:t>
            </a:r>
            <a:endParaRPr sz="12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656840" y="1857375"/>
                <a:ext cx="1612900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200" b="0" i="0" spc="8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隐空间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spc="80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𝑡</m:t>
                        </m:r>
                      </m:sub>
                    </m:sSub>
                  </m:oMath>
                </a14:m>
                <a:endParaRPr sz="1200" b="0" i="0" spc="8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40" y="1857375"/>
                <a:ext cx="1612900" cy="184150"/>
              </a:xfrm>
              <a:prstGeom prst="rect">
                <a:avLst/>
              </a:prstGeom>
              <a:blipFill rotWithShape="1">
                <a:blip r:embed="rId1"/>
                <a:stretch>
                  <a:fillRect t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656840" y="2130425"/>
                <a:ext cx="1612900" cy="1071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图结构：空间拓扑
向量：人状态
全局上下文
不确定性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1200" b="0" i="1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b="0" i="1">
                            <a:solidFill>
                              <a:schemeClr val="bg1"/>
                            </a:solidFill>
                            <a:latin typeface="DejaVu Math TeX Gyre" panose="02000503000000000000" charset="0"/>
                            <a:ea typeface="苹方-简" panose="020B0400000000000000" charset="-122"/>
                            <a:cs typeface="DejaVu Math TeX Gyre" panose="02000503000000000000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
个人基线流形</a:t>
                </a:r>
                <a:endParaRPr sz="1200" b="0" i="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40" y="2130425"/>
                <a:ext cx="1612900" cy="10712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4683760" y="1600200"/>
            <a:ext cx="1745615" cy="16637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75200" y="1673225"/>
            <a:ext cx="161353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Predictor</a:t>
            </a:r>
            <a:endParaRPr sz="12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75200" y="1857375"/>
            <a:ext cx="161353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预测器</a:t>
            </a:r>
            <a:endParaRPr sz="1200" b="0" i="0" spc="8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775200" y="2130425"/>
                <a:ext cx="1613535" cy="113347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Causal Transformer</a:t>
                </a:r>
                <a:endParaRPr sz="1200" b="0" i="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sz="1200" i="1" spc="80">
                          <a:solidFill>
                            <a:schemeClr val="bg1"/>
                          </a:solidFill>
                          <a:latin typeface="DejaVu Math TeX Gyre" panose="02000503000000000000" charset="0"/>
                          <a:ea typeface="苹方-简" panose="020B0400000000000000" charset="-122"/>
                          <a:cs typeface="DejaVu Math TeX Gyre" panose="02000503000000000000" charset="0"/>
                        </a:rPr>
                        <m:t>→</m:t>
                      </m:r>
                      <m:sSub>
                        <m:sSubPr>
                          <m:ctrlP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𝑡</m:t>
                          </m:r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+</m:t>
                          </m:r>
                          <m:r>
                            <a:rPr lang="en-US" sz="1200" b="0" i="1" spc="80">
                              <a:solidFill>
                                <a:schemeClr val="bg1"/>
                              </a:solidFill>
                              <a:latin typeface="DejaVu Math TeX Gyre" panose="02000503000000000000" charset="0"/>
                              <a:ea typeface="苹方-简" panose="020B0400000000000000" charset="-122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pc="80">
                          <a:solidFill>
                            <a:schemeClr val="bg1"/>
                          </a:solidFill>
                          <a:latin typeface="DejaVu Math TeX Gyre" panose="02000503000000000000" charset="0"/>
                          <a:ea typeface="苹方-简" panose="020B0400000000000000" charset="-122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sz="1200" b="0" i="0" spc="8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  <a:p>
                <a:pPr algn="l">
                  <a:lnSpc>
                    <a:spcPct val="115000"/>
                  </a:lnSpc>
                </a:pPr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多尺度预测</a:t>
                </a:r>
                <a:r>
                  <a:rPr lang="en-US"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 </a:t>
                </a:r>
                <a:r>
                  <a:rPr sz="1200" b="0" i="0">
                    <a:solidFill>
                      <a:schemeClr val="bg1"/>
                    </a:solidFill>
                    <a:latin typeface="Arial" panose="020B0604020202090204"/>
                    <a:ea typeface="苹方-简" panose="020B0400000000000000" charset="-122"/>
                  </a:rPr>
                  <a:t>(1s/10s/60s/3600s)
自监督训练</a:t>
                </a:r>
                <a:endParaRPr sz="1200" b="0" i="0">
                  <a:solidFill>
                    <a:schemeClr val="bg1"/>
                  </a:solidFill>
                  <a:latin typeface="Arial" panose="020B0604020202090204"/>
                  <a:ea typeface="苹方-简" panose="020B0400000000000000" charset="-122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200" y="2130425"/>
                <a:ext cx="1613535" cy="11334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802120" y="1600200"/>
            <a:ext cx="1612900" cy="16637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93560" y="1673225"/>
            <a:ext cx="14909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Decoders</a:t>
            </a:r>
            <a:endParaRPr sz="12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93560" y="1857375"/>
            <a:ext cx="14909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解码器</a:t>
            </a:r>
            <a:endParaRPr sz="1200" b="0" i="0" spc="8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93560" y="2130425"/>
            <a:ext cx="1490980" cy="84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Anomaly 异常检测
Notification 通知
Report 健康报告
Tracking 轨迹追踪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4" name="Connector 23"/>
          <p:cNvCxnSpPr>
            <a:stCxn id="8" idx="3"/>
            <a:endCxn id="12" idx="1"/>
          </p:cNvCxnSpPr>
          <p:nvPr/>
        </p:nvCxnSpPr>
        <p:spPr>
          <a:xfrm>
            <a:off x="2207260" y="2432050"/>
            <a:ext cx="358140" cy="3175"/>
          </a:xfrm>
          <a:prstGeom prst="bentConnector2">
            <a:avLst/>
          </a:prstGeom>
          <a:ln w="19050">
            <a:solidFill>
              <a:srgbClr val="5B7BFF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2" idx="3"/>
            <a:endCxn id="16" idx="1"/>
          </p:cNvCxnSpPr>
          <p:nvPr/>
        </p:nvCxnSpPr>
        <p:spPr>
          <a:xfrm>
            <a:off x="4310380" y="2432050"/>
            <a:ext cx="373380" cy="3175"/>
          </a:xfrm>
          <a:prstGeom prst="bentConnector2">
            <a:avLst/>
          </a:prstGeom>
          <a:ln w="19050">
            <a:solidFill>
              <a:srgbClr val="5B7BFF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6" idx="3"/>
            <a:endCxn id="20" idx="1"/>
          </p:cNvCxnSpPr>
          <p:nvPr/>
        </p:nvCxnSpPr>
        <p:spPr>
          <a:xfrm>
            <a:off x="6429375" y="2432050"/>
            <a:ext cx="372745" cy="3175"/>
          </a:xfrm>
          <a:prstGeom prst="bentConnector2">
            <a:avLst/>
          </a:prstGeom>
          <a:ln w="19050">
            <a:solidFill>
              <a:srgbClr val="5B7BFF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0040" y="3350895"/>
            <a:ext cx="7291705" cy="215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自监督学习回环：Predicted vs Encoder → gradient update  |  </a:t>
            </a:r>
            <a:r>
              <a:rPr lang="zh-CN" sz="1200" b="1" i="0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自生成</a:t>
            </a:r>
            <a:r>
              <a:rPr sz="1200" b="1" i="0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训练数据，零标注</a:t>
            </a:r>
            <a:endParaRPr sz="1200" b="1" i="0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0040" y="3647440"/>
            <a:ext cx="3839845" cy="1055370"/>
          </a:xfrm>
          <a:prstGeom prst="rect">
            <a:avLst/>
          </a:prstGeom>
          <a:solidFill>
            <a:srgbClr val="F5F5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9895" y="3702050"/>
            <a:ext cx="2699385" cy="210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传统管道（竞品）</a:t>
            </a:r>
            <a:endParaRPr sz="1200" b="1" i="0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4025" y="4055745"/>
            <a:ext cx="3683635" cy="434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lang="zh-CN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线性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输出离散标签，硬决策丢信息，无空间上下文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en-US"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规则冲突无法自修复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精度出场即定型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48480" y="3647440"/>
            <a:ext cx="3990340" cy="1055370"/>
          </a:xfrm>
          <a:prstGeom prst="rect">
            <a:avLst/>
          </a:prstGeom>
          <a:solidFill>
            <a:srgbClr val="002FA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58335" y="3702050"/>
            <a:ext cx="2154555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8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ELPD 核心差异</a:t>
            </a:r>
            <a:endParaRPr sz="1200" b="1" i="0" spc="8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58335" y="3912235"/>
            <a:ext cx="390779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单一真相源：任务从同一隐空间读取，在同一向量空间 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预测</a:t>
            </a:r>
            <a:r>
              <a:rPr 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=</a:t>
            </a:r>
            <a:r>
              <a:rPr 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异常：系统觉察"现实与预期不符"  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8000"/>
              </a:lnSpc>
              <a:buFont typeface="Arial" panose="020B0604020202090204" pitchFamily="34" charset="0"/>
              <a:buChar char="•"/>
            </a:pP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新任务</a:t>
            </a:r>
            <a:r>
              <a:rPr 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=</a:t>
            </a:r>
            <a:r>
              <a:rPr lang="en-US"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新Decoder：零额外标注，从现有隐空间读取</a:t>
            </a:r>
            <a:endParaRPr sz="12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320040" y="4978908"/>
            <a:ext cx="1154887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0040" y="5112766"/>
            <a:ext cx="1154887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从同一条点云流提取 6 类信号</a:t>
            </a:r>
            <a:endParaRPr sz="12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0040" y="538010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姿态序列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空间分布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跌倒初判/基线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60520" y="538010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速度分布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径向速度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精细活动量化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001000" y="538010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点云形变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PCA/质心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真摔vs坐下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0040" y="565442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微多普勒谱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相位时频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步态参数(P2)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160520" y="565442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生命体征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胸腔微动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呼吸/心率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01000" y="5654421"/>
            <a:ext cx="36576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活动片段</a:t>
            </a:r>
            <a:r>
              <a:rPr lang="en-US"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时序聚类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基线时间分布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320040" y="5959475"/>
            <a:ext cx="1154887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20040" y="6082538"/>
            <a:ext cx="11548872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技术可行性（行业验证/参考设计）：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跌倒检测 92%+ 准确率、误报&lt;3%（TI IWR6843 参考设计）| 呼吸 ±0.4、心率 ±1.0 次/分（安静睡眠，西京学院 2026）| 步态预测跌倒风险（Nature 2025/Frontiers 2024，学术阶段）
</a:t>
            </a:r>
            <a:r>
              <a:rPr sz="1200" b="1" i="0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硬件演进：</a:t>
            </a: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IWR6843ISK 开发板 → TI 模组~200元 → 自研一体板~100元(量&gt;5000) → 国产60GHz SoC~60元(量&gt;5万，首选加特兰)。选型标准：点云质量+SDK开放度。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pic>
        <p:nvPicPr>
          <p:cNvPr id="2" name="图片 1" descr="Gemini_Generated_Image_rsnygxrsnygxrsn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376555"/>
            <a:ext cx="3365500" cy="4507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8397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核心算法</a:t>
            </a:r>
            <a:endParaRPr lang="zh-CN" altLang="en-US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82422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三层</a:t>
            </a: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核心算法</a:t>
            </a:r>
            <a:r>
              <a:rPr 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结构</a:t>
            </a:r>
            <a:endParaRPr lang="zh-CN"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3320" y="1391920"/>
            <a:ext cx="4538980" cy="13030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1262380" y="1522730"/>
            <a:ext cx="2624455" cy="266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点云→</a:t>
            </a:r>
            <a:r>
              <a:rPr lang="zh-CN" sz="1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隐空间表征</a:t>
            </a:r>
            <a:endParaRPr lang="zh-CN" sz="1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2380" y="1815465"/>
            <a:ext cx="4100830" cy="836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PointNet++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变体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+ TCN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，从每帧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10–50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个稀疏雷达点压缩为连续向量。保留完整隐状态，后续所有能力都从这里读取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，取代厂商固件的离散姿态标签。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31230" y="1405255"/>
            <a:ext cx="5365115" cy="13030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6122670" y="1536065"/>
            <a:ext cx="2922905" cy="266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多雷达时序对齐+空间拓扑</a:t>
            </a:r>
            <a:endParaRPr sz="1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2670" y="1828800"/>
            <a:ext cx="5034915" cy="836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多个雷达独立采集，云端对齐时间线。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Cross-Attention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自学习雷达之间的空间关系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——A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雷达看到人离开、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B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雷达看到人进入，系统自动推断两区域相邻。零人工标注平面图。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64590" y="3008630"/>
            <a:ext cx="3185160" cy="143954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1256030" y="3101340"/>
            <a:ext cx="2624455" cy="266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跌倒延迟确认</a:t>
            </a:r>
            <a:endParaRPr sz="1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6030" y="3394075"/>
            <a:ext cx="2980055" cy="1015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Predictor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对比预测状态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vs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真实状态，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3–5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秒观察窗口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多雷达交叉验证，降误报核心。竞品固件</a:t>
            </a:r>
            <a:r>
              <a:rPr lang="zh-CN" altLang="en-US" sz="140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无隐空间表征</a:t>
            </a:r>
            <a:r>
              <a:rPr lang="en-US" altLang="zh-CN" sz="140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，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无法预测对比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en-US" altLang="zh-CN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35830" y="3008630"/>
            <a:ext cx="3114675" cy="143891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4827270" y="3101340"/>
            <a:ext cx="2624455" cy="266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个人基线建模</a:t>
            </a:r>
            <a:endParaRPr sz="1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27270" y="3411855"/>
            <a:ext cx="2878455" cy="5575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在隐空间流形上拟合个人常态密度分布，时序聚类提取典型日模式。建立基线后，所有判断以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偏离自己的正常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为准，换个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用户，模型自动适应。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68970" y="3012440"/>
            <a:ext cx="3114675" cy="143954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8373110" y="3105785"/>
            <a:ext cx="2624455" cy="266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异常偏离检测</a:t>
            </a:r>
            <a:endParaRPr sz="1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73110" y="3415665"/>
            <a:ext cx="2878455" cy="848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实时连续向量与个人基线流形的马氏距离，多维度联合评分。不写规则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用隐空间维度耦合自动区分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躺床上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和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躺浴室地上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65225" y="4686300"/>
            <a:ext cx="3157220" cy="154114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1252855" y="4830445"/>
            <a:ext cx="2624455" cy="266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多信号贝叶斯置信度融合</a:t>
            </a:r>
            <a:endParaRPr sz="1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2855" y="5122545"/>
            <a:ext cx="2987040" cy="1089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活动量下降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睡眠恶化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心率上升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——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单个信号是弱信号，同时出现时贝叶斯置信度指数叠加。从单点告警升级为多维度健康判断。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39760" y="4686300"/>
            <a:ext cx="3114675" cy="154114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8331200" y="4830445"/>
            <a:ext cx="2624455" cy="266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分级通知决策</a:t>
            </a:r>
            <a:endParaRPr sz="1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31200" y="5122545"/>
            <a:ext cx="2878455" cy="5575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异常分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×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持续性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×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紧急性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通知等级（不提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/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推送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/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强推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/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电话）。跌倒同时短信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+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电话。日常偏离以周报呈现，不实时骚扰。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735830" y="4686300"/>
            <a:ext cx="3114040" cy="154114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rgbClr val="F5F5F4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27270" y="4830445"/>
            <a:ext cx="2624455" cy="266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步态提取+跌倒风险预测</a:t>
            </a:r>
            <a:endParaRPr sz="1400"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7270" y="5122545"/>
            <a:ext cx="2906395" cy="7931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从微多普勒谱提取步速、步幅、对称性等步态参数，持续跟踪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预测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告警。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" name="TextBox 7"/>
          <p:cNvSpPr txBox="1"/>
          <p:nvPr/>
        </p:nvSpPr>
        <p:spPr>
          <a:xfrm>
            <a:off x="551180" y="1446530"/>
            <a:ext cx="441325" cy="1068070"/>
          </a:xfrm>
          <a:prstGeom prst="rect">
            <a:avLst/>
          </a:prstGeom>
          <a:solidFill>
            <a:srgbClr val="002FA7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b="1" i="0">
                <a:solidFill>
                  <a:schemeClr val="bg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感知层</a:t>
            </a:r>
            <a:endParaRPr lang="zh-CN" b="1" i="0">
              <a:solidFill>
                <a:schemeClr val="bg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48" name="TextBox 7"/>
          <p:cNvSpPr txBox="1"/>
          <p:nvPr/>
        </p:nvSpPr>
        <p:spPr>
          <a:xfrm>
            <a:off x="551180" y="3106420"/>
            <a:ext cx="441325" cy="1068070"/>
          </a:xfrm>
          <a:prstGeom prst="rect">
            <a:avLst/>
          </a:prstGeom>
          <a:solidFill>
            <a:srgbClr val="002FA7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b="1" i="0">
                <a:solidFill>
                  <a:schemeClr val="bg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判断层</a:t>
            </a:r>
            <a:endParaRPr lang="zh-CN" b="1" i="0">
              <a:solidFill>
                <a:schemeClr val="bg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551180" y="4741545"/>
            <a:ext cx="441325" cy="1068070"/>
          </a:xfrm>
          <a:prstGeom prst="rect">
            <a:avLst/>
          </a:prstGeom>
          <a:solidFill>
            <a:srgbClr val="002FA7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b="1" i="0">
                <a:solidFill>
                  <a:schemeClr val="bg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决策层</a:t>
            </a:r>
            <a:endParaRPr lang="zh-CN" b="1" i="0">
              <a:solidFill>
                <a:schemeClr val="bg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38684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产品优势与竞争力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壁垒：范式</a:t>
            </a:r>
            <a:r>
              <a:rPr lang="en-US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算法 </a:t>
            </a:r>
            <a:r>
              <a:rPr lang="en-US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+ </a:t>
            </a:r>
            <a:r>
              <a:rPr lang="zh-CN" altLang="en-US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数据</a:t>
            </a:r>
            <a:endParaRPr lang="zh-CN" altLang="en-US"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142365"/>
            <a:ext cx="11548872" cy="262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壁垒在三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个维度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的叠加：架构范式的代际差异、跨学科的稀缺性、随时间复利加深的数据资产。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2176145"/>
            <a:ext cx="3749040" cy="2916555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768" y="233476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LAYER 01 · 范式壁垒</a:t>
            </a:r>
            <a:endParaRPr sz="1400" b="1" i="0" spc="10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2672080"/>
            <a:ext cx="3529583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统一隐空间世界模型</a:t>
            </a:r>
            <a:endParaRPr sz="14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895" y="2994660"/>
            <a:ext cx="3529330" cy="18357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传统</a:t>
            </a:r>
            <a:r>
              <a:rPr 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产品</a:t>
            </a:r>
            <a:r>
              <a:rPr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是管道架构</a:t>
            </a:r>
            <a:r>
              <a:rPr lang="en-US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：</a:t>
            </a:r>
            <a:r>
              <a:rPr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传感器→规则→事件→通知，信息</a:t>
            </a:r>
            <a:r>
              <a:rPr 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逐层损失</a:t>
            </a:r>
            <a:r>
              <a:rPr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。ELPD 用一个隐空间统一表征所有信号，多维度偏离在隐空间中自动耦合</a:t>
            </a:r>
            <a:r>
              <a:rPr 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，由统一</a:t>
            </a:r>
            <a:r>
              <a:rPr lang="zh-CN" altLang="en-US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模型感知老人在哪、什么姿势、呼吸快不快、今天跟昨天一不一样。竞品需要</a:t>
            </a:r>
            <a:r>
              <a:rPr lang="zh-CN" altLang="en-US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多个独立系统拼起来，彼此不对话。</a:t>
            </a:r>
            <a:endParaRPr lang="zh-CN" altLang="en-US" sz="14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" y="5275453"/>
            <a:ext cx="3529583" cy="24574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/>
          <a:p>
            <a:pPr algn="l"/>
            <a:r>
              <a:rPr sz="1600" b="1" i="1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架构代际差异</a:t>
            </a:r>
            <a:endParaRPr sz="1600" b="1" i="1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97350" y="2176145"/>
            <a:ext cx="3749040" cy="2916555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06823" y="233476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LAYER 02 · 算法壁垒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06823" y="2672080"/>
            <a:ext cx="3529583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自研点云 Encoder</a:t>
            </a:r>
            <a:endParaRPr sz="1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06823" y="2994660"/>
            <a:ext cx="3529583" cy="180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毫米波雷达点云极稀疏（每帧 10–50 点）、噪声特殊（多径鬼影、微多普勒模糊）、无颜色纹理。需要雷达信号处理 + 点云深度学习 + 自监督表示学习。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自监督表示学习要求从无标注数据中学习有用的表征，需要理解什么样的数据增强对雷达点云有意义。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06823" y="5275453"/>
            <a:ext cx="3529583" cy="24574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/>
          <a:p>
            <a:pPr algn="l"/>
            <a:r>
              <a:rPr sz="1600" b="1" i="1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跨学科稀缺</a:t>
            </a:r>
            <a:endParaRPr sz="1600" b="1" i="1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74025" y="2176145"/>
            <a:ext cx="3749040" cy="2916555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83879" y="233476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LAYER 03 · 时间壁垒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83879" y="2672080"/>
            <a:ext cx="3529583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数据飞轮 + 个人基线</a:t>
            </a:r>
            <a:endParaRPr sz="1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83879" y="2994660"/>
            <a:ext cx="3529583" cy="180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每户每天产生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1–2GB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点云流。正常生活的每一帧都是免费训练标签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不需要人工打标。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1000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户跑一年，模型见过的居家行为模式远超任何实验室数据集。竞品固件靠厂商一年一次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OTA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升级，家安的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ELPD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每天都在接收新数据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新训练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83879" y="5275453"/>
            <a:ext cx="3529583" cy="24574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/>
          <a:p>
            <a:pPr algn="l"/>
            <a:r>
              <a:rPr lang="zh-CN" sz="1600" b="1" i="1" spc="8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自我训练</a:t>
            </a:r>
            <a:endParaRPr lang="zh-CN" sz="1600" b="1" i="1" spc="8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502920" y="304800"/>
            <a:ext cx="6058535" cy="201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训练结论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24840"/>
            <a:ext cx="694944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世界</a:t>
            </a: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模型</a:t>
            </a:r>
            <a:r>
              <a:rPr lang="zh-CN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技术路线成立</a:t>
            </a:r>
            <a:r>
              <a:rPr lang="en-US" altLang="zh-CN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小样本即能用</a:t>
            </a:r>
            <a:endParaRPr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89660"/>
            <a:ext cx="694944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仅需 7 人采集数据即可建立高精度人体状态模型，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无需预设规则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无需学习摔倒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样本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2936240"/>
            <a:ext cx="1609090" cy="3214370"/>
          </a:xfrm>
          <a:prstGeom prst="rect">
            <a:avLst/>
          </a:prstGeom>
          <a:solidFill>
            <a:srgbClr val="F5F5F4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2648" y="3073400"/>
            <a:ext cx="13898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H1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" y="3320288"/>
            <a:ext cx="13898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可编码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" y="3592068"/>
            <a:ext cx="1389888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99.84</a:t>
            </a:r>
            <a:r>
              <a:rPr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%</a:t>
            </a:r>
            <a:endParaRPr sz="2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2648" y="3960368"/>
            <a:ext cx="1389888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线性分类
12 动作准确率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2648" y="4612640"/>
            <a:ext cx="1389888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4729480"/>
            <a:ext cx="1389888" cy="1076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稀疏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点云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包含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信息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远超预期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单雷达即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可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"看懂"人在干什么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85365" y="2936240"/>
            <a:ext cx="1609090" cy="3214370"/>
          </a:xfrm>
          <a:prstGeom prst="rect">
            <a:avLst/>
          </a:prstGeom>
          <a:solidFill>
            <a:srgbClr val="F5F5F4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95220" y="3073400"/>
            <a:ext cx="13898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H2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95220" y="3320288"/>
            <a:ext cx="13898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连续性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95220" y="3626485"/>
            <a:ext cx="1390015" cy="3644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95.82%</a:t>
            </a:r>
            <a:endParaRPr lang="en-US" sz="2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95220" y="3960368"/>
            <a:ext cx="1389888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隐空间连续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
余弦相似度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2395220" y="4612640"/>
            <a:ext cx="1389888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95220" y="4729480"/>
            <a:ext cx="1389888" cy="134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"站→坐"是连续渐变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模型不给动作打标签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世界模型能捕捉“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慢慢变差”</a:t>
            </a:r>
            <a:endParaRPr lang="zh-CN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042410" y="2936240"/>
            <a:ext cx="1609090" cy="3214370"/>
          </a:xfrm>
          <a:prstGeom prst="rect">
            <a:avLst/>
          </a:prstGeom>
          <a:solidFill>
            <a:srgbClr val="F5F5F4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52391" y="3073400"/>
            <a:ext cx="13898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H3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52391" y="3320288"/>
            <a:ext cx="13898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正常行为可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预测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52391" y="3622040"/>
            <a:ext cx="1389888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91.30</a:t>
            </a:r>
            <a:r>
              <a:rPr sz="2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%</a:t>
            </a:r>
            <a:endParaRPr sz="2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152391" y="3960368"/>
            <a:ext cx="1389888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下一帧预测准确率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4152391" y="4612640"/>
            <a:ext cx="1389888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124325" y="4729480"/>
            <a:ext cx="1430655" cy="134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正常生活可预测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系统能预测下一步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应有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状态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准确率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90%+，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比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baseline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提升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47%</a:t>
            </a:r>
            <a:endParaRPr lang="en-US" altLang="zh-CN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812790" y="2936240"/>
            <a:ext cx="1609090" cy="3214370"/>
          </a:xfrm>
          <a:prstGeom prst="rect">
            <a:avLst/>
          </a:prstGeom>
          <a:solidFill>
            <a:srgbClr val="002FA7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22264" y="3073400"/>
            <a:ext cx="13898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H4</a:t>
            </a:r>
            <a:endParaRPr sz="1400" b="1" i="0" spc="10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22264" y="3320288"/>
            <a:ext cx="13898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秒级</a:t>
            </a:r>
            <a:r>
              <a:rPr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异常检测</a:t>
            </a:r>
            <a:endParaRPr sz="14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22010" y="3622040"/>
            <a:ext cx="1390015" cy="3689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94.33%</a:t>
            </a:r>
            <a:endParaRPr lang="en-US" sz="2400" b="1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22264" y="3960368"/>
            <a:ext cx="1389888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跌倒 vs 正常
AUC</a:t>
            </a:r>
            <a:endParaRPr sz="14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922264" y="4612640"/>
            <a:ext cx="1389888" cy="0"/>
          </a:xfrm>
          <a:prstGeom prst="bentConnector3">
            <a:avLst/>
          </a:prstGeom>
          <a:ln w="6350">
            <a:solidFill>
              <a:srgbClr val="5575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22264" y="4729480"/>
            <a:ext cx="1389888" cy="134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0.8</a:t>
            </a:r>
            <a:r>
              <a:rPr lang="zh-CN" altLang="en-US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秒（</a:t>
            </a:r>
            <a:r>
              <a:rPr lang="en-US" alt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16 </a:t>
            </a:r>
            <a:r>
              <a:rPr lang="zh-CN" altLang="en-US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帧窗口）</a:t>
            </a:r>
            <a:r>
              <a:rPr lang="zh-CN" altLang="en-US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内发现异常</a:t>
            </a:r>
            <a:r>
              <a:rPr lang="en-US" alt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不需要</a:t>
            </a:r>
            <a:r>
              <a:rPr 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人为定义危险</a:t>
            </a:r>
            <a:r>
              <a:rPr lang="en-US" alt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只需要</a:t>
            </a:r>
            <a:r>
              <a:rPr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发现"这不像</a:t>
            </a:r>
            <a:r>
              <a:rPr lang="zh-CN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正</a:t>
            </a:r>
            <a:r>
              <a:rPr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常行为"</a:t>
            </a:r>
            <a:r>
              <a:rPr lang="en-US" sz="1400" b="0" i="0">
                <a:solidFill>
                  <a:schemeClr val="bg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en-US" sz="1400" b="0" i="0">
              <a:solidFill>
                <a:schemeClr val="bg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18730" y="1158240"/>
            <a:ext cx="38404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数据效率对比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618730" y="1496695"/>
            <a:ext cx="38404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家安世界模型 vs 典型大模型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707630" y="5254625"/>
            <a:ext cx="4269740" cy="718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毫米波点云维度极低（10–50 点/帧 vs 视觉的数万像素），信息密度反而更高——每帧已经是物理空间的稀疏摘要。加上自监督对比学习，每个正常帧都是免费标签。</a:t>
            </a:r>
            <a:endParaRPr sz="12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2920" y="6509385"/>
            <a:ext cx="6677025" cy="221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ClrTx/>
              <a:buSzTx/>
              <a:buFontTx/>
            </a:pPr>
            <a:r>
              <a:rPr lang="en-US" altLang="zh-CN"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Encoder + Predictor &lt; 30MB</a:t>
            </a:r>
            <a:r>
              <a:rPr lang="zh-CN" altLang="en-US"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en-US" altLang="zh-CN"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CPU </a:t>
            </a:r>
            <a:r>
              <a:rPr lang="zh-CN" altLang="en-US"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推理</a:t>
            </a:r>
            <a:r>
              <a:rPr lang="en-US" altLang="zh-CN"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&lt; 100ms</a:t>
            </a:r>
            <a:r>
              <a:rPr lang="zh-CN" altLang="en-US"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。数据集：</a:t>
            </a:r>
            <a:r>
              <a:rPr lang="en-US" altLang="zh-CN"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mmWave-3DPCHM-1.0</a:t>
            </a:r>
            <a:r>
              <a:rPr lang="en-US"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en-US" sz="105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graphicFrame>
        <p:nvGraphicFramePr>
          <p:cNvPr id="89" name="表格 88"/>
          <p:cNvGraphicFramePr/>
          <p:nvPr>
            <p:custDataLst>
              <p:tags r:id="rId1"/>
            </p:custDataLst>
          </p:nvPr>
        </p:nvGraphicFramePr>
        <p:xfrm>
          <a:off x="7618730" y="1833880"/>
          <a:ext cx="4271645" cy="296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005"/>
                <a:gridCol w="1791335"/>
                <a:gridCol w="1424305"/>
              </a:tblGrid>
              <a:tr h="328930">
                <a:tc>
                  <a:txBody>
                    <a:bodyPr/>
                    <a:p>
                      <a:pPr algn="ctr"/>
                      <a:r>
                        <a:rPr sz="1200" b="0" spc="8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维度</a:t>
                      </a:r>
                      <a:endParaRPr lang="zh-CN" altLang="en-US" sz="1200" b="0" spc="8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8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家安★</a:t>
                      </a:r>
                      <a:endParaRPr lang="zh-CN" altLang="en-US" sz="1200" spc="8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b="0" spc="8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典型大模型</a:t>
                      </a:r>
                      <a:endParaRPr lang="zh-CN" altLang="en-US" sz="1200" b="0" spc="8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训练样本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44 万帧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百万～亿级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被试数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7 人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千～万人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检测范围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i="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</a:rPr>
                        <a:t>所有偏离正常的</a:t>
                      </a:r>
                      <a:r>
                        <a:rPr lang="zh-CN" altLang="en-US" sz="1200" b="1" i="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</a:rPr>
                        <a:t>情况</a:t>
                      </a:r>
                      <a:endParaRPr lang="zh-CN" altLang="en-US" sz="1200" b="1" i="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编码的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危险模式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冷启动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&lt; 14 天</a:t>
                      </a:r>
                      <a:endParaRPr lang="zh-CN" altLang="en-US" sz="1200" b="1" i="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不可用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模型大小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&lt; 30MB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GB 级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推理硬件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CPU &lt; 100ms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GPU 集群</a:t>
                      </a:r>
                      <a:endParaRPr lang="zh-CN" altLang="en-US" sz="1200" b="0" i="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增量学习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自监督，每天</a:t>
                      </a:r>
                      <a:r>
                        <a:rPr lang="zh-CN"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校准</a:t>
                      </a:r>
                      <a:endParaRPr lang="zh-CN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需重新训练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p>
                      <a:pPr algn="ctr"/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个人基线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14 天建立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 panose="020B0604020202090204"/>
                          <a:ea typeface="苹方-简" panose="020B0400000000000000" charset="-122"/>
                          <a:sym typeface="+mn-ea"/>
                        </a:rPr>
                        <a:t>不支持</a:t>
                      </a:r>
                      <a:endParaRPr lang="zh-CN" altLang="en-US" sz="1200" b="0" i="0">
                        <a:solidFill>
                          <a:schemeClr val="tx1"/>
                        </a:solidFill>
                        <a:latin typeface="Arial" panose="020B0604020202090204"/>
                        <a:ea typeface="苹方-简" panose="020B0400000000000000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TextBox 50"/>
          <p:cNvSpPr txBox="1"/>
          <p:nvPr/>
        </p:nvSpPr>
        <p:spPr>
          <a:xfrm>
            <a:off x="491490" y="1425575"/>
            <a:ext cx="6912610" cy="1398270"/>
          </a:xfrm>
          <a:prstGeom prst="rect">
            <a:avLst/>
          </a:prstGeom>
          <a:solidFill>
            <a:srgbClr val="002FA7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170" tIns="46990" rIns="90170" bIns="46990" anchor="ctr" anchorCtr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训练集仅包含</a:t>
            </a:r>
            <a:r>
              <a:rPr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正常</a:t>
            </a:r>
            <a:r>
              <a:rPr 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行为</a:t>
            </a:r>
            <a:r>
              <a:rPr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不含</a:t>
            </a:r>
            <a:r>
              <a:rPr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跌倒</a:t>
            </a:r>
            <a:r>
              <a:rPr 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。</a:t>
            </a:r>
            <a:r>
              <a:rPr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但跌倒发生时，Predictor 预测误差显著高于正常（t-test p &lt; 0.01，effect size &gt; 2×）</a:t>
            </a:r>
            <a:r>
              <a:rPr 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en-US" alt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预测偏差</a:t>
            </a:r>
            <a:r>
              <a:rPr lang="en-US" alt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 = </a:t>
            </a:r>
            <a:r>
              <a:rPr lang="zh-CN" alt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异常</a:t>
            </a:r>
            <a:r>
              <a:rPr lang="en-US" alt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机制在公开数据集上验证通过：规则引擎预设跌倒模式（高度骤降</a:t>
            </a:r>
            <a:r>
              <a:rPr lang="en-US" alt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躺姿</a:t>
            </a:r>
            <a:r>
              <a:rPr lang="en-US" alt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= </a:t>
            </a:r>
            <a:r>
              <a:rPr lang="zh-CN" alt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跌倒），只检测被定义的情况。世界模型学习</a:t>
            </a:r>
            <a:r>
              <a:rPr lang="en-US" alt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什么是正常</a:t>
            </a:r>
            <a:r>
              <a:rPr lang="en-US" altLang="zh-CN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"，</a:t>
            </a:r>
            <a:r>
              <a:rPr lang="zh-CN" altLang="en-US" sz="1400" b="0">
                <a:solidFill>
                  <a:srgbClr val="F5F5F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/>
                <a:ea typeface="苹方-简" panose="020B0400000000000000" charset="-122"/>
              </a:rPr>
              <a:t>任何偏离都触发信号，包括规则没定义、没想到、没见过的异常。</a:t>
            </a:r>
            <a:endParaRPr sz="1400" b="0">
              <a:solidFill>
                <a:srgbClr val="F5F5F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502920" y="304800"/>
            <a:ext cx="6058535" cy="201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数据与</a:t>
            </a:r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图表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2920" y="6509385"/>
            <a:ext cx="6677025" cy="221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ClrTx/>
              <a:buSzTx/>
              <a:buFontTx/>
            </a:pPr>
            <a:r>
              <a:rPr sz="105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数据集：mmWave-3DPCHM-1.0（TI IWR1443-ISK + Vayyar vBlu，实验室环境）</a:t>
            </a:r>
            <a:endParaRPr sz="105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pic>
        <p:nvPicPr>
          <p:cNvPr id="2" name="图片 1" descr="fig1_hypothes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975" y="213995"/>
            <a:ext cx="3931920" cy="2426970"/>
          </a:xfrm>
          <a:prstGeom prst="rect">
            <a:avLst/>
          </a:prstGeom>
          <a:ln>
            <a:noFill/>
          </a:ln>
        </p:spPr>
      </p:pic>
      <p:pic>
        <p:nvPicPr>
          <p:cNvPr id="3" name="图片 2" descr="fig2_error_di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" y="1376680"/>
            <a:ext cx="6972935" cy="3221990"/>
          </a:xfrm>
          <a:prstGeom prst="rect">
            <a:avLst/>
          </a:prstGeom>
          <a:ln>
            <a:noFill/>
          </a:ln>
        </p:spPr>
      </p:pic>
      <p:pic>
        <p:nvPicPr>
          <p:cNvPr id="4" name="图片 3" descr="fig3_window_au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675" y="3373120"/>
            <a:ext cx="3942715" cy="2545715"/>
          </a:xfrm>
          <a:prstGeom prst="rect">
            <a:avLst/>
          </a:prstGeom>
          <a:ln>
            <a:noFill/>
          </a:ln>
        </p:spPr>
      </p:pic>
      <p:sp>
        <p:nvSpPr>
          <p:cNvPr id="19" name="TextBox 6"/>
          <p:cNvSpPr txBox="1"/>
          <p:nvPr/>
        </p:nvSpPr>
        <p:spPr>
          <a:xfrm>
            <a:off x="7673975" y="2640965"/>
            <a:ext cx="39319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Fig.2 H1–H4 </a:t>
            </a:r>
            <a:r>
              <a:rPr lang="zh-CN" altLang="en-US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验证结果</a:t>
            </a:r>
            <a:endParaRPr lang="zh-CN" altLang="en-US" sz="1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2" name="TextBox 6"/>
          <p:cNvSpPr txBox="1"/>
          <p:nvPr/>
        </p:nvSpPr>
        <p:spPr>
          <a:xfrm>
            <a:off x="1686560" y="4636135"/>
            <a:ext cx="4117340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Fig.1 </a:t>
            </a:r>
            <a:r>
              <a:rPr lang="zh-CN" altLang="en-US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正常</a:t>
            </a:r>
            <a:r>
              <a:rPr lang="en-US" altLang="zh-CN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vs </a:t>
            </a:r>
            <a:r>
              <a:rPr lang="zh-CN" altLang="en-US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</a:t>
            </a:r>
            <a:r>
              <a:rPr lang="en-US" altLang="zh-CN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预测误差分布</a:t>
            </a:r>
            <a:endParaRPr lang="zh-CN" altLang="en-US" sz="1400" b="1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正常帧误差集中在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0.08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附近，跌倒帧误差飙升至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0.43。5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倍差异，双峰完全分离。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5" name="TextBox 6"/>
          <p:cNvSpPr txBox="1"/>
          <p:nvPr/>
        </p:nvSpPr>
        <p:spPr>
          <a:xfrm>
            <a:off x="7686675" y="5956300"/>
            <a:ext cx="3942715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Fig.3 </a:t>
            </a:r>
            <a:r>
              <a:rPr lang="zh-CN" altLang="en-US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窗口聚合</a:t>
            </a:r>
            <a:r>
              <a:rPr lang="en-US" altLang="zh-CN" sz="14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AUC</a:t>
            </a:r>
            <a:endParaRPr lang="en-US" altLang="zh-CN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逐帧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AUC 0.74 </a:t>
            </a:r>
            <a:r>
              <a:rPr lang="en-US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16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帧聚合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0.94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0.8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秒窗口足够区分异常，误报可控。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Competition · 竞争格局</a:t>
            </a:r>
            <a:endParaRPr sz="800" b="0" i="0" spc="12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27063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产品差异与</a:t>
            </a:r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竞争格局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85597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C 端全屋买断是空白</a:t>
            </a:r>
            <a:endParaRPr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009650"/>
            <a:ext cx="11548872" cy="52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雷达跌倒检测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并非新事物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点可、清雷、森思泰克、兆观。但都走 B 端项目制（养老院、医院）或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向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集成商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提供配套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。小米智能家居（非康养），华为全屋装修，萤石核心是摄像头（雷达仅配件）。299–799 元、子女买给父母、15 分钟自装的 C 端全屋雷达套装品类目前是空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白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3749040" cy="277241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768" y="193852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现有玩家</a:t>
            </a:r>
            <a:endParaRPr sz="140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2218690"/>
            <a:ext cx="3529583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固件</a:t>
            </a:r>
            <a:r>
              <a:rPr lang="zh-CN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方案</a:t>
            </a:r>
            <a:r>
              <a:rPr lang="en-US" altLang="zh-CN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出厂即定型</a:t>
            </a:r>
            <a:endParaRPr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768" y="2632710"/>
            <a:ext cx="3529583" cy="152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>
              <a:lnSpc>
                <a:spcPct val="142000"/>
              </a:lnSpc>
              <a:buNone/>
            </a:pP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- 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萤石/点可/森思泰克用雷达厂商固件，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出厂即定型，精度固定。</a:t>
            </a:r>
            <a:r>
              <a:rPr lang="zh-CN" altLang="en-US" sz="140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用户量增长不带来精度提升。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indent="0" algn="l">
              <a:lnSpc>
                <a:spcPct val="142000"/>
              </a:lnSpc>
              <a:buNone/>
            </a:pP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-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频繁误报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用户关闭通知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产品形同虚设。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indent="0" algn="l">
              <a:lnSpc>
                <a:spcPct val="142000"/>
              </a:lnSpc>
              <a:buNone/>
            </a:pP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-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定价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500–2000+ </a:t>
            </a: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元，多需专业人员安装。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97350" y="1828800"/>
            <a:ext cx="3749040" cy="277241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06823" y="193852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1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渠道错位</a:t>
            </a:r>
            <a:endParaRPr sz="1400" b="0" i="0" spc="10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06823" y="2218690"/>
            <a:ext cx="3529583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B 端项目 / </a:t>
            </a:r>
            <a:r>
              <a:rPr lang="zh-CN"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捆绑</a:t>
            </a:r>
            <a:r>
              <a:rPr b="1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装修</a:t>
            </a:r>
            <a:endParaRPr b="1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06823" y="2632710"/>
            <a:ext cx="3529583" cy="152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>
              <a:lnSpc>
                <a:spcPct val="142000"/>
              </a:lnSpc>
              <a:buNone/>
            </a:pP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- 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机构项目制针对养老院和医院，高端全屋方案走装修公司渠道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缺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少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消费级的、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简易安装的产品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zh-CN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indent="0" algn="l">
              <a:lnSpc>
                <a:spcPct val="142000"/>
              </a:lnSpc>
              <a:buNone/>
            </a:pP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- 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价格带（299–799 vs 竞品 500–2000+）和安装门槛（自装 vs 上门）是核心差异点。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74025" y="1828800"/>
            <a:ext cx="3749040" cy="277241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79" y="1938528"/>
            <a:ext cx="356615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10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家安差异</a:t>
            </a:r>
            <a:endParaRPr sz="1400" b="0" i="0" spc="10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83879" y="2218690"/>
            <a:ext cx="3529583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ELPD 世界模型</a:t>
            </a:r>
            <a:r>
              <a:rPr lang="en-US"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越用越准</a:t>
            </a:r>
            <a:endParaRPr b="1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 descr="7b0a202020202262756c6c6574223a20227b5c2263617465676f727949645c223a5c225c222c5c2274656d706c61746549645c223a32303233313731347d220a7d0a"/>
          <p:cNvSpPr txBox="1"/>
          <p:nvPr/>
        </p:nvSpPr>
        <p:spPr>
          <a:xfrm>
            <a:off x="8183879" y="2560320"/>
            <a:ext cx="3529583" cy="183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>
              <a:lnSpc>
                <a:spcPct val="142000"/>
              </a:lnSpc>
              <a:buNone/>
            </a:pP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- 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自研感知</a:t>
            </a: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精度随用户增长而提升，固件做不到</a:t>
            </a:r>
            <a:endParaRPr lang="zh-CN" altLang="en-US" sz="1400" b="0" i="0">
              <a:solidFill>
                <a:srgbClr val="ECF0FB"/>
              </a:solidFill>
              <a:latin typeface="Arial" panose="020B0604020202090204"/>
              <a:ea typeface="苹方-简" panose="020B0400000000000000" charset="-122"/>
            </a:endParaRPr>
          </a:p>
          <a:p>
            <a:pPr indent="0" algn="l">
              <a:lnSpc>
                <a:spcPct val="142000"/>
              </a:lnSpc>
              <a:buNone/>
            </a:pP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- 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全屋组网</a:t>
            </a: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跨房间追踪</a:t>
            </a: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全屋行为画像，单雷达做不到</a:t>
            </a:r>
            <a:endParaRPr lang="zh-CN" altLang="en-US" sz="1400" b="0" i="0">
              <a:solidFill>
                <a:srgbClr val="ECF0FB"/>
              </a:solidFill>
              <a:latin typeface="Arial" panose="020B0604020202090204"/>
              <a:ea typeface="苹方-简" panose="020B0400000000000000" charset="-122"/>
            </a:endParaRPr>
          </a:p>
          <a:p>
            <a:pPr indent="0" algn="l">
              <a:lnSpc>
                <a:spcPct val="142000"/>
              </a:lnSpc>
              <a:buNone/>
            </a:pP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- 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消费级体验</a:t>
            </a: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价格低</a:t>
            </a: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、15 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分钟自装，</a:t>
            </a:r>
            <a:r>
              <a:rPr lang="en-US" altLang="zh-CN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B </a:t>
            </a:r>
            <a:r>
              <a:rPr lang="zh-CN" alt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端产品做不到</a:t>
            </a:r>
            <a:endParaRPr lang="zh-CN" altLang="en-US" sz="1400" b="0" i="0">
              <a:solidFill>
                <a:srgbClr val="ECF0FB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0040" y="5001260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海外的路线验证了需求，也暴露了模式问题</a:t>
            </a:r>
            <a:r>
              <a:rPr lang="en-US" altLang="zh-CN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即基本为</a:t>
            </a:r>
            <a:r>
              <a:rPr lang="en-US" altLang="zh-CN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r>
              <a:rPr lang="zh-CN" altLang="en-US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硬件</a:t>
            </a:r>
            <a:r>
              <a:rPr lang="en-US" altLang="zh-CN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+</a:t>
            </a:r>
            <a:r>
              <a:rPr lang="zh-CN" altLang="en-US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月费</a:t>
            </a:r>
            <a:r>
              <a:rPr lang="en-US" altLang="zh-CN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+B </a:t>
            </a:r>
            <a:r>
              <a:rPr lang="zh-CN" altLang="en-US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端</a:t>
            </a:r>
            <a:r>
              <a:rPr lang="en-US" altLang="zh-CN" sz="14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"</a:t>
            </a:r>
            <a:endParaRPr lang="zh-CN" altLang="en-US" sz="14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" y="5415407"/>
            <a:ext cx="11548872" cy="786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Vayyar Care（以色列）：$250/台 + $20/月订阅，估值约 $1B。CarePredict（美国）：$169/台 + $30/月。SafelyYou（美国）：纯 B 端，养老机构。三家模式均为"硬件+月费+B 端"。Apple Watch 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等可穿戴设备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跌倒检测纯 C 端买断，但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老人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佩戴率低、夜间充电/洗澡取下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室内无感覆盖仍是雷达独占场景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国内暂无可比品牌。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" y="6400800"/>
            <a:ext cx="11548872" cy="16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价格和形态是最强差异化武器。品牌壁垒形成后，新进入者需同时追上自研模型精度+数据飞轮规模+消费级渠道——三项同时从零开始。</a:t>
            </a:r>
            <a:endParaRPr sz="95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Rectangle 17"/>
          <p:cNvSpPr/>
          <p:nvPr/>
        </p:nvSpPr>
        <p:spPr>
          <a:xfrm>
            <a:off x="320040" y="1355725"/>
            <a:ext cx="4418965" cy="1939925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1508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团队</a:t>
            </a:r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搭建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718185"/>
            <a:ext cx="11548872" cy="44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zh-CN" sz="2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创始人独立完成核心技术栈</a:t>
            </a:r>
            <a:r>
              <a:rPr lang="en-US" altLang="zh-CN" sz="2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2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团队按里程碑分阶段扩张</a:t>
            </a:r>
            <a:r>
              <a:rPr lang="en-US" altLang="zh-CN" sz="2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lang="en-US" altLang="zh-CN" sz="2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870" y="4179570"/>
            <a:ext cx="3749040" cy="196151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466598" y="4355338"/>
            <a:ext cx="3566159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01 雷达信号处理</a:t>
            </a:r>
            <a:endParaRPr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598" y="4842510"/>
            <a:ext cx="3529583" cy="602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从稀疏点云稳定提取多维特征，理解毫米波雷达物理模型、FMCW 信号链、噪声特性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66598" y="5614670"/>
            <a:ext cx="3529583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598" y="5805678"/>
            <a:ext cx="3529583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核心技能：雷达信号链 · 嵌入式 · 点云预处理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34180" y="4179570"/>
            <a:ext cx="3749040" cy="196151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4343653" y="4355338"/>
            <a:ext cx="3566159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02 点云深度学习</a:t>
            </a:r>
            <a:endParaRPr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43653" y="4842510"/>
            <a:ext cx="3529583" cy="602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稀疏点云时序表示学习、端到端跌倒检测、微多普勒步态建模。云端 GPU 训练+推理。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343653" y="5614670"/>
            <a:ext cx="3529584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43653" y="5805678"/>
            <a:ext cx="3529583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核心技能：3D 深度学习 · 自监督学习 · 时序建模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10855" y="4179570"/>
            <a:ext cx="3749040" cy="196151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8220709" y="4355338"/>
            <a:ext cx="3566159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03 老年医学认知</a:t>
            </a:r>
            <a:endParaRPr b="1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0709" y="4842510"/>
            <a:ext cx="3529583" cy="602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把呼吸、心率、活动、睡眠翻译成临床关联，同时守住不做诊断的合规边界。</a:t>
            </a:r>
            <a:endParaRPr lang="zh-CN" alt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220709" y="5614670"/>
            <a:ext cx="3529584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0709" y="5805678"/>
            <a:ext cx="3529583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核心技能：老年医学 · 临床研究 · 医疗合规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20040" y="362712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4"/>
          <p:cNvSpPr txBox="1"/>
          <p:nvPr/>
        </p:nvSpPr>
        <p:spPr>
          <a:xfrm>
            <a:off x="5456555" y="2121535"/>
            <a:ext cx="6025515" cy="1179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Y1</a:t>
            </a:r>
            <a:r>
              <a:rPr sz="16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（5 人）：</a:t>
            </a:r>
            <a:r>
              <a:rPr lang="zh-CN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硬件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1</a:t>
            </a:r>
            <a:r>
              <a:rPr lang="en-US"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AI/ML 1、iOS 1、商务 1。约 90 万。
</a:t>
            </a:r>
            <a:r>
              <a:rPr sz="16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Y2（8 人）：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+ 安卓 1、 + AI/ML 1、运营 1。约 280 万。
</a:t>
            </a:r>
            <a:r>
              <a:rPr sz="1600" b="1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Y3（12 人）：</a:t>
            </a:r>
            <a:r>
              <a:rPr sz="16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+ 硬件工程师 1、商务拓展 1、医疗顾问 1（兼职）。约 420 万。</a:t>
            </a:r>
            <a:endParaRPr sz="16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347970" y="1355725"/>
            <a:ext cx="6330950" cy="691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2000"/>
              </a:lnSpc>
            </a:pPr>
            <a:r>
              <a:rPr sz="1600" b="1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后续团队在跨领域的雷达信号处理、点云深度学习、老年医学认知三个维度</a:t>
            </a:r>
            <a:r>
              <a:rPr lang="zh-CN" sz="1600" b="1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扩张</a:t>
            </a:r>
            <a:endParaRPr lang="zh-CN" sz="1600" b="1" spc="80">
              <a:solidFill>
                <a:srgbClr val="002FA7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20040" y="2018665"/>
            <a:ext cx="4253230" cy="112458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5F5F4"/>
                </a:solidFill>
                <a:latin typeface="Arial" panose="020B0604020202090204"/>
                <a:ea typeface="苹方-简" panose="020B0400000000000000" charset="-122"/>
              </a:rPr>
              <a:t>上海国家会计学院硕士、北京大学硕士</a:t>
            </a:r>
            <a:endParaRPr lang="zh-CN" altLang="en-US" sz="1400" b="1">
              <a:solidFill>
                <a:srgbClr val="F5F5F4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5F5F4"/>
                </a:solidFill>
                <a:latin typeface="Arial" panose="020B0604020202090204"/>
                <a:ea typeface="苹方-简" panose="020B0400000000000000" charset="-122"/>
              </a:rPr>
              <a:t>中级职称</a:t>
            </a:r>
            <a:r>
              <a:rPr lang="en-US" altLang="zh-CN" sz="1400" b="1">
                <a:solidFill>
                  <a:srgbClr val="F5F5F4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lang="zh-CN" altLang="en-US" sz="1400" b="1">
                <a:solidFill>
                  <a:srgbClr val="F5F5F4"/>
                </a:solidFill>
                <a:latin typeface="Arial" panose="020B0604020202090204"/>
                <a:ea typeface="苹方-简" panose="020B0400000000000000" charset="-122"/>
              </a:rPr>
              <a:t>法律职业资格</a:t>
            </a:r>
            <a:r>
              <a:rPr lang="zh-CN" altLang="en-US" sz="1400" b="1">
                <a:solidFill>
                  <a:srgbClr val="F5F5F4"/>
                </a:solidFill>
                <a:latin typeface="Arial" panose="020B0604020202090204"/>
                <a:ea typeface="苹方-简" panose="020B0400000000000000" charset="-122"/>
              </a:rPr>
              <a:t>持证</a:t>
            </a:r>
            <a:endParaRPr lang="zh-CN" altLang="en-US" sz="1400" b="1">
              <a:solidFill>
                <a:srgbClr val="F5F5F4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5F5F4"/>
                </a:solidFill>
                <a:latin typeface="Arial" panose="020B0604020202090204"/>
                <a:ea typeface="苹方-简" panose="020B0400000000000000" charset="-122"/>
              </a:rPr>
              <a:t>全国研究生数学建模大赛三等奖</a:t>
            </a:r>
            <a:endParaRPr lang="zh-CN" altLang="en-US" sz="1400" b="1">
              <a:solidFill>
                <a:srgbClr val="F5F5F4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5F5F4"/>
                </a:solidFill>
                <a:latin typeface="Arial" panose="020B0604020202090204"/>
                <a:ea typeface="苹方-简" panose="020B0400000000000000" charset="-122"/>
              </a:rPr>
              <a:t>军工与医疗器械行业5年产业投资与战略规划经验</a:t>
            </a:r>
            <a:endParaRPr lang="zh-CN" altLang="en-US" sz="1400" b="1">
              <a:solidFill>
                <a:srgbClr val="F5F5F4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20040" y="1557655"/>
            <a:ext cx="42341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b="1">
                <a:solidFill>
                  <a:srgbClr val="F5F5F4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创始人</a:t>
            </a:r>
            <a:r>
              <a:rPr lang="en-US" b="1">
                <a:solidFill>
                  <a:srgbClr val="F5F5F4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 · Eular Gao</a:t>
            </a:r>
            <a:endParaRPr lang="en-US" altLang="en-US" b="1">
              <a:solidFill>
                <a:srgbClr val="F5F5F4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7635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商业模式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86105"/>
            <a:ext cx="11548745" cy="3663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硬件获客 </a:t>
            </a:r>
            <a:r>
              <a:rPr lang="en-US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+</a:t>
            </a: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订阅</a:t>
            </a: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盈利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049020"/>
            <a:ext cx="5437505" cy="30175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0460"/>
            <a:ext cx="5029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01 硬件层 · 买断获客</a:t>
            </a:r>
            <a:endParaRPr sz="1200" b="1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4147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一次买断</a:t>
            </a:r>
            <a:endParaRPr sz="2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71980"/>
            <a:ext cx="5029200" cy="80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299 / 499 / 799 元三档，用户永久拥有。
加权 ASP 599 元 / BOM 425 元 / 硬件毛利 174 元（29%）。
硬件微利——目的是把设备装进家，利润从服务来。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57200" y="2840990"/>
            <a:ext cx="5029200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2932430"/>
            <a:ext cx="502920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 尝鲜版 299 元 — 1 雷达（仅浴室，尝鲜入口）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206749"/>
            <a:ext cx="502920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 全屋套 S 499 元 — 2 雷达（2室1厅，主推入门）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481069"/>
            <a:ext cx="502920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 全屋套 L 799 元 — 4 雷达（3室2厅，完整覆盖）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3755389"/>
            <a:ext cx="5029200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— 硬件是获客入口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89320" y="1049020"/>
            <a:ext cx="5559552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140460"/>
            <a:ext cx="528523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8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02 服务层 · 订阅盈利</a:t>
            </a:r>
            <a:endParaRPr sz="1200" b="1" i="0" spc="8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1414780"/>
            <a:ext cx="5285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199 元/年</a:t>
            </a:r>
            <a:endParaRPr sz="22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1871980"/>
            <a:ext cx="5285232" cy="80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基础服务（实时告警、周报）永久免费。
高级健康服务（月报 PDF、长期趋势、就医参考）按年订阅。
毛利约 </a:t>
            </a:r>
            <a:r>
              <a:rPr lang="en-US"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77</a:t>
            </a: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%，免费层走轻量云、付费层承担重云成本。</a:t>
            </a:r>
            <a:endParaRPr sz="1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2840990"/>
            <a:ext cx="5285232" cy="0"/>
          </a:xfrm>
          <a:prstGeom prst="bentConnector3">
            <a:avLst/>
          </a:prstGeom>
          <a:ln w="12700">
            <a:solidFill>
              <a:srgbClr val="88A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0" y="2932430"/>
            <a:ext cx="5285232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— 转化率取 </a:t>
            </a:r>
            <a:r>
              <a:rPr lang="en-US"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20</a:t>
            </a: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% </a:t>
            </a:r>
            <a:endParaRPr sz="1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0" y="3206749"/>
            <a:ext cx="5285232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— 免费层走轻量云、付费层承担重云成本 — 订阅收入覆盖云成本</a:t>
            </a:r>
            <a:endParaRPr sz="1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3481069"/>
            <a:ext cx="5285232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— 越用越准 → 不可替代</a:t>
            </a:r>
            <a:r>
              <a:rPr lang="zh-CN"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性</a:t>
            </a:r>
            <a:r>
              <a:rPr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 → 续费</a:t>
            </a:r>
            <a:r>
              <a:rPr lang="zh-CN" sz="1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倾向</a:t>
            </a:r>
            <a:endParaRPr lang="zh-CN" sz="1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320040" y="423672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0040" y="4465320"/>
            <a:ext cx="4951730" cy="2457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单位经济</a:t>
            </a:r>
            <a:r>
              <a:rPr lang="en-US"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（</a:t>
            </a:r>
            <a:r>
              <a:rPr lang="zh-CN" altLang="en-US"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早期与第二曲线</a:t>
            </a:r>
            <a:r>
              <a:rPr lang="en-US" altLang="zh-CN"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）</a:t>
            </a:r>
            <a:endParaRPr lang="en-US" altLang="zh-CN" sz="1600" b="1" i="0" spc="8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040" y="4801870"/>
            <a:ext cx="5821045" cy="1573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早期：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LTV 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261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/ CAC 300 = 0.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87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，承压。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降本后（</a:t>
            </a:r>
            <a:r>
              <a:rPr lang="en-US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Y2 </a:t>
            </a:r>
            <a:r>
              <a:rPr lang="zh-CN" altLang="en-US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自研一体板</a:t>
            </a:r>
            <a:r>
              <a:rPr lang="en-US" altLang="zh-CN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BOM 1</a:t>
            </a:r>
            <a:r>
              <a:rPr lang="en-US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00</a:t>
            </a: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）：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LTV 5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87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/ CAC 250 = 2.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35</a:t>
            </a:r>
            <a:endParaRPr lang="en-US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2000"/>
              </a:lnSpc>
            </a:pPr>
            <a:r>
              <a:rPr lang="zh-CN" altLang="en-US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国产</a:t>
            </a:r>
            <a:r>
              <a:rPr lang="en-US" altLang="zh-CN"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SoC（Y3 BOM 60）：</a:t>
            </a:r>
            <a:r>
              <a:rPr lang="en-US" alt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LTV 627 / CAC 250 = 2.51</a:t>
            </a:r>
            <a:endParaRPr lang="en-US" altLang="zh-CN"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2000"/>
              </a:lnSpc>
            </a:pPr>
            <a:endParaRPr sz="1400" b="1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第二曲线：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沉淀的居家健康数据向保险/养老机构/医疗 B 端变现。已积累的个人基线数据和标注数据是 B 端服务的核心资产。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400165" y="4343400"/>
            <a:ext cx="5125720" cy="2153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4165" y="4465320"/>
            <a:ext cx="448056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单位经济（单用户加权平均）</a:t>
            </a:r>
            <a:endParaRPr sz="1600" b="1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654165" y="484492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 sz="1200" b="1" spc="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17205" y="484492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早期 BOM 425</a:t>
            </a:r>
            <a:endParaRPr sz="1200" b="1" spc="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763125" y="484492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降本后 BOM </a:t>
            </a:r>
            <a:r>
              <a:rPr lang="en-US"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6</a:t>
            </a:r>
            <a:r>
              <a:rPr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</a:t>
            </a:r>
            <a:endParaRPr sz="1200" b="1" spc="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54165" y="515480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硬件 ASP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117205" y="515480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599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763125" y="515480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599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654165" y="533768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硬件毛利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117205" y="533768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174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63125" y="533768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539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54165" y="552056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订阅 ARPU（年）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117205" y="552056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4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0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763125" y="552056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40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54165" y="570344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3年 LTV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117205" y="570344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</a:t>
            </a:r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61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763125" y="570344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62</a:t>
            </a:r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7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654165" y="588632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CAC</a:t>
            </a:r>
            <a:endParaRPr sz="1200" b="1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117205" y="588632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300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763125" y="588632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spc="5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250 元</a:t>
            </a:r>
            <a:endParaRPr sz="1200" b="0" spc="5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54165" y="6069203"/>
            <a:ext cx="146304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LTV / CAC</a:t>
            </a:r>
            <a:endParaRPr sz="1200" b="1" spc="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117205" y="606920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0.</a:t>
            </a:r>
            <a:r>
              <a:rPr lang="en-US" sz="1200" b="1" spc="5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87</a:t>
            </a:r>
            <a:endParaRPr lang="en-US" sz="1200" b="1" spc="5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763125" y="6069203"/>
            <a:ext cx="1645920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spc="5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2.</a:t>
            </a:r>
            <a:r>
              <a:rPr lang="en-US" sz="1200" b="1" spc="5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51</a:t>
            </a:r>
            <a:endParaRPr lang="en-US" sz="1200" b="1" spc="5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70637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盈利模型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20700"/>
            <a:ext cx="11548745" cy="393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三年财务预测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941705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1033145"/>
            <a:ext cx="2743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Y3 年末装机</a:t>
            </a:r>
            <a:endParaRPr sz="12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216025"/>
            <a:ext cx="274320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1.5 万户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1700657"/>
            <a:ext cx="2651760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Y1 1,000 → Y2 5,000 → Y3 15,000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17290" y="1033145"/>
            <a:ext cx="184467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Y3 总收入</a:t>
            </a:r>
            <a:endParaRPr sz="12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17290" y="1216025"/>
            <a:ext cx="184467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6</a:t>
            </a:r>
            <a:r>
              <a:rPr lang="en-US"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51.9</a:t>
            </a:r>
            <a:r>
              <a:rPr sz="32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万</a:t>
            </a:r>
            <a:endParaRPr sz="32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7290" y="1700530"/>
            <a:ext cx="1783715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3 年累计约 9</a:t>
            </a:r>
            <a:r>
              <a:rPr 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74 </a:t>
            </a: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万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3175" y="1033145"/>
            <a:ext cx="18034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毛利率</a:t>
            </a:r>
            <a:endParaRPr sz="12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3810" y="1274445"/>
            <a:ext cx="301561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30% </a:t>
            </a:r>
            <a:r>
              <a:rPr lang="en-US" altLang="en-US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81% </a:t>
            </a:r>
            <a:r>
              <a:rPr lang="en-US" altLang="en-US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87%</a:t>
            </a:r>
            <a:endParaRPr lang="en-US" altLang="zh-CN"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53175" y="1700530"/>
            <a:ext cx="1743710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硬件+订阅加权平均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50425" y="1033145"/>
            <a:ext cx="190881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spc="8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降本后 LTV/CAC</a:t>
            </a:r>
            <a:endParaRPr sz="1200" b="0" i="0" spc="8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50425" y="1216025"/>
            <a:ext cx="190881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2.</a:t>
            </a:r>
            <a:r>
              <a:rPr lang="en-US" sz="32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35 </a:t>
            </a:r>
            <a:r>
              <a:rPr sz="32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x</a:t>
            </a:r>
            <a:endParaRPr sz="32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50425" y="1700530"/>
            <a:ext cx="1845310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国产 SoC 后转正</a:t>
            </a:r>
            <a:endParaRPr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20040" y="200025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" y="2159000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8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三年收入</a:t>
            </a:r>
            <a:endParaRPr sz="1400" b="1" i="0" spc="8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0040" y="2458720"/>
            <a:ext cx="1188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Y1 收入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828800" y="2477008"/>
            <a:ext cx="8686800" cy="1828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Rectangle 26"/>
          <p:cNvSpPr/>
          <p:nvPr/>
        </p:nvSpPr>
        <p:spPr>
          <a:xfrm>
            <a:off x="1828800" y="2477008"/>
            <a:ext cx="859993" cy="1828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10588752" y="2449576"/>
            <a:ext cx="1371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6</a:t>
            </a:r>
            <a:r>
              <a:rPr lang="en-US"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3</a:t>
            </a:r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.9 万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40" y="2743200"/>
            <a:ext cx="1188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Y2 收入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828800" y="2761488"/>
            <a:ext cx="8686800" cy="1828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Rectangle 30"/>
          <p:cNvSpPr/>
          <p:nvPr/>
        </p:nvSpPr>
        <p:spPr>
          <a:xfrm>
            <a:off x="1828800" y="2761488"/>
            <a:ext cx="3457346" cy="1828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10588752" y="2734056"/>
            <a:ext cx="1371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25</a:t>
            </a:r>
            <a:r>
              <a:rPr lang="en-US"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8</a:t>
            </a:r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.3 万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0040" y="3027680"/>
            <a:ext cx="1188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Y3 收入</a:t>
            </a:r>
            <a:endParaRPr sz="1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828800" y="3045968"/>
            <a:ext cx="8686800" cy="1828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Rectangle 34"/>
          <p:cNvSpPr/>
          <p:nvPr/>
        </p:nvSpPr>
        <p:spPr>
          <a:xfrm>
            <a:off x="1828800" y="3045968"/>
            <a:ext cx="8686800" cy="1828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10588752" y="3018536"/>
            <a:ext cx="1371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6</a:t>
            </a:r>
            <a:r>
              <a:rPr lang="en-US"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51.9</a:t>
            </a:r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 万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0040" y="3461385"/>
            <a:ext cx="115488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8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投入期</a:t>
            </a:r>
            <a:r>
              <a:rPr sz="1400" b="1" i="0" spc="8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利润简表（万元）</a:t>
            </a:r>
            <a:endParaRPr lang="en-US" sz="1400" b="1" i="0" spc="8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20040" y="6249670"/>
            <a:ext cx="11080750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Y2 BOM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从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425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降至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100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（自研一体板），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Y3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降至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60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（国产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SoC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），毛利率从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30%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跃升至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87%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Y3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距盈亏平衡约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36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万</a:t>
            </a:r>
            <a:r>
              <a:rPr lang="zh-CN" altLang="en-US" sz="120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  <a:sym typeface="+mn-ea"/>
              </a:rPr>
              <a:t>，确定性高，业绩拐点兑现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。降本路径基于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BP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中已论证的硬件演进路线（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TI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模组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自研一体板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en-US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→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国产</a:t>
            </a:r>
            <a:r>
              <a:rPr lang="en-US" altLang="zh-CN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 SoC</a:t>
            </a:r>
            <a:r>
              <a:rPr lang="zh-CN" altLang="en-US" sz="1200" b="0" i="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），非外推假设。</a:t>
            </a:r>
            <a:endParaRPr lang="zh-CN" altLang="en-US" sz="1200" b="0" i="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graphicFrame>
        <p:nvGraphicFramePr>
          <p:cNvPr id="71" name="表格 70"/>
          <p:cNvGraphicFramePr/>
          <p:nvPr>
            <p:custDataLst>
              <p:tags r:id="rId1"/>
            </p:custDataLst>
          </p:nvPr>
        </p:nvGraphicFramePr>
        <p:xfrm>
          <a:off x="767080" y="3871595"/>
          <a:ext cx="10657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70"/>
                <a:gridCol w="2760556"/>
                <a:gridCol w="2760556"/>
                <a:gridCol w="2760556"/>
              </a:tblGrid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指标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（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单位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：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万元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）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Y1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Y2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Y3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硬件收入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59.9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239.6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599.0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订阅收入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4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.0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1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.7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52.9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总收入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63.9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258.3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651.9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总成本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44.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4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49.1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86.8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毛利（率）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1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9.5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 (30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.5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%)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209.2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 (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81.0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%)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565.1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 (</a:t>
                      </a: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86.7</a:t>
                      </a:r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%)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/>
                      <a:r>
                        <a:rPr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cs typeface="PingFang SC Regular" panose="020B0400000000000000" charset="-122"/>
                          <a:sym typeface="+mn-ea"/>
                        </a:rPr>
                        <a:t>总费用（人力+CAC+行政）</a:t>
                      </a:r>
                      <a:endParaRPr lang="zh-CN" alt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cs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217.6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387.6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601.4</a:t>
                      </a:r>
                      <a:endParaRPr lang="en-US" sz="12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74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200" b="1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净利</a:t>
                      </a:r>
                      <a:endParaRPr lang="zh-CN" altLang="en-US" sz="1200" b="1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200" b="1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-198</a:t>
                      </a:r>
                      <a:endParaRPr lang="en-US" sz="1200" b="1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-178</a:t>
                      </a:r>
                      <a:endParaRPr lang="en-US" sz="1200" b="1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-36</a:t>
                      </a:r>
                      <a:endParaRPr lang="en-US" sz="1200" b="1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220472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ROADMAP</a:t>
            </a:r>
            <a:r>
              <a:rPr lang="en-US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：</a:t>
            </a:r>
            <a:r>
              <a:rPr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落地与里程碑</a:t>
            </a:r>
            <a:endParaRPr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522097"/>
            <a:ext cx="1154887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落地路径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3533140"/>
            <a:ext cx="11548872" cy="0"/>
          </a:xfrm>
          <a:prstGeom prst="bentConnector3">
            <a:avLst/>
          </a:prstGeom>
          <a:ln w="38100">
            <a:solidFill>
              <a:srgbClr val="002FA7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91056" y="3478276"/>
            <a:ext cx="109728" cy="109728"/>
          </a:xfrm>
          <a:prstGeom prst="ellipse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5447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spc="60">
                <a:solidFill>
                  <a:srgbClr val="002FA7"/>
                </a:solidFill>
                <a:latin typeface="Arial" panose="020B0604020202090204" pitchFamily="34" charset="0"/>
                <a:ea typeface="苹方-简" panose="020B0400000000000000" charset="-122"/>
                <a:cs typeface="Arial" panose="020B0604020202090204" pitchFamily="34" charset="0"/>
              </a:rPr>
              <a:t>M0–6 · MVP</a:t>
            </a:r>
            <a:endParaRPr sz="1600" b="1" i="0" spc="60">
              <a:solidFill>
                <a:srgbClr val="002FA7"/>
              </a:solidFill>
              <a:latin typeface="Arial" panose="020B0604020202090204" pitchFamily="34" charset="0"/>
              <a:ea typeface="苹方-简" panose="020B0400000000000000" charset="-122"/>
              <a:cs typeface="Arial" panose="020B060402020209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212975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验证核心壁垒</a:t>
            </a:r>
            <a:endParaRPr sz="16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584450"/>
            <a:ext cx="2334260" cy="742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2 雷达起步（浴室+卧室）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跌倒≥90%·误报&lt;2次/周/户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内测5–8户攒标注数据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57141" y="3477006"/>
            <a:ext cx="109728" cy="10972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5359" y="1925447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spc="60">
                <a:solidFill>
                  <a:srgbClr val="737373"/>
                </a:solidFill>
                <a:latin typeface="Arial" panose="020B0604020202090204" pitchFamily="34" charset="0"/>
                <a:ea typeface="苹方-简" panose="020B0400000000000000" charset="-122"/>
                <a:cs typeface="Arial" panose="020B0604020202090204" pitchFamily="34" charset="0"/>
              </a:rPr>
              <a:t>M6–12</a:t>
            </a:r>
            <a:endParaRPr sz="1600" b="1" i="0" spc="60">
              <a:solidFill>
                <a:srgbClr val="737373"/>
              </a:solidFill>
              <a:latin typeface="Arial" panose="020B0604020202090204" pitchFamily="34" charset="0"/>
              <a:ea typeface="苹方-简" panose="020B0400000000000000" charset="-122"/>
              <a:cs typeface="Arial" panose="020B060402020209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15359" y="2212975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商用启动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23970" y="2580005"/>
            <a:ext cx="1925955" cy="742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全屋套 S/L 上线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1000 户·高级订阅上线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iOS 全功能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97496" y="3478276"/>
            <a:ext cx="109728" cy="10972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1639062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spc="60">
                <a:solidFill>
                  <a:srgbClr val="737373"/>
                </a:solidFill>
                <a:latin typeface="Arial" panose="020B0604020202090204" pitchFamily="34" charset="0"/>
                <a:ea typeface="苹方-简" panose="020B0400000000000000" charset="-122"/>
                <a:cs typeface="Arial" panose="020B0604020202090204" pitchFamily="34" charset="0"/>
              </a:rPr>
              <a:t>M12–18</a:t>
            </a:r>
            <a:endParaRPr sz="1600" b="1" i="0" spc="60">
              <a:solidFill>
                <a:srgbClr val="737373"/>
              </a:solidFill>
              <a:latin typeface="Arial" panose="020B0604020202090204" pitchFamily="34" charset="0"/>
              <a:ea typeface="苹方-简" panose="020B0400000000000000" charset="-122"/>
              <a:cs typeface="Arial" panose="020B060402020209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55079" y="1926590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规模化+降本</a:t>
            </a:r>
            <a:endParaRPr sz="16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42100" y="2327910"/>
            <a:ext cx="1737995" cy="989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5000 户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自研一体板量产</a:t>
            </a:r>
            <a:endParaRPr lang="zh-CN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步态预测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付费信息流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投放</a:t>
            </a:r>
            <a:endParaRPr lang="zh-CN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236580" y="3490341"/>
            <a:ext cx="109728" cy="109728"/>
          </a:xfrm>
          <a:prstGeom prst="ellipse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7970" y="1639062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spc="60">
                <a:solidFill>
                  <a:srgbClr val="002FA7"/>
                </a:solidFill>
                <a:latin typeface="Arial" panose="020B0604020202090204" pitchFamily="34" charset="0"/>
                <a:ea typeface="苹方-简" panose="020B0400000000000000" charset="-122"/>
                <a:cs typeface="Arial" panose="020B0604020202090204" pitchFamily="34" charset="0"/>
              </a:rPr>
              <a:t>18M+</a:t>
            </a:r>
            <a:endParaRPr sz="1600" b="1" i="0" spc="60">
              <a:solidFill>
                <a:srgbClr val="002FA7"/>
              </a:solidFill>
              <a:latin typeface="Arial" panose="020B0604020202090204" pitchFamily="34" charset="0"/>
              <a:ea typeface="苹方-简" panose="020B0400000000000000" charset="-122"/>
              <a:cs typeface="Arial" panose="020B060402020209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94800" y="1926590"/>
            <a:ext cx="21945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单位经济转正</a:t>
            </a:r>
            <a:endParaRPr sz="1600" b="0" i="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81820" y="2318385"/>
            <a:ext cx="1737995" cy="989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BOM 425→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60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LTV/CAC→2.</a:t>
            </a: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51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B 端数据合作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marL="171450" indent="-171450" algn="l">
              <a:lnSpc>
                <a:spcPct val="115000"/>
              </a:lnSpc>
              <a:buFont typeface="Arial" panose="020B0604020202090204" pitchFamily="34" charset="0"/>
              <a:buChar char="•"/>
            </a:pP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付费信息流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投放</a:t>
            </a:r>
            <a:endParaRPr lang="zh-CN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7040" y="4858385"/>
            <a:ext cx="11548872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MVP 阶段预算明细（M0–6，共约 </a:t>
            </a:r>
            <a:r>
              <a:rPr lang="en-US"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1</a:t>
            </a:r>
            <a:r>
              <a:rPr sz="1600" b="1" i="0" spc="8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00 万）</a:t>
            </a:r>
            <a:endParaRPr sz="1600" b="1" i="0" spc="8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7040" y="5188712"/>
            <a:ext cx="11548872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人力 90 万：5 人团队，月均约 15 万，6 个月。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7040" y="5482717"/>
            <a:ext cx="11548872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设备/云 10 万：IWR6843ISK 开发板 ×5、海凌科 LD6002 原型模组 ×10、云端 GPU 实例（训练+推理）、TimescaleDB 云实例。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7040" y="5776722"/>
            <a:ext cx="11548872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M0-3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核心模型已落地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样机验证，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M4-6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内测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5-8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户迭代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48005" y="1477645"/>
            <a:ext cx="5642610" cy="2600325"/>
          </a:xfrm>
          <a:prstGeom prst="roundRect">
            <a:avLst>
              <a:gd name="adj" fmla="val 8720"/>
            </a:avLst>
          </a:prstGeom>
          <a:noFill/>
          <a:ln w="38100">
            <a:solidFill>
              <a:schemeClr val="bg1">
                <a:lumMod val="65000"/>
              </a:schemeClr>
            </a:solidFill>
            <a:prstDash val="sys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FA7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479675" y="1212850"/>
            <a:ext cx="1778635" cy="48387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p>
            <a:pPr algn="ctr"/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天使轮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4" name="TextBox 31"/>
          <p:cNvSpPr txBox="1"/>
          <p:nvPr/>
        </p:nvSpPr>
        <p:spPr>
          <a:xfrm>
            <a:off x="447040" y="6376162"/>
            <a:ext cx="11548872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详见附件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：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家安科技融资执行计划摘要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320040" y="361950"/>
            <a:ext cx="275399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 i="0" spc="15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天使轮融资计划</a:t>
            </a:r>
            <a:endParaRPr lang="zh-CN" sz="1400" b="1" i="0" spc="15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713105"/>
            <a:ext cx="2882900" cy="354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融资计划</a:t>
            </a:r>
            <a:endParaRPr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graphicFrame>
        <p:nvGraphicFramePr>
          <p:cNvPr id="24" name="表格 23"/>
          <p:cNvGraphicFramePr/>
          <p:nvPr>
            <p:custDataLst>
              <p:tags r:id="rId1"/>
            </p:custDataLst>
          </p:nvPr>
        </p:nvGraphicFramePr>
        <p:xfrm>
          <a:off x="314960" y="1369695"/>
          <a:ext cx="3819525" cy="3249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2041525"/>
              </a:tblGrid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项目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详情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轮次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天使轮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融资额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300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万元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周期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个月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出让比例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约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P/S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5-8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倍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本轮投前估值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3000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万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/>
          <p:nvPr>
            <p:custDataLst>
              <p:tags r:id="rId2"/>
            </p:custDataLst>
          </p:nvPr>
        </p:nvGraphicFramePr>
        <p:xfrm>
          <a:off x="314325" y="5129530"/>
          <a:ext cx="3820160" cy="849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215"/>
                <a:gridCol w="938530"/>
                <a:gridCol w="898525"/>
                <a:gridCol w="897890"/>
              </a:tblGrid>
              <a:tr h="283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Y3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</a:rPr>
                        <a:t>指标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保守</a:t>
                      </a:r>
                      <a:endParaRPr lang="zh-CN" altLang="en-US" sz="16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600" spc="60">
                          <a:solidFill>
                            <a:srgbClr val="002FA7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中性</a:t>
                      </a:r>
                      <a:endParaRPr lang="zh-CN" sz="1600" spc="60">
                        <a:solidFill>
                          <a:srgbClr val="002FA7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sz="16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乐观</a:t>
                      </a:r>
                      <a:endParaRPr lang="zh-CN" sz="16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83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P/S</a:t>
                      </a:r>
                      <a:endParaRPr lang="en-US" altLang="zh-CN" sz="16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6×</a:t>
                      </a:r>
                      <a:endParaRPr lang="en-US" altLang="en-US" sz="16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spc="60">
                          <a:solidFill>
                            <a:srgbClr val="002FA7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8×</a:t>
                      </a:r>
                      <a:endParaRPr lang="en-US" altLang="en-US" sz="1600" spc="60">
                        <a:solidFill>
                          <a:srgbClr val="002FA7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en-US" sz="16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10×</a:t>
                      </a:r>
                      <a:endParaRPr lang="en-US" altLang="en-US" sz="16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2832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投后估值</a:t>
                      </a:r>
                      <a:endParaRPr lang="zh-CN" altLang="en-US" sz="16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3,911</a:t>
                      </a:r>
                      <a:endParaRPr lang="en-US" altLang="zh-CN" sz="16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spc="60">
                          <a:solidFill>
                            <a:srgbClr val="002FA7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5,215</a:t>
                      </a:r>
                      <a:endParaRPr lang="en-US" altLang="zh-CN" sz="1600" spc="60">
                        <a:solidFill>
                          <a:srgbClr val="002FA7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 spc="60">
                          <a:solidFill>
                            <a:schemeClr val="tx1"/>
                          </a:solidFill>
                          <a:latin typeface="PingFang SC Regular" panose="020B0400000000000000" charset="-122"/>
                          <a:ea typeface="PingFang SC Regular" panose="020B0400000000000000" charset="-122"/>
                          <a:sym typeface="+mn-ea"/>
                        </a:rPr>
                        <a:t>6,519</a:t>
                      </a:r>
                      <a:endParaRPr lang="en-US" altLang="zh-CN" sz="1600" spc="60">
                        <a:solidFill>
                          <a:schemeClr val="tx1"/>
                        </a:solidFill>
                        <a:latin typeface="PingFang SC Regular" panose="020B0400000000000000" charset="-122"/>
                        <a:ea typeface="PingFang SC Regular" panose="020B0400000000000000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</a:tr>
            </a:tbl>
          </a:graphicData>
        </a:graphic>
      </p:graphicFrame>
      <p:sp>
        <p:nvSpPr>
          <p:cNvPr id="39" name="Rectangle 6"/>
          <p:cNvSpPr/>
          <p:nvPr/>
        </p:nvSpPr>
        <p:spPr>
          <a:xfrm>
            <a:off x="4840605" y="1466215"/>
            <a:ext cx="2992120" cy="1849755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0" name="TextBox 7"/>
          <p:cNvSpPr txBox="1"/>
          <p:nvPr/>
        </p:nvSpPr>
        <p:spPr>
          <a:xfrm>
            <a:off x="4950460" y="1603375"/>
            <a:ext cx="2606040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10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融资额</a:t>
            </a:r>
            <a:endParaRPr sz="1400" b="1" i="0" spc="10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4950460" y="1877695"/>
            <a:ext cx="260604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3</a:t>
            </a:r>
            <a:r>
              <a:rPr sz="24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00 万</a:t>
            </a:r>
            <a:endParaRPr sz="24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2" name="TextBox 9"/>
          <p:cNvSpPr txBox="1"/>
          <p:nvPr/>
        </p:nvSpPr>
        <p:spPr>
          <a:xfrm>
            <a:off x="4950460" y="2262505"/>
            <a:ext cx="2606040" cy="5251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出让约 1</a:t>
            </a:r>
            <a:r>
              <a:rPr 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0</a:t>
            </a: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%
投前估值约 </a:t>
            </a:r>
            <a:r>
              <a:rPr lang="en-US"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30</a:t>
            </a:r>
            <a:r>
              <a:rPr sz="1400" b="0" i="0">
                <a:solidFill>
                  <a:srgbClr val="ECF0FB"/>
                </a:solidFill>
                <a:latin typeface="Arial" panose="020B0604020202090204"/>
                <a:ea typeface="苹方-简" panose="020B0400000000000000" charset="-122"/>
              </a:rPr>
              <a:t>00 万</a:t>
            </a:r>
            <a:endParaRPr sz="1400" b="0" i="0">
              <a:solidFill>
                <a:srgbClr val="ECF0FB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3" name="Rectangle 10"/>
          <p:cNvSpPr/>
          <p:nvPr/>
        </p:nvSpPr>
        <p:spPr>
          <a:xfrm>
            <a:off x="8274685" y="1466215"/>
            <a:ext cx="2992120" cy="1849755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4" name="TextBox 11"/>
          <p:cNvSpPr txBox="1"/>
          <p:nvPr/>
        </p:nvSpPr>
        <p:spPr>
          <a:xfrm>
            <a:off x="8384540" y="1603375"/>
            <a:ext cx="2606040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周期</a:t>
            </a:r>
            <a:endParaRPr lang="zh-CN"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5" name="TextBox 12"/>
          <p:cNvSpPr txBox="1"/>
          <p:nvPr/>
        </p:nvSpPr>
        <p:spPr>
          <a:xfrm>
            <a:off x="8384540" y="1877695"/>
            <a:ext cx="260604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12</a:t>
            </a:r>
            <a:r>
              <a:rPr sz="2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个月</a:t>
            </a:r>
            <a:endParaRPr sz="2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6" name="TextBox 13"/>
          <p:cNvSpPr txBox="1"/>
          <p:nvPr/>
        </p:nvSpPr>
        <p:spPr>
          <a:xfrm>
            <a:off x="8384540" y="2262505"/>
            <a:ext cx="260604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形成硬件原型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软件产品</a:t>
            </a:r>
            <a:endParaRPr lang="zh-CN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算法迭代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数据标定</a:t>
            </a:r>
            <a:r>
              <a:rPr lang="en-US" altLang="zh-CN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 + </a:t>
            </a: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深度学习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启动产品商用</a:t>
            </a:r>
            <a:endParaRPr lang="zh-CN" altLang="en-US"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7" name="Rectangle 14"/>
          <p:cNvSpPr/>
          <p:nvPr/>
        </p:nvSpPr>
        <p:spPr>
          <a:xfrm>
            <a:off x="4840605" y="3542665"/>
            <a:ext cx="2992120" cy="185039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48" name="TextBox 15"/>
          <p:cNvSpPr txBox="1"/>
          <p:nvPr/>
        </p:nvSpPr>
        <p:spPr>
          <a:xfrm>
            <a:off x="4949825" y="3679825"/>
            <a:ext cx="2606040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资金用途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49" name="TextBox 16"/>
          <p:cNvSpPr txBox="1"/>
          <p:nvPr/>
        </p:nvSpPr>
        <p:spPr>
          <a:xfrm>
            <a:off x="4961255" y="4012565"/>
            <a:ext cx="2584450" cy="10502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latin typeface="Arial" panose="020B0604020202090204"/>
                <a:ea typeface="苹方-简" panose="020B0400000000000000" charset="-122"/>
                <a:sym typeface="+mn-ea"/>
              </a:rPr>
              <a:t>研发</a:t>
            </a:r>
            <a:r>
              <a:rPr lang="en-US" sz="1400">
                <a:latin typeface="Arial" panose="020B0604020202090204"/>
                <a:ea typeface="苹方-简" panose="020B0400000000000000" charset="-122"/>
                <a:sym typeface="+mn-ea"/>
              </a:rPr>
              <a:t> </a:t>
            </a:r>
            <a:r>
              <a:rPr sz="1400">
                <a:latin typeface="Arial" panose="020B0604020202090204"/>
                <a:ea typeface="苹方-简" panose="020B0400000000000000" charset="-122"/>
                <a:sym typeface="+mn-ea"/>
              </a:rPr>
              <a:t>/</a:t>
            </a:r>
            <a:r>
              <a:rPr lang="en-US" sz="1400">
                <a:latin typeface="Arial" panose="020B0604020202090204"/>
                <a:ea typeface="苹方-简" panose="020B0400000000000000" charset="-122"/>
                <a:sym typeface="+mn-ea"/>
              </a:rPr>
              <a:t> </a:t>
            </a:r>
            <a:r>
              <a:rPr sz="1400">
                <a:latin typeface="Arial" panose="020B0604020202090204"/>
                <a:ea typeface="苹方-简" panose="020B0400000000000000" charset="-122"/>
                <a:sym typeface="+mn-ea"/>
              </a:rPr>
              <a:t>团队</a:t>
            </a:r>
            <a:r>
              <a:rPr lang="en-US" sz="1400">
                <a:latin typeface="Arial" panose="020B0604020202090204"/>
                <a:ea typeface="苹方-简" panose="020B0400000000000000" charset="-122"/>
                <a:sym typeface="+mn-ea"/>
              </a:rPr>
              <a:t>：180</a:t>
            </a:r>
            <a:r>
              <a:rPr lang="zh-CN" altLang="en-US" sz="1400">
                <a:latin typeface="Arial" panose="020B0604020202090204"/>
                <a:ea typeface="苹方-简" panose="020B0400000000000000" charset="-122"/>
                <a:sym typeface="+mn-ea"/>
              </a:rPr>
              <a:t>万</a:t>
            </a:r>
            <a:r>
              <a:rPr lang="en-US" altLang="zh-CN" sz="1400">
                <a:latin typeface="Arial" panose="020B0604020202090204"/>
                <a:ea typeface="苹方-简" panose="020B0400000000000000" charset="-122"/>
                <a:sym typeface="+mn-ea"/>
              </a:rPr>
              <a:t>，6</a:t>
            </a:r>
            <a:r>
              <a:rPr sz="1400">
                <a:latin typeface="Arial" panose="020B0604020202090204"/>
                <a:ea typeface="苹方-简" panose="020B0400000000000000" charset="-122"/>
                <a:sym typeface="+mn-ea"/>
              </a:rPr>
              <a:t>0%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lang="zh-CN" sz="1400">
                <a:latin typeface="Arial" panose="020B0604020202090204"/>
                <a:ea typeface="苹方-简" panose="020B0400000000000000" charset="-122"/>
                <a:sym typeface="+mn-ea"/>
              </a:rPr>
              <a:t>设备</a:t>
            </a:r>
            <a:r>
              <a:rPr lang="en-US" altLang="zh-CN" sz="1400">
                <a:latin typeface="Arial" panose="020B0604020202090204"/>
                <a:ea typeface="苹方-简" panose="020B0400000000000000" charset="-122"/>
                <a:sym typeface="+mn-ea"/>
              </a:rPr>
              <a:t> </a:t>
            </a:r>
            <a:r>
              <a:rPr sz="1400">
                <a:latin typeface="Arial" panose="020B0604020202090204"/>
                <a:ea typeface="苹方-简" panose="020B0400000000000000" charset="-122"/>
                <a:sym typeface="+mn-ea"/>
              </a:rPr>
              <a:t>/</a:t>
            </a:r>
            <a:r>
              <a:rPr lang="en-US" sz="1400">
                <a:latin typeface="Arial" panose="020B0604020202090204"/>
                <a:ea typeface="苹方-简" panose="020B0400000000000000" charset="-122"/>
                <a:sym typeface="+mn-ea"/>
              </a:rPr>
              <a:t> </a:t>
            </a:r>
            <a:r>
              <a:rPr lang="zh-CN" sz="1400">
                <a:latin typeface="Arial" panose="020B0604020202090204"/>
                <a:ea typeface="苹方-简" panose="020B0400000000000000" charset="-122"/>
                <a:sym typeface="+mn-ea"/>
              </a:rPr>
              <a:t>云服务</a:t>
            </a:r>
            <a:r>
              <a:rPr lang="en-US" sz="1400">
                <a:latin typeface="Arial" panose="020B0604020202090204"/>
                <a:ea typeface="苹方-简" panose="020B0400000000000000" charset="-122"/>
                <a:sym typeface="+mn-ea"/>
              </a:rPr>
              <a:t>：45</a:t>
            </a:r>
            <a:r>
              <a:rPr lang="zh-CN" altLang="en-US" sz="1400">
                <a:latin typeface="Arial" panose="020B0604020202090204"/>
                <a:ea typeface="苹方-简" panose="020B0400000000000000" charset="-122"/>
                <a:sym typeface="+mn-ea"/>
              </a:rPr>
              <a:t>万</a:t>
            </a:r>
            <a:r>
              <a:rPr lang="en-US" altLang="zh-CN" sz="1400">
                <a:latin typeface="Arial" panose="020B0604020202090204"/>
                <a:ea typeface="苹方-简" panose="020B0400000000000000" charset="-122"/>
                <a:sym typeface="+mn-ea"/>
              </a:rPr>
              <a:t>，15</a:t>
            </a:r>
            <a:r>
              <a:rPr sz="1400">
                <a:latin typeface="Arial" panose="020B0604020202090204"/>
                <a:ea typeface="苹方-简" panose="020B0400000000000000" charset="-122"/>
                <a:sym typeface="+mn-ea"/>
              </a:rPr>
              <a:t>%
获客</a:t>
            </a:r>
            <a:r>
              <a:rPr lang="en-US" sz="1400">
                <a:latin typeface="Arial" panose="020B0604020202090204"/>
                <a:ea typeface="苹方-简" panose="020B0400000000000000" charset="-122"/>
                <a:sym typeface="+mn-ea"/>
              </a:rPr>
              <a:t> / </a:t>
            </a:r>
            <a:r>
              <a:rPr lang="zh-CN" altLang="en-US" sz="1400">
                <a:latin typeface="Arial" panose="020B0604020202090204"/>
                <a:ea typeface="苹方-简" panose="020B0400000000000000" charset="-122"/>
                <a:sym typeface="+mn-ea"/>
              </a:rPr>
              <a:t>运营</a:t>
            </a:r>
            <a:r>
              <a:rPr lang="en-US" sz="1400">
                <a:latin typeface="Arial" panose="020B0604020202090204"/>
                <a:ea typeface="苹方-简" panose="020B0400000000000000" charset="-122"/>
                <a:sym typeface="+mn-ea"/>
              </a:rPr>
              <a:t>：45</a:t>
            </a:r>
            <a:r>
              <a:rPr lang="zh-CN" altLang="en-US" sz="1400">
                <a:latin typeface="Arial" panose="020B0604020202090204"/>
                <a:ea typeface="苹方-简" panose="020B0400000000000000" charset="-122"/>
                <a:sym typeface="+mn-ea"/>
              </a:rPr>
              <a:t>万</a:t>
            </a:r>
            <a:r>
              <a:rPr lang="en-US" altLang="zh-CN" sz="1400">
                <a:latin typeface="Arial" panose="020B0604020202090204"/>
                <a:ea typeface="苹方-简" panose="020B0400000000000000" charset="-122"/>
                <a:sym typeface="+mn-ea"/>
              </a:rPr>
              <a:t>，15</a:t>
            </a:r>
            <a:r>
              <a:rPr sz="1400">
                <a:latin typeface="Arial" panose="020B0604020202090204"/>
                <a:ea typeface="苹方-简" panose="020B0400000000000000" charset="-122"/>
                <a:sym typeface="+mn-ea"/>
              </a:rPr>
              <a:t>%
</a:t>
            </a:r>
            <a:r>
              <a:rPr lang="zh-CN" sz="1400">
                <a:latin typeface="Arial" panose="020B0604020202090204"/>
                <a:ea typeface="苹方-简" panose="020B0400000000000000" charset="-122"/>
                <a:sym typeface="+mn-ea"/>
              </a:rPr>
              <a:t>行政</a:t>
            </a:r>
            <a:r>
              <a:rPr lang="en-US" sz="1400">
                <a:latin typeface="Arial" panose="020B0604020202090204"/>
                <a:ea typeface="苹方-简" panose="020B0400000000000000" charset="-122"/>
                <a:sym typeface="+mn-ea"/>
              </a:rPr>
              <a:t> / </a:t>
            </a:r>
            <a:r>
              <a:rPr sz="1400">
                <a:latin typeface="Arial" panose="020B0604020202090204"/>
                <a:ea typeface="苹方-简" panose="020B0400000000000000" charset="-122"/>
                <a:sym typeface="+mn-ea"/>
              </a:rPr>
              <a:t>其他</a:t>
            </a:r>
            <a:r>
              <a:rPr lang="en-US" sz="1400">
                <a:latin typeface="Arial" panose="020B0604020202090204"/>
                <a:ea typeface="苹方-简" panose="020B0400000000000000" charset="-122"/>
                <a:sym typeface="+mn-ea"/>
              </a:rPr>
              <a:t>：30</a:t>
            </a:r>
            <a:r>
              <a:rPr lang="zh-CN" altLang="en-US" sz="1400">
                <a:latin typeface="Arial" panose="020B0604020202090204"/>
                <a:ea typeface="苹方-简" panose="020B0400000000000000" charset="-122"/>
                <a:sym typeface="+mn-ea"/>
              </a:rPr>
              <a:t>万</a:t>
            </a:r>
            <a:r>
              <a:rPr lang="en-US" altLang="zh-CN" sz="1400">
                <a:latin typeface="Arial" panose="020B0604020202090204"/>
                <a:ea typeface="苹方-简" panose="020B0400000000000000" charset="-122"/>
                <a:sym typeface="+mn-ea"/>
              </a:rPr>
              <a:t>，</a:t>
            </a:r>
            <a:r>
              <a:rPr sz="1400">
                <a:latin typeface="Arial" panose="020B0604020202090204"/>
                <a:ea typeface="苹方-简" panose="020B0400000000000000" charset="-122"/>
                <a:sym typeface="+mn-ea"/>
              </a:rPr>
              <a:t>10%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  <a:sym typeface="+mn-ea"/>
            </a:endParaRPr>
          </a:p>
        </p:txBody>
      </p:sp>
      <p:sp>
        <p:nvSpPr>
          <p:cNvPr id="50" name="Rectangle 17"/>
          <p:cNvSpPr/>
          <p:nvPr/>
        </p:nvSpPr>
        <p:spPr>
          <a:xfrm>
            <a:off x="8274685" y="3536950"/>
            <a:ext cx="2992120" cy="185039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</a:endParaRPr>
          </a:p>
        </p:txBody>
      </p:sp>
      <p:sp>
        <p:nvSpPr>
          <p:cNvPr id="51" name="TextBox 18"/>
          <p:cNvSpPr txBox="1"/>
          <p:nvPr/>
        </p:nvSpPr>
        <p:spPr>
          <a:xfrm>
            <a:off x="8384540" y="3674110"/>
            <a:ext cx="2606040" cy="202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10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关键里程碑</a:t>
            </a:r>
            <a:endParaRPr sz="1400" b="1" i="0" spc="10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52" name="TextBox 19"/>
          <p:cNvSpPr txBox="1"/>
          <p:nvPr/>
        </p:nvSpPr>
        <p:spPr>
          <a:xfrm>
            <a:off x="8372475" y="4028440"/>
            <a:ext cx="2606040" cy="10502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1</a:t>
            </a: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,000 户装机
误报 &lt;2 次/周/户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chemeClr val="tx1"/>
                </a:solidFill>
                <a:latin typeface="Arial" panose="020B0604020202090204"/>
                <a:ea typeface="苹方-简" panose="020B0400000000000000" charset="-122"/>
              </a:rPr>
              <a:t>启动 A 轮</a:t>
            </a:r>
            <a:endParaRPr sz="1400" b="0" i="0">
              <a:solidFill>
                <a:schemeClr val="tx1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45720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12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Vision · 愿景</a:t>
            </a:r>
            <a:endParaRPr sz="1400" b="0" i="0" spc="12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303520" cy="1196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3600" b="0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做居家养老的</a:t>
            </a:r>
            <a:endParaRPr sz="3600" b="0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  <a:p>
            <a:pPr>
              <a:lnSpc>
                <a:spcPct val="108000"/>
              </a:lnSpc>
            </a:pPr>
            <a:r>
              <a:rPr sz="3600" b="0" i="1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健康基础设施</a:t>
            </a:r>
            <a:endParaRPr sz="3600" b="0" i="1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2971800"/>
            <a:ext cx="5303520" cy="1429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400" b="0" i="0">
                <a:solidFill>
                  <a:srgbClr val="DDE4F5"/>
                </a:solidFill>
                <a:latin typeface="Arial" panose="020B0604020202090204"/>
                <a:ea typeface="苹方-简" panose="020B0400000000000000" charset="-122"/>
              </a:rPr>
              <a:t>中国进入深度老龄化，未来二十年数以亿计的老人在家养老。他们的健康对子女、对医疗养老体系长期是盲区。</a:t>
            </a:r>
            <a:r>
              <a:rPr lang="zh-CN" altLang="en-US" sz="1400" dirty="0">
                <a:solidFill>
                  <a:srgbClr val="E0E4E6"/>
                </a:solidFill>
                <a:latin typeface="Barlow" panose="00000500000000000000" pitchFamily="34" charset="0"/>
                <a:ea typeface="Barlow" panose="00000500000000000000" pitchFamily="34" charset="-122"/>
                <a:cs typeface="Barlow" panose="00000500000000000000" pitchFamily="34" charset="-120"/>
                <a:sym typeface="+mn-ea"/>
              </a:rPr>
              <a:t>家安科技 HOUSAFE 以成为中国智慧居家养老领域的引领者为目标，通过持续技术创新与市场扩展，为中国老龄社会提供一流的健康安全解决方案，帮助更多家庭实现安心、便利的养老生活。</a:t>
            </a:r>
            <a:endParaRPr sz="1400" b="0" i="0">
              <a:solidFill>
                <a:srgbClr val="DDE4F5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53035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家安 housafe · 天使轮 </a:t>
            </a:r>
            <a:r>
              <a:rPr lang="en-US" sz="1400"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3</a:t>
            </a:r>
            <a:r>
              <a:rPr sz="1400" b="1" i="0">
                <a:solidFill>
                  <a:srgbClr val="FFFFFF"/>
                </a:solidFill>
                <a:latin typeface="Arial" panose="020B0604020202090204"/>
                <a:ea typeface="苹方-简" panose="020B0400000000000000" charset="-122"/>
              </a:rPr>
              <a:t>00 万</a:t>
            </a:r>
            <a:endParaRPr sz="1400" b="1" i="0">
              <a:solidFill>
                <a:srgbClr val="FFFFFF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20">
                <a:solidFill>
                  <a:srgbClr val="737373"/>
                </a:solidFill>
                <a:latin typeface="Arial" panose="020B0604020202090204"/>
                <a:ea typeface="苹方-简" panose="020B0400000000000000" charset="-122"/>
              </a:rPr>
              <a:t>TAKEAWAYS</a:t>
            </a:r>
            <a:endParaRPr sz="850" b="0" i="0" spc="120">
              <a:solidFill>
                <a:srgbClr val="73737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890270"/>
            <a:ext cx="5029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01</a:t>
            </a:r>
            <a:endParaRPr sz="16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1177290"/>
            <a:ext cx="50292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切入点足够痛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1623060"/>
            <a:ext cx="5029200" cy="786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2.2 亿老人、跌倒首位死因、现有方案失效。独居老人背后的异地子女是一个被忽视的付费群体</a:t>
            </a:r>
            <a:r>
              <a:rPr lang="en-US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，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有支付意愿，缺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少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真正能用的产品。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0" y="2647188"/>
            <a:ext cx="5029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02</a:t>
            </a:r>
            <a:endParaRPr sz="16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934208"/>
            <a:ext cx="50292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壁垒足够深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3345688"/>
            <a:ext cx="5029200" cy="52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ELPD 世界模型 + 自研 Encoder + 数据飞轮。架构代际差异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、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跨学科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壁垒、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时间复利效应三重叠加，</a:t>
            </a:r>
            <a:r>
              <a:rPr lang="zh-CN"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实现竞争优势</a:t>
            </a: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4429506"/>
            <a:ext cx="5029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002FA7"/>
                </a:solidFill>
                <a:latin typeface="Arial" panose="020B0604020202090204"/>
                <a:ea typeface="苹方-简" panose="020B0400000000000000" charset="-122"/>
              </a:rPr>
              <a:t>03</a:t>
            </a:r>
            <a:endParaRPr sz="1600" b="1" i="0" spc="100">
              <a:solidFill>
                <a:srgbClr val="002FA7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4716526"/>
            <a:ext cx="50292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A0A0A"/>
                </a:solidFill>
                <a:latin typeface="Arial" panose="020B0604020202090204"/>
                <a:ea typeface="苹方-简" panose="020B0400000000000000" charset="-122"/>
              </a:rPr>
              <a:t>路径足够清</a:t>
            </a:r>
            <a:endParaRPr sz="2400" b="0" i="0">
              <a:solidFill>
                <a:srgbClr val="0A0A0A"/>
              </a:solidFill>
              <a:latin typeface="Arial" panose="020B0604020202090204"/>
              <a:ea typeface="苹方-简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5162296"/>
            <a:ext cx="5029200" cy="52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333333"/>
                </a:solidFill>
                <a:latin typeface="Arial" panose="020B0604020202090204"/>
                <a:ea typeface="苹方-简" panose="020B0400000000000000" charset="-122"/>
              </a:rPr>
              <a:t>买断获客（硬件微利建规模）→ 降本转正（国产 SoC 抬毛利）→ 数据变现（B 端健康数据服务）。三步自洽，拐点明确。</a:t>
            </a:r>
            <a:endParaRPr sz="1400" b="0" i="0">
              <a:solidFill>
                <a:srgbClr val="333333"/>
              </a:solidFill>
              <a:latin typeface="Arial" panose="020B0604020202090204"/>
              <a:ea typeface="苹方-简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36*233"/>
  <p:tag name="TABLE_ENDDRAG_RECT" val="599*102*336*233"/>
</p:tagLst>
</file>

<file path=ppt/tags/tag2.xml><?xml version="1.0" encoding="utf-8"?>
<p:tagLst xmlns:p="http://schemas.openxmlformats.org/presentationml/2006/main">
  <p:tag name="TABLE_ENDDRAG_ORIGIN_RECT" val="839*171"/>
  <p:tag name="TABLE_ENDDRAG_RECT" val="60*313*839*171"/>
</p:tagLst>
</file>

<file path=ppt/tags/tag3.xml><?xml version="1.0" encoding="utf-8"?>
<p:tagLst xmlns:p="http://schemas.openxmlformats.org/presentationml/2006/main">
  <p:tag name="TABLE_ENDDRAG_ORIGIN_RECT" val="300*255"/>
  <p:tag name="TABLE_ENDDRAG_RECT" val="23*115*300*255"/>
</p:tagLst>
</file>

<file path=ppt/tags/tag4.xml><?xml version="1.0" encoding="utf-8"?>
<p:tagLst xmlns:p="http://schemas.openxmlformats.org/presentationml/2006/main">
  <p:tag name="TABLE_ENDDRAG_ORIGIN_RECT" val="300*66"/>
  <p:tag name="TABLE_ENDDRAG_RECT" val="23*305*300*6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Helvetica Neue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苹方-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8473</Words>
  <Application>WPS 文字</Application>
  <PresentationFormat>On-screen Show (4:3)</PresentationFormat>
  <Paragraphs>819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Helvetica Neue</vt:lpstr>
      <vt:lpstr>Arial</vt:lpstr>
      <vt:lpstr>苹方-简</vt:lpstr>
      <vt:lpstr>Thonburi</vt:lpstr>
      <vt:lpstr>DejaVu Math TeX Gyre</vt:lpstr>
      <vt:lpstr>PingFang SC Semibold</vt:lpstr>
      <vt:lpstr>PingFang SC Regular</vt:lpstr>
      <vt:lpstr>微软雅黑</vt:lpstr>
      <vt:lpstr>宋体</vt:lpstr>
      <vt:lpstr>Arial Unicode MS</vt:lpstr>
      <vt:lpstr>Barlow</vt:lpstr>
      <vt:lpstr>Barlow</vt:lpstr>
      <vt:lpstr>Barlow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高宇驰</cp:lastModifiedBy>
  <cp:revision>111</cp:revision>
  <dcterms:created xsi:type="dcterms:W3CDTF">2026-08-07T03:52:15Z</dcterms:created>
  <dcterms:modified xsi:type="dcterms:W3CDTF">2026-08-07T03:52:15Z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853CA511A55539759943626AE6C2F83B_43</vt:lpwstr>
  </property>
</Properties>
</file>