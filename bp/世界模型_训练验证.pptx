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 spc="120">
                <a:solidFill>
                  <a:srgbClr val="AAAAAA"/>
                </a:solidFill>
                <a:latin typeface="Arial"/>
                <a:ea typeface="微软雅黑"/>
              </a:rPr>
              <a:t>家安 housafe · 世界模型训练验证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29184"/>
            <a:ext cx="3913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 spc="120">
                <a:solidFill>
                  <a:srgbClr val="AAAAAA"/>
                </a:solidFill>
                <a:latin typeface="Arial"/>
                <a:ea typeface="微软雅黑"/>
              </a:rPr>
              <a:t>TRAINING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85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5B7BFF"/>
                </a:solidFill>
                <a:latin typeface="Arial"/>
                <a:ea typeface="微软雅黑"/>
              </a:rPr>
              <a:t>PROOF OF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6949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FFFFFF"/>
                </a:solidFill>
                <a:latin typeface="Arial"/>
                <a:ea typeface="微软雅黑"/>
              </a:rPr>
              <a:t>世界模型 — 小样本即能用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CCCCC"/>
                </a:solidFill>
                <a:latin typeface="Arial"/>
                <a:ea typeface="微软雅黑"/>
              </a:rPr>
              <a:t>仅需 7 人采集数据即可建立高精度人体状态模型，单用户冷启动 &lt; 14 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29968"/>
            <a:ext cx="1298448" cy="804672"/>
          </a:xfrm>
          <a:prstGeom prst="rect">
            <a:avLst/>
          </a:prstGeom>
          <a:solidFill>
            <a:srgbClr val="151515"/>
          </a:solidFill>
          <a:ln w="1524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11155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CCCCCC"/>
                </a:solidFill>
                <a:latin typeface="Arial"/>
                <a:ea typeface="微软雅黑"/>
              </a:rPr>
              <a:t>毫米波点云
稀疏 10-50 点/帧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19656" y="2322576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7BFF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029968"/>
            <a:ext cx="1298448" cy="804672"/>
          </a:xfrm>
          <a:prstGeom prst="rect">
            <a:avLst/>
          </a:prstGeom>
          <a:solidFill>
            <a:srgbClr val="002FA7"/>
          </a:solidFill>
          <a:ln w="15240">
            <a:solidFill>
              <a:srgbClr val="5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121408"/>
            <a:ext cx="11155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FFFFFF"/>
                </a:solidFill>
                <a:latin typeface="Arial"/>
                <a:ea typeface="微软雅黑"/>
              </a:rPr>
              <a:t>Encoder
PointNet++
+ TCN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322576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7BFF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39" y="2029968"/>
            <a:ext cx="1298448" cy="804672"/>
          </a:xfrm>
          <a:prstGeom prst="rect">
            <a:avLst/>
          </a:prstGeom>
          <a:solidFill>
            <a:srgbClr val="151515"/>
          </a:solidFill>
          <a:ln w="1524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2121408"/>
            <a:ext cx="11155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CCCCCC"/>
                </a:solidFill>
                <a:latin typeface="Arial"/>
                <a:ea typeface="微软雅黑"/>
              </a:rPr>
              <a:t>隐状态 S_t
256-d 向量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5" y="2322576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7BFF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029968"/>
            <a:ext cx="1298448" cy="804672"/>
          </a:xfrm>
          <a:prstGeom prst="rect">
            <a:avLst/>
          </a:prstGeom>
          <a:solidFill>
            <a:srgbClr val="002FA7"/>
          </a:solidFill>
          <a:ln w="15240">
            <a:solidFill>
              <a:srgbClr val="5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121408"/>
            <a:ext cx="11155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FFFFFF"/>
                </a:solidFill>
                <a:latin typeface="Arial"/>
                <a:ea typeface="微软雅黑"/>
              </a:rPr>
              <a:t>Predictor
Causal TF
预测 Ŝ_{t+1}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322576"/>
            <a:ext cx="182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5B7BFF"/>
                </a:solidFill>
                <a:latin typeface="Arial"/>
                <a:ea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2029968"/>
            <a:ext cx="1298448" cy="804672"/>
          </a:xfrm>
          <a:prstGeom prst="rect">
            <a:avLst/>
          </a:prstGeom>
          <a:solidFill>
            <a:srgbClr val="151515"/>
          </a:solidFill>
          <a:ln w="1524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2121408"/>
            <a:ext cx="111556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800" b="0" i="0">
                <a:solidFill>
                  <a:srgbClr val="CCCCCC"/>
                </a:solidFill>
                <a:latin typeface="Arial"/>
                <a:ea typeface="微软雅黑"/>
              </a:rPr>
              <a:t>预测偏差
Ŝ ≠ S → 异常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063240"/>
            <a:ext cx="1609344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20040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5B7BFF"/>
                </a:solidFill>
                <a:latin typeface="Arial"/>
                <a:ea typeface="微软雅黑"/>
              </a:rPr>
              <a:t>H1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3447288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  <a:latin typeface="Arial"/>
                <a:ea typeface="微软雅黑"/>
              </a:rPr>
              <a:t>可编码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3721608"/>
            <a:ext cx="1389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微软雅黑"/>
              </a:rPr>
              <a:t>≥ 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270248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999999"/>
                </a:solidFill>
                <a:latin typeface="Arial"/>
                <a:ea typeface="微软雅黑"/>
              </a:rPr>
              <a:t>线性分类
12 动作准确率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" y="46634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" y="4754880"/>
            <a:ext cx="13898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888888"/>
                </a:solidFill>
                <a:latin typeface="Arial"/>
                <a:ea typeface="微软雅黑"/>
              </a:rPr>
              <a:t>点云稀疏≠信息不够
——雷达能"看懂"
人在干什么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21991" y="3063240"/>
            <a:ext cx="1609344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20040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5B7BFF"/>
                </a:solidFill>
                <a:latin typeface="Arial"/>
                <a:ea typeface="微软雅黑"/>
              </a:rPr>
              <a:t>H2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3447288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  <a:latin typeface="Arial"/>
                <a:ea typeface="微软雅黑"/>
              </a:rPr>
              <a:t>连续性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3721608"/>
            <a:ext cx="1389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微软雅黑"/>
              </a:rPr>
              <a:t>≥ 0.85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4270248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999999"/>
                </a:solidFill>
                <a:latin typeface="Arial"/>
                <a:ea typeface="微软雅黑"/>
              </a:rPr>
              <a:t>过渡帧
余弦相似度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46634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331720" y="4754880"/>
            <a:ext cx="13898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888888"/>
                </a:solidFill>
                <a:latin typeface="Arial"/>
                <a:ea typeface="微软雅黑"/>
              </a:rPr>
              <a:t>"站→坐"是连续渐变
隐空间像物理空间
一样平滑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41063" y="3063240"/>
            <a:ext cx="1609344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50791" y="320040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5B7BFF"/>
                </a:solidFill>
                <a:latin typeface="Arial"/>
                <a:ea typeface="微软雅黑"/>
              </a:rPr>
              <a:t>H3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0791" y="3447288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DDDDDD"/>
                </a:solidFill>
                <a:latin typeface="Arial"/>
                <a:ea typeface="微软雅黑"/>
              </a:rPr>
              <a:t>可预测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0791" y="3721608"/>
            <a:ext cx="1389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微软雅黑"/>
              </a:rPr>
              <a:t>30%+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0791" y="4270248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999999"/>
                </a:solidFill>
                <a:latin typeface="Arial"/>
                <a:ea typeface="微软雅黑"/>
              </a:rPr>
              <a:t>预测精度
vs"不变"基线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50791" y="4663440"/>
            <a:ext cx="1389888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50791" y="4754880"/>
            <a:ext cx="13898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888888"/>
                </a:solidFill>
                <a:latin typeface="Arial"/>
                <a:ea typeface="微软雅黑"/>
              </a:rPr>
              <a:t>系统能预测老人
下一步状态——预测
错了才知道出事了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0136" y="3063240"/>
            <a:ext cx="1609344" cy="2331720"/>
          </a:xfrm>
          <a:prstGeom prst="rect">
            <a:avLst/>
          </a:prstGeom>
          <a:solidFill>
            <a:srgbClr val="002FA7"/>
          </a:solidFill>
          <a:ln w="12700">
            <a:solidFill>
              <a:srgbClr val="5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9864" y="3200400"/>
            <a:ext cx="13898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0">
                <a:solidFill>
                  <a:srgbClr val="FFFFFF"/>
                </a:solidFill>
                <a:latin typeface="Arial"/>
                <a:ea typeface="微软雅黑"/>
              </a:rPr>
              <a:t>H4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9864" y="3447288"/>
            <a:ext cx="138988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  <a:ea typeface="微软雅黑"/>
              </a:rPr>
              <a:t>异常检测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9864" y="3721608"/>
            <a:ext cx="13898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  <a:ea typeface="微软雅黑"/>
              </a:rPr>
              <a:t>≥ 0.90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9864" y="4270248"/>
            <a:ext cx="13898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AABBDD"/>
                </a:solidFill>
                <a:latin typeface="Arial"/>
                <a:ea typeface="微软雅黑"/>
              </a:rPr>
              <a:t>跌倒 vs 正常
AUC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769864" y="4663440"/>
            <a:ext cx="1389888" cy="0"/>
          </a:xfrm>
          <a:prstGeom prst="bentConnector3">
            <a:avLst/>
          </a:prstGeom>
          <a:ln w="6350">
            <a:solidFill>
              <a:srgbClr val="5575B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69864" y="4754880"/>
            <a:ext cx="138988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C8D8F0"/>
                </a:solidFill>
                <a:latin typeface="Arial"/>
                <a:ea typeface="微软雅黑"/>
              </a:rPr>
              <a:t>从未见过跌倒
但能发现"这不像
正常行为"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0136" y="5440680"/>
            <a:ext cx="16093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 spc="80">
                <a:solidFill>
                  <a:srgbClr val="5B7BFF"/>
                </a:solidFill>
                <a:latin typeface="Arial"/>
                <a:ea typeface="微软雅黑"/>
              </a:rPr>
              <a:t>★ 最终判决假设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5577840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999999"/>
                </a:solidFill>
                <a:latin typeface="Arial"/>
                <a:ea typeface="微软雅黑"/>
              </a:rPr>
              <a:t>只在正常动作上训练，从未见过跌倒——但跌倒发生时，Predictor 预测误差显著高于正常（t-test p &lt; 0.01，effect size &gt; 2×）。这证明了"预测偏差 = 异常"机制成立。规则引擎靠"写死跌倒长什么样"来检测，世界模型靠"发现不对劲"——后者能捕获规则没写过的危险模式。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7863840" y="1005840"/>
            <a:ext cx="3840480" cy="0"/>
          </a:xfrm>
          <a:prstGeom prst="bentConnector3">
            <a:avLst/>
          </a:prstGeom>
          <a:ln w="1270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863840" y="10972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00">
                <a:solidFill>
                  <a:srgbClr val="FFFFFF"/>
                </a:solidFill>
                <a:latin typeface="Arial"/>
                <a:ea typeface="微软雅黑"/>
              </a:rPr>
              <a:t>数据效率对比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63840" y="1325880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999999"/>
                </a:solidFill>
                <a:latin typeface="Arial"/>
                <a:ea typeface="微软雅黑"/>
              </a:rPr>
              <a:t>家安世界模型 vs 典型大模型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1691640"/>
            <a:ext cx="1188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888888"/>
                </a:solidFill>
                <a:latin typeface="Arial"/>
                <a:ea typeface="微软雅黑"/>
              </a:rPr>
              <a:t>维度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8280" y="1691640"/>
            <a:ext cx="1097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80">
                <a:solidFill>
                  <a:srgbClr val="5B7BFF"/>
                </a:solidFill>
                <a:latin typeface="Arial"/>
                <a:ea typeface="微软雅黑"/>
              </a:rPr>
              <a:t>家安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0" y="1691640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80">
                <a:solidFill>
                  <a:srgbClr val="888888"/>
                </a:solidFill>
                <a:latin typeface="Arial"/>
                <a:ea typeface="微软雅黑"/>
              </a:rPr>
              <a:t>典型大模型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863840" y="1947672"/>
            <a:ext cx="3840480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818119" y="2020824"/>
            <a:ext cx="3931920" cy="34747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63840" y="203911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训练样本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203911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44 万帧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20391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百万～亿级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63840" y="242316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被试数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98280" y="24231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7 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24231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千～万人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19" y="2788920"/>
            <a:ext cx="3931920" cy="34747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280720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冷启动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280720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&lt; 14 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28072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不可用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31912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模型大小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319125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&lt; 30MB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41280" y="3191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GB 级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19" y="3557016"/>
            <a:ext cx="3931920" cy="34747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0" y="357530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推理硬件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8280" y="357530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CPU &lt; 100ms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35753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GPU 集群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63840" y="39593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增量学习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98280" y="39593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自监督，每天变准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241280" y="39593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需重新训练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818119" y="4325112"/>
            <a:ext cx="3931920" cy="34747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0" y="43434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BBBBBB"/>
                </a:solidFill>
                <a:latin typeface="Arial"/>
                <a:ea typeface="微软雅黑"/>
              </a:rPr>
              <a:t>个人基线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98280" y="43434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微软雅黑"/>
              </a:rPr>
              <a:t>14 天建立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43434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77777"/>
                </a:solidFill>
                <a:latin typeface="Arial"/>
                <a:ea typeface="微软雅黑"/>
              </a:rPr>
              <a:t>不支持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863840" y="4800600"/>
            <a:ext cx="3840480" cy="0"/>
          </a:xfrm>
          <a:prstGeom prst="bentConnector3">
            <a:avLst/>
          </a:prstGeom>
          <a:ln w="6350">
            <a:solidFill>
              <a:srgbClr val="44444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863840" y="4892040"/>
            <a:ext cx="3840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888888"/>
                </a:solidFill>
                <a:latin typeface="Arial"/>
                <a:ea typeface="微软雅黑"/>
              </a:rPr>
              <a:t>毫米波点云维度极低（10–50 点/帧 vs 视觉的数万像素），信息密度反而更高——每帧已经是物理空间的稀疏摘要。加上自监督对比学习，每个正常帧都是免费标签。
不是"数据少所以模型弱"，是"数据结构简单所以不需要大数据"。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" y="5669280"/>
            <a:ext cx="11183112" cy="59436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4088" y="5742432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世界模型路线成立。</a:t>
            </a:r>
            <a:r>
              <a:rPr sz="850" b="0" i="0">
                <a:solidFill>
                  <a:srgbClr val="D5DDF2"/>
                </a:solidFill>
                <a:latin typeface="Arial"/>
                <a:ea typeface="微软雅黑"/>
              </a:rPr>
              <a:t>"预测偏差 = 异常"机制在公开数据集上验证通过——系统从正常行为中学出"什么是正常"，识别未见过的危险。Encoder + Predictor &lt; 30MB，ONNX 导出，CPU 推理 &lt; 100ms——实时运行在云端，无需 GPU。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6382512"/>
            <a:ext cx="111831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666666"/>
                </a:solidFill>
                <a:latin typeface="Arial"/>
                <a:ea typeface="微软雅黑"/>
              </a:rPr>
              <a:t>数据集：mmWave-3DPCHM-1.0（TI IWR1443-ISK + Vayyar vBlu，实验室环境）· 留一法 7 折交叉验证取均值 · 以上精度为学术验证结果，非产品实测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