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8"/>
    <a:srgbClr val="F9FCFC"/>
    <a:srgbClr val="002F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0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家安 housafe · 商业计划书</a:t>
            </a:r>
            <a:endParaRPr sz="160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2026 · 01 / 15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874519"/>
            <a:ext cx="82296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150">
                <a:solidFill>
                  <a:srgbClr val="FFFFFF"/>
                </a:solidFill>
                <a:latin typeface="Arial" panose="020B0604020202090204"/>
                <a:ea typeface="微软雅黑"/>
              </a:rPr>
              <a:t>HOUSAFE · 居家养老 AI 健康守护</a:t>
            </a:r>
            <a:endParaRPr sz="1400" b="1" i="0" spc="15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10972800" cy="159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48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让每</a:t>
            </a:r>
            <a:r>
              <a:rPr lang="zh-CN" sz="48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一位独居老</a:t>
            </a:r>
            <a:r>
              <a:rPr sz="48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人，</a:t>
            </a:r>
            <a:endParaRPr sz="48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  <a:p>
            <a:pPr>
              <a:lnSpc>
                <a:spcPct val="108000"/>
              </a:lnSpc>
            </a:pPr>
            <a:r>
              <a:rPr sz="4800" b="0" i="1">
                <a:solidFill>
                  <a:srgbClr val="FFFFFF"/>
                </a:solidFill>
                <a:latin typeface="Arial" panose="020B0604020202090204"/>
                <a:ea typeface="微软雅黑"/>
              </a:rPr>
              <a:t>被持续看见</a:t>
            </a:r>
            <a:endParaRPr sz="4800" b="0" i="1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02920" y="4800600"/>
            <a:ext cx="11183112" cy="0"/>
          </a:xfrm>
          <a:prstGeom prst="bentConnector3">
            <a:avLst/>
          </a:prstGeom>
          <a:ln w="12700">
            <a:solidFill>
              <a:srgbClr val="6E8A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4983480"/>
            <a:ext cx="10515600" cy="830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面向异地子女的非接触式 AI 居家健康监测系统。毫米波雷达组网，无感采集老人在家的活动与生命体征，AI 识别异常、分级通知子女——从跌倒监测切入，做居家养老的健康基础设施。</a:t>
            </a:r>
            <a:endParaRPr sz="20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0" y="6309360"/>
            <a:ext cx="4370832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b="0" i="0" spc="120">
                <a:solidFill>
                  <a:srgbClr val="D5DDF2"/>
                </a:solidFill>
                <a:latin typeface="Arial" panose="020B0604020202090204"/>
                <a:ea typeface="微软雅黑"/>
              </a:rPr>
              <a:t>housafe · 2026</a:t>
            </a:r>
            <a:endParaRPr b="0" i="0" spc="120">
              <a:solidFill>
                <a:srgbClr val="D5DDF2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Executive Summary · 机会速览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02 / 15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THE OPPORTUNITY · 一页看懂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1165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7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一页看懂家安 housafe</a:t>
            </a:r>
            <a:endParaRPr sz="27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23697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01 痛点</a:t>
            </a:r>
            <a:endParaRPr sz="1200" b="1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04088" y="2441448"/>
            <a:ext cx="32004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2.2 亿老人的跌倒盲区</a:t>
            </a:r>
            <a:endParaRPr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4088" y="2926080"/>
            <a:ext cx="32004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跌倒是 65+ 伤害死亡首位原因，约 30% 每年至少跌倒一次、年逾 4000 万人；47% 摔倒后无法自行起身，而子女异地。</a:t>
            </a:r>
            <a:endParaRPr sz="14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25112" y="196596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4526279" y="2148840"/>
            <a:ext cx="323697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02 市场</a:t>
            </a:r>
            <a:endParaRPr sz="1200" b="1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26279" y="2441448"/>
            <a:ext cx="32004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万亿级银发经济</a:t>
            </a:r>
            <a:endParaRPr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79" y="2926080"/>
            <a:ext cx="32004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银发经济 2024 约 7 万亿 → 2035 约 </a:t>
            </a:r>
            <a:r>
              <a:rPr sz="1400" b="1" i="0">
                <a:solidFill>
                  <a:srgbClr val="002FA7"/>
                </a:solidFill>
                <a:latin typeface="Arial" panose="020B0604020202090204"/>
                <a:ea typeface="微软雅黑"/>
              </a:rPr>
              <a:t>30 万亿</a:t>
            </a:r>
            <a:r>
              <a:rPr sz="14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；智能养老设备 2025 约 1840 亿、年增约 20%；政策写进国办文件。</a:t>
            </a:r>
            <a:endParaRPr sz="14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47304" y="196596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8348472" y="2148840"/>
            <a:ext cx="323697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03 产品</a:t>
            </a:r>
            <a:endParaRPr sz="1200" b="1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48472" y="2441448"/>
            <a:ext cx="32004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全屋雷达无感组网</a:t>
            </a:r>
            <a:endParaRPr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48472" y="2926080"/>
            <a:ext cx="32004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2–4 个毫米波雷达组网，不穿戴、不操作、无摄像头；AI 识别跌倒/静止/体征异常/模式偏离四类事件。</a:t>
            </a:r>
            <a:endParaRPr sz="14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2920" y="416052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704088" y="4343400"/>
            <a:ext cx="323697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04 壁垒</a:t>
            </a:r>
            <a:endParaRPr sz="1200" b="1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04088" y="4636008"/>
            <a:ext cx="32004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世界模型 + 数据飞轮</a:t>
            </a:r>
            <a:endParaRPr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04088" y="5120640"/>
            <a:ext cx="32004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CN" sz="14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自研</a:t>
            </a:r>
            <a:r>
              <a:rPr sz="14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固件，直接从原始点云自研感知；多雷达聚合全屋画像；个人基线越用越准，形成时间锁。</a:t>
            </a:r>
            <a:endParaRPr sz="14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25112" y="4160520"/>
            <a:ext cx="3602736" cy="199339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4526279" y="4343400"/>
            <a:ext cx="323697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05 模式</a:t>
            </a:r>
            <a:endParaRPr sz="1200" b="1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526279" y="4636008"/>
            <a:ext cx="32004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买断获客 + 订阅盈利</a:t>
            </a:r>
            <a:endParaRPr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26279" y="5120640"/>
            <a:ext cx="320040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硬件 299–799 元一次买断（微利获客），高级健康服务 199 元/年（高毛利）；单位经济随降本从 0.77 转正到 2.19。</a:t>
            </a:r>
            <a:endParaRPr sz="14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147304" y="4160520"/>
            <a:ext cx="3602736" cy="1993392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8348472" y="4343400"/>
            <a:ext cx="3236976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06 融资</a:t>
            </a:r>
            <a:endParaRPr sz="1200" b="1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348472" y="4636008"/>
            <a:ext cx="320040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天使轮</a:t>
            </a:r>
            <a:r>
              <a:rPr b="1" i="0">
                <a:solidFill>
                  <a:srgbClr val="FFFFFF"/>
                </a:solidFill>
                <a:latin typeface="Arial" panose="020B0604020202090204"/>
                <a:ea typeface="微软雅黑"/>
              </a:rPr>
              <a:t> </a:t>
            </a:r>
            <a:r>
              <a:rPr lang="en-US" b="1" i="0">
                <a:solidFill>
                  <a:srgbClr val="FFFFFF"/>
                </a:solidFill>
                <a:latin typeface="Arial" panose="020B0604020202090204"/>
                <a:ea typeface="微软雅黑"/>
              </a:rPr>
              <a:t>3</a:t>
            </a:r>
            <a:r>
              <a:rPr b="1" i="0">
                <a:solidFill>
                  <a:srgbClr val="FFFFFF"/>
                </a:solidFill>
                <a:latin typeface="Arial" panose="020B0604020202090204"/>
                <a:ea typeface="微软雅黑"/>
              </a:rPr>
              <a:t>00 万</a:t>
            </a:r>
            <a:endParaRPr b="1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348472" y="5120640"/>
            <a:ext cx="3200400" cy="55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40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6 </a:t>
            </a:r>
            <a:r>
              <a:rPr sz="140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个月跑道，</a:t>
            </a:r>
            <a:r>
              <a:rPr lang="zh-CN" sz="140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形成样机</a:t>
            </a:r>
            <a:r>
              <a:rPr sz="140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覆盖 MVP 验证</a:t>
            </a:r>
            <a:r>
              <a:rPr lang="zh-CN" sz="140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，实现百级用</a:t>
            </a:r>
            <a:r>
              <a:rPr sz="140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户与数据飞轮，为 A 轮铺路。</a:t>
            </a:r>
            <a:endParaRPr sz="1400" b="0" i="0">
              <a:solidFill>
                <a:srgbClr val="ECF0FB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chemeClr val="tx1"/>
                </a:solidFill>
                <a:latin typeface="Arial" panose="020B0604020202090204"/>
                <a:ea typeface="微软雅黑"/>
              </a:rPr>
              <a:t>The Problem · 需求痛点</a:t>
            </a:r>
            <a:endParaRPr sz="950" b="0" i="0" spc="12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chemeClr val="tx1"/>
                </a:solidFill>
                <a:latin typeface="Arial" panose="020B0604020202090204"/>
                <a:ea typeface="微软雅黑"/>
              </a:rPr>
              <a:t>03 / 15</a:t>
            </a:r>
            <a:endParaRPr sz="950" b="0" i="0" spc="12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被忽视的高频高危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50292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3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每 3 位老人</a:t>
            </a:r>
            <a:endParaRPr sz="3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  <a:p>
            <a:pPr>
              <a:lnSpc>
                <a:spcPct val="108000"/>
              </a:lnSpc>
            </a:pPr>
            <a:r>
              <a:rPr sz="3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就有 1 人</a:t>
            </a:r>
            <a:endParaRPr sz="3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  <a:p>
            <a:pPr>
              <a:lnSpc>
                <a:spcPct val="108000"/>
              </a:lnSpc>
            </a:pPr>
            <a:r>
              <a:rPr sz="3400" b="0" i="1">
                <a:solidFill>
                  <a:schemeClr val="tx1"/>
                </a:solidFill>
                <a:latin typeface="Arial" panose="020B0604020202090204"/>
                <a:ea typeface="微软雅黑"/>
              </a:rPr>
              <a:t>每年跌倒</a:t>
            </a:r>
            <a:endParaRPr sz="3400" b="0" i="1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3977640"/>
            <a:ext cx="4937760" cy="1377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我国 65+ 老人已达 2.2 亿（占 15.6%，2035 年约 3 亿），90% 居家养老。但父母在家过得好不好、有没有摔倒</a:t>
            </a:r>
            <a:r>
              <a:rPr lang="en-US"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、</a:t>
            </a:r>
            <a:r>
              <a:rPr lang="zh-CN" altLang="en-US"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是否有健康风险</a:t>
            </a:r>
            <a:r>
              <a:rPr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，对异地子女是一片盲区——空巢老人占比过半。</a:t>
            </a:r>
            <a:endParaRPr sz="16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6126480" y="1783080"/>
            <a:ext cx="555955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126480" y="1874519"/>
            <a:ext cx="54864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120">
                <a:solidFill>
                  <a:schemeClr val="tx1"/>
                </a:solidFill>
                <a:latin typeface="Arial" panose="020B0604020202090204"/>
                <a:ea typeface="微软雅黑"/>
              </a:rPr>
              <a:t>65+ 老人 · 年跌倒人数</a:t>
            </a:r>
            <a:endParaRPr sz="1400" b="0" i="0" spc="12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26480" y="2084831"/>
            <a:ext cx="548640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2FA7"/>
                </a:solidFill>
                <a:latin typeface="Arial" panose="020B0604020202090204"/>
                <a:ea typeface="微软雅黑"/>
              </a:rPr>
              <a:t>4000万+</a:t>
            </a:r>
            <a:endParaRPr sz="4000" b="1" i="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26480" y="2880360"/>
            <a:ext cx="5559552" cy="66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约 30% 每年至少跌倒一次；跌倒是我国 65+ 老人伤害死亡首位原因、创伤性骨折首位原因。</a:t>
            </a:r>
            <a:endParaRPr sz="16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0" y="3611880"/>
            <a:ext cx="555955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80" y="3703320"/>
            <a:ext cx="54864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120">
                <a:solidFill>
                  <a:schemeClr val="tx1"/>
                </a:solidFill>
                <a:latin typeface="Arial" panose="020B0604020202090204"/>
                <a:ea typeface="微软雅黑"/>
              </a:rPr>
              <a:t>摔倒后无法自行起身</a:t>
            </a:r>
            <a:endParaRPr sz="1400" b="0" i="0" spc="12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26480" y="3913632"/>
            <a:ext cx="548640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2FA7"/>
                </a:solidFill>
                <a:latin typeface="Arial" panose="020B0604020202090204" pitchFamily="34" charset="0"/>
                <a:ea typeface="微软雅黑"/>
                <a:cs typeface="Arial" panose="020B0604020202090204" pitchFamily="34" charset="0"/>
              </a:rPr>
              <a:t>47%</a:t>
            </a:r>
            <a:endParaRPr sz="4000" b="1" i="0">
              <a:solidFill>
                <a:srgbClr val="002FA7"/>
              </a:solidFill>
              <a:latin typeface="Arial" panose="020B0604020202090204" pitchFamily="34" charset="0"/>
              <a:ea typeface="微软雅黑"/>
              <a:cs typeface="Arial" panose="020B060402020209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4709160"/>
            <a:ext cx="5559552" cy="66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20–30% 倒地超 1 小时；髋部骨折 1 年死亡率约 </a:t>
            </a:r>
            <a:r>
              <a:rPr sz="1600" b="1" i="0">
                <a:solidFill>
                  <a:srgbClr val="002FA7"/>
                </a:solidFill>
                <a:latin typeface="Arial" panose="020B0604020202090204" pitchFamily="34" charset="0"/>
                <a:ea typeface="微软雅黑"/>
                <a:cs typeface="Arial" panose="020B0604020202090204" pitchFamily="34" charset="0"/>
              </a:rPr>
              <a:t>14–25%</a:t>
            </a:r>
            <a:r>
              <a:rPr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，人均住院约 </a:t>
            </a:r>
            <a:r>
              <a:rPr sz="1600" b="1" i="0">
                <a:solidFill>
                  <a:srgbClr val="002FA7"/>
                </a:solidFill>
                <a:latin typeface="Arial" panose="020B0604020202090204"/>
                <a:ea typeface="微软雅黑"/>
              </a:rPr>
              <a:t>1.98 万元</a:t>
            </a:r>
            <a:r>
              <a:rPr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。</a:t>
            </a:r>
            <a:endParaRPr sz="16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6126480" y="5394960"/>
            <a:ext cx="555955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126480" y="5486400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摄像头：浴室不可装、隐私争议</a:t>
            </a:r>
            <a:endParaRPr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915400" y="5486400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手环：依从性</a:t>
            </a:r>
            <a:r>
              <a:rPr lang="zh-CN"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低</a:t>
            </a:r>
            <a:endParaRPr lang="zh-CN"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126480" y="5779008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按钮：摔倒够不到/昏迷无效</a:t>
            </a:r>
            <a:endParaRPr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915400" y="5779008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现有雷达：单房间/误报高</a:t>
            </a:r>
            <a:endParaRPr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来源：民政部《2024 国家老龄事业发展公报》· 中国 CDC《老年人跌倒干预技术指南》(2011)/《核心信息》(2021) · BMJ 跌倒 Long-lie 研究</a:t>
            </a:r>
            <a:endParaRPr sz="9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The Market · 市场规模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04 / 15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WHY NOW · 万亿级赛道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一个正在爆发的银发健康市场</a:t>
            </a:r>
            <a:endParaRPr sz="2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2651760" cy="32004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667512" y="2039112"/>
            <a:ext cx="23774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110">
                <a:solidFill>
                  <a:srgbClr val="FFFFFF"/>
                </a:solidFill>
                <a:latin typeface="Arial" panose="020B0604020202090204"/>
                <a:ea typeface="微软雅黑"/>
              </a:rPr>
              <a:t>TAM · 银发经济 2035E</a:t>
            </a:r>
            <a:endParaRPr sz="1400" b="0" i="0" spc="11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7512" y="2331720"/>
            <a:ext cx="237744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30万亿</a:t>
            </a:r>
            <a:endParaRPr sz="36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7512" y="4507992"/>
            <a:ext cx="235915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E0E6F5"/>
                </a:solidFill>
                <a:latin typeface="Arial" panose="020B0604020202090204"/>
                <a:ea typeface="微软雅黑"/>
              </a:rPr>
              <a:t>2024 约 7 万亿 · CAGR≈15%</a:t>
            </a:r>
            <a:endParaRPr sz="1400" b="0" i="0">
              <a:solidFill>
                <a:srgbClr val="E0E6F5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328415" y="3246120"/>
            <a:ext cx="2651760" cy="1828800"/>
          </a:xfrm>
          <a:prstGeom prst="rect">
            <a:avLst/>
          </a:prstGeom>
          <a:solidFill>
            <a:srgbClr val="FAFAF8"/>
          </a:solidFill>
          <a:ln w="1270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3493008" y="3410712"/>
            <a:ext cx="23774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SAM · 智能养老设备</a:t>
            </a:r>
            <a:endParaRPr sz="14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93008" y="3703320"/>
            <a:ext cx="237744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≈2400亿</a:t>
            </a:r>
            <a:endParaRPr sz="3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93008" y="4507992"/>
            <a:ext cx="2359152" cy="516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设备 1840 亿 + 适老化 600 亿(2025)</a:t>
            </a:r>
            <a:endParaRPr sz="14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53912" y="2606039"/>
            <a:ext cx="2651760" cy="2468880"/>
          </a:xfrm>
          <a:prstGeom prst="rect">
            <a:avLst/>
          </a:prstGeom>
          <a:solidFill>
            <a:srgbClr val="FAFAF8"/>
          </a:solidFill>
          <a:ln w="1270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6318503" y="2770632"/>
            <a:ext cx="23774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刚需人群 · 年跌倒</a:t>
            </a:r>
            <a:endParaRPr sz="14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18503" y="3063239"/>
            <a:ext cx="237744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4000万+</a:t>
            </a:r>
            <a:endParaRPr sz="3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318503" y="4507992"/>
            <a:ext cx="235915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65+ 老人跌倒人次 / 年</a:t>
            </a:r>
            <a:endParaRPr sz="14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79535" y="3418840"/>
            <a:ext cx="2651760" cy="1656080"/>
          </a:xfrm>
          <a:prstGeom prst="rect">
            <a:avLst/>
          </a:prstGeom>
          <a:solidFill>
            <a:srgbClr val="FAFAF8"/>
          </a:solidFill>
          <a:ln w="1270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9144000" y="3520567"/>
            <a:ext cx="23774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需求信号 · 增速</a:t>
            </a:r>
            <a:endParaRPr sz="14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44000" y="3730625"/>
            <a:ext cx="237744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+53.6%</a:t>
            </a:r>
            <a:endParaRPr sz="3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144000" y="4507992"/>
            <a:ext cx="2359152" cy="257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健康监测可穿戴 25H1 出货</a:t>
            </a:r>
            <a:endParaRPr sz="14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502920" y="534924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5486400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Arial" panose="020B0604020202090204"/>
                <a:ea typeface="微软雅黑"/>
              </a:rPr>
              <a:t>① 老龄化拐点</a:t>
            </a:r>
            <a:endParaRPr sz="1400" b="1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5760720"/>
            <a:ext cx="2743200" cy="22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65+ 已 2.2 亿，深度老龄化</a:t>
            </a:r>
            <a:endParaRPr sz="12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300984" y="5486400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Arial" panose="020B0604020202090204"/>
                <a:ea typeface="微软雅黑"/>
              </a:rPr>
              <a:t>② 雷达降本</a:t>
            </a:r>
            <a:endParaRPr sz="1400" b="1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300984" y="5760720"/>
            <a:ext cx="2743200" cy="22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60GHz SoC 走向百元内</a:t>
            </a:r>
            <a:endParaRPr sz="12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099048" y="5486400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Arial" panose="020B0604020202090204"/>
                <a:ea typeface="微软雅黑"/>
              </a:rPr>
              <a:t>③ AI 成熟</a:t>
            </a:r>
            <a:endParaRPr sz="1400" b="1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099048" y="5760720"/>
            <a:ext cx="2743200" cy="22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云端点云深度模型可行</a:t>
            </a:r>
            <a:endParaRPr sz="12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897112" y="5486400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Arial" panose="020B0604020202090204"/>
                <a:ea typeface="微软雅黑"/>
              </a:rPr>
              <a:t>④ 政策点名</a:t>
            </a:r>
            <a:endParaRPr sz="1400" b="1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897112" y="5760720"/>
            <a:ext cx="2743200" cy="22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国办发〔2024〕1 号写入</a:t>
            </a:r>
            <a:endParaRPr sz="12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02920" y="6327648"/>
            <a:ext cx="11183112" cy="22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来源：《银发经济蓝皮书(2024)》社科文献出版社 · 中商产业研究院(2025) · IDC(2025H1)。市场金额为机构测算。</a:t>
            </a:r>
            <a:endParaRPr sz="12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0" name="Rectangle 6"/>
          <p:cNvSpPr/>
          <p:nvPr/>
        </p:nvSpPr>
        <p:spPr>
          <a:xfrm>
            <a:off x="9029700" y="2531110"/>
            <a:ext cx="2622550" cy="217297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6"/>
          <p:cNvSpPr/>
          <p:nvPr/>
        </p:nvSpPr>
        <p:spPr>
          <a:xfrm>
            <a:off x="6186805" y="2532380"/>
            <a:ext cx="2622550" cy="217297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Rectangle 6"/>
          <p:cNvSpPr/>
          <p:nvPr/>
        </p:nvSpPr>
        <p:spPr>
          <a:xfrm>
            <a:off x="3339465" y="2531110"/>
            <a:ext cx="2622550" cy="217297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Rectangle 6"/>
          <p:cNvSpPr/>
          <p:nvPr/>
        </p:nvSpPr>
        <p:spPr>
          <a:xfrm>
            <a:off x="400685" y="2537460"/>
            <a:ext cx="2704465" cy="217297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The Product · 产品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05 / 15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HOW IT WORKS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全屋雷达组网，无感守护</a:t>
            </a:r>
            <a:endParaRPr sz="2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0972800" cy="5803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子女带回家，一人操作、15 分钟装完、无需工具。雷达 7×24 采集，云端 AI 识别异常，异地子女第一时间知道；老人不穿戴、不操作、无感被守护。</a:t>
            </a:r>
            <a:endParaRPr sz="14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404495" y="2514600"/>
            <a:ext cx="2704465" cy="3175"/>
          </a:xfrm>
          <a:prstGeom prst="bentConnector2">
            <a:avLst/>
          </a:prstGeom>
          <a:ln w="2794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2624328"/>
            <a:ext cx="25603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60">
                <a:solidFill>
                  <a:srgbClr val="737373"/>
                </a:solidFill>
                <a:latin typeface="Arial" panose="020B0604020202090204"/>
                <a:ea typeface="微软雅黑"/>
              </a:rPr>
              <a:t>01 采集</a:t>
            </a:r>
            <a:endParaRPr sz="1400" b="0" i="0" spc="6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2898648"/>
            <a:ext cx="25603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毫米波雷达组网</a:t>
            </a:r>
            <a:endParaRPr sz="1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2920" y="3355848"/>
            <a:ext cx="2560320" cy="1118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Φ85mm 白色感应器，外观像烟雾探测器；天花板/墙壁磁吸，2.4G WiFi 直连云，功耗&lt;2W；采集姿态、活动、呼吸、心率。</a:t>
            </a:r>
            <a:endParaRPr sz="14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3346704" y="2514600"/>
            <a:ext cx="2606040" cy="0"/>
          </a:xfrm>
          <a:prstGeom prst="bentConnector3">
            <a:avLst/>
          </a:prstGeom>
          <a:ln w="2794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74644" y="2624328"/>
            <a:ext cx="25603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60">
                <a:solidFill>
                  <a:srgbClr val="737373"/>
                </a:solidFill>
                <a:latin typeface="Arial" panose="020B0604020202090204"/>
                <a:ea typeface="微软雅黑"/>
              </a:rPr>
              <a:t>02 感知</a:t>
            </a:r>
            <a:endParaRPr sz="1400" b="0" i="0" spc="6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374644" y="2898648"/>
            <a:ext cx="25603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云端 AI 点云理解</a:t>
            </a:r>
            <a:endParaRPr sz="1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74644" y="3355848"/>
            <a:ext cx="2560320" cy="11182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原始点云上云，GPU 世界模型 Encoder，识别跌倒、长时间静止、生命体征异常、日常模式偏离四类事件。</a:t>
            </a:r>
            <a:endParaRPr sz="14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6190488" y="2514600"/>
            <a:ext cx="2606040" cy="0"/>
          </a:xfrm>
          <a:prstGeom prst="bentConnector3">
            <a:avLst/>
          </a:prstGeom>
          <a:ln w="2794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215888" y="2624328"/>
            <a:ext cx="25603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60">
                <a:solidFill>
                  <a:srgbClr val="737373"/>
                </a:solidFill>
                <a:latin typeface="Arial" panose="020B0604020202090204"/>
                <a:ea typeface="微软雅黑"/>
              </a:rPr>
              <a:t>03 判决</a:t>
            </a:r>
            <a:endParaRPr sz="1400" b="0" i="0" spc="6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15888" y="2898648"/>
            <a:ext cx="25603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延迟确认降误报</a:t>
            </a:r>
            <a:endParaRPr sz="1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15888" y="3355848"/>
            <a:ext cx="256032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跌倒初判后等 3–5 秒观察后续行为 + 多雷达交叉 + 个人基线，区分真摔与快速坐下/蹲下。</a:t>
            </a:r>
            <a:endParaRPr sz="14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9034272" y="2514600"/>
            <a:ext cx="2606040" cy="0"/>
          </a:xfrm>
          <a:prstGeom prst="bentConnector3">
            <a:avLst/>
          </a:prstGeom>
          <a:ln w="2794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059672" y="2624328"/>
            <a:ext cx="256032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60">
                <a:solidFill>
                  <a:srgbClr val="737373"/>
                </a:solidFill>
                <a:latin typeface="Arial" panose="020B0604020202090204"/>
                <a:ea typeface="微软雅黑"/>
              </a:rPr>
              <a:t>04 通知</a:t>
            </a:r>
            <a:endParaRPr sz="1400" b="0" i="0" spc="6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059672" y="2898648"/>
            <a:ext cx="256032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分级触达子女</a:t>
            </a:r>
            <a:endParaRPr sz="1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059672" y="3355848"/>
            <a:ext cx="2560320" cy="838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不提 / 推送 / 强推+短信 / 电话四级；紧急事件（跌倒）同时短信与电话。</a:t>
            </a:r>
            <a:endParaRPr sz="14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502920" y="4704715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5186045"/>
            <a:ext cx="11155680" cy="5803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六大核心场景 ｜ S1 浴室跌倒强推 · S2 蹲下捡物不误报 · S3 卧室静止超时提醒 · S4 连续3天活动量&lt;基线50%建议关注 · S5 首页"昨夜睡眠7.2h、起床6:40" · S6 导出30天趋势PDF供医生参考</a:t>
            </a:r>
            <a:endParaRPr sz="1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15568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硬边界 ｜ 无摄像头/无视频 · 不做医学诊断 · 不做 120 调度 · 不测血压/血氧/血糖</a:t>
            </a:r>
            <a:endParaRPr sz="14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chemeClr val="tx1"/>
                </a:solidFill>
                <a:latin typeface="Arial" panose="020B0604020202090204"/>
                <a:ea typeface="微软雅黑"/>
              </a:rPr>
              <a:t>The Core Tech · 统一隐空间世界模型</a:t>
            </a:r>
            <a:endParaRPr sz="950" b="0" i="0" spc="12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chemeClr val="tx1"/>
                </a:solidFill>
                <a:latin typeface="Arial" panose="020B0604020202090204"/>
                <a:ea typeface="微软雅黑"/>
              </a:rPr>
              <a:t>06 / 15</a:t>
            </a:r>
            <a:endParaRPr sz="950" b="0" i="0" spc="12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THE CORE TECH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Encoder→隐空间→Predictor→Decoders</a:t>
            </a:r>
            <a:endParaRPr sz="2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66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传统养老监测是管道架构：传感器→规则→事件→通知，信息在每层被硬决策丢弃。家安用统一隐空间世界模型——雷达点云编码到隐空间，所有任务从同一隐空间读取，信息无损流动。</a:t>
            </a:r>
            <a:endParaRPr sz="16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" y="2514600"/>
            <a:ext cx="5486400" cy="1371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solidFill>
                <a:schemeClr val="tx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04088" y="267004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120">
                <a:solidFill>
                  <a:schemeClr val="tx1"/>
                </a:solidFill>
                <a:latin typeface="Arial" panose="020B0604020202090204"/>
                <a:ea typeface="微软雅黑"/>
              </a:rPr>
              <a:t>传统管道架构</a:t>
            </a:r>
            <a:endParaRPr sz="1400" b="1" i="0" spc="12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4088" y="2971800"/>
            <a:ext cx="5120640" cy="66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各模块独立 · 输出硬决策标签 · 信息逐层丢弃 · 空间上下文丢失 · 规则冲突无法自修复</a:t>
            </a:r>
            <a:r>
              <a:rPr lang="zh-CN"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/>
            </a:r>
            <a:r>
              <a:rPr lang="en-US" altLang="zh-CN" sz="16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/>
            </a:r>
            <a:endParaRPr lang="en-US" altLang="zh-CN" sz="16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514600"/>
            <a:ext cx="5486400" cy="13716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0" y="2670048"/>
            <a:ext cx="512064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120">
                <a:solidFill>
                  <a:schemeClr val="bg1"/>
                </a:solidFill>
                <a:latin typeface="Arial" panose="020B0604020202090204"/>
                <a:ea typeface="微软雅黑"/>
              </a:rPr>
              <a:t>家安世界模型</a:t>
            </a:r>
            <a:endParaRPr sz="1400" b="1" i="0" spc="120">
              <a:solidFill>
                <a:schemeClr val="bg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0" y="2971800"/>
            <a:ext cx="5120640" cy="66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chemeClr val="bg1"/>
                </a:solidFill>
                <a:latin typeface="Arial" panose="020B0604020202090204"/>
                <a:ea typeface="微软雅黑"/>
              </a:rPr>
              <a:t>Encoder 点云编码 · 隐空间统一表征 · Predictor 自监督学习动力学 · Decoders 轻量读取 · 随使用持续自进化</a:t>
            </a:r>
            <a:endParaRPr sz="1600" b="0" i="0">
              <a:solidFill>
                <a:schemeClr val="bg1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502920" y="4160520"/>
            <a:ext cx="1118311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4251960"/>
            <a:ext cx="91440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120">
                <a:solidFill>
                  <a:schemeClr val="tx1"/>
                </a:solidFill>
                <a:latin typeface="Arial" panose="020B0604020202090204"/>
                <a:ea typeface="微软雅黑"/>
              </a:rPr>
              <a:t>世界模型从同一隐空间产出的能力</a:t>
            </a:r>
            <a:endParaRPr sz="1400" b="0" i="0" spc="12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4617720"/>
            <a:ext cx="3657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Arial" panose="020B0604020202090204"/>
                <a:ea typeface="微软雅黑"/>
              </a:rPr>
              <a:t>空间感知异常</a:t>
            </a:r>
            <a:endParaRPr sz="1600" b="1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554480" y="4636007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← 隐空间中位置&amp;姿态在同一向量空间 → 自然区分场景</a:t>
            </a:r>
            <a:endParaRPr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33672" y="4617720"/>
            <a:ext cx="3657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Arial" panose="020B0604020202090204"/>
                <a:ea typeface="微软雅黑"/>
              </a:rPr>
              <a:t>多维度偏离耦合</a:t>
            </a:r>
            <a:endParaRPr sz="1600" b="1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285231" y="4636007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← 活动↓+睡眠↓+心率↑自动一致 → 不需外部融合</a:t>
            </a:r>
            <a:endParaRPr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964424" y="4617720"/>
            <a:ext cx="3657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Arial" panose="020B0604020202090204"/>
                <a:ea typeface="微软雅黑"/>
              </a:rPr>
              <a:t>预测偏差异常</a:t>
            </a:r>
            <a:endParaRPr sz="1600" b="1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15984" y="4636007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← Predictor预测vs真实 → 最强异常信号</a:t>
            </a:r>
            <a:endParaRPr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2920" y="5184648"/>
            <a:ext cx="3657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Arial" panose="020B0604020202090204"/>
                <a:ea typeface="微软雅黑"/>
              </a:rPr>
              <a:t>信号丢失外推</a:t>
            </a:r>
            <a:endParaRPr sz="1600" b="1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54480" y="5202936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← 运动模型外推 → 雷达盲区追踪不中断</a:t>
            </a:r>
            <a:endParaRPr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233672" y="5184648"/>
            <a:ext cx="3657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Arial" panose="020B0604020202090204"/>
                <a:ea typeface="微软雅黑"/>
              </a:rPr>
              <a:t>冷启动世界常识</a:t>
            </a:r>
            <a:endParaRPr sz="1600" b="1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85231" y="5202936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← 合成数据预训练 → 部署即有基础认知</a:t>
            </a:r>
            <a:endParaRPr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964424" y="5184648"/>
            <a:ext cx="3657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Arial" panose="020B0604020202090204"/>
                <a:ea typeface="微软雅黑"/>
              </a:rPr>
              <a:t>数据飞轮</a:t>
            </a:r>
            <a:endParaRPr sz="1600" b="1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015984" y="5202936"/>
            <a:ext cx="2743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← 自监督不需标注 → 越用越强</a:t>
            </a:r>
            <a:endParaRPr sz="14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chemeClr val="tx1"/>
                </a:solidFill>
                <a:latin typeface="Arial" panose="020B0604020202090204"/>
                <a:ea typeface="微软雅黑"/>
              </a:rPr>
              <a:t>技术门槛：合成数据→真实domain gap、数据不平衡(大量无人帧)导致隐空间坍缩、多尺度Predictor训练——需雷达信号处理+自监督表示学习跨学科团队。</a:t>
            </a:r>
            <a:endParaRPr sz="900" b="0" i="0">
              <a:solidFill>
                <a:schemeClr val="tx1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Algorithms &amp; Feasibility · 算法与可行性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07 / 15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ALGORITHMS &amp; FEASIBILITY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统一世界模型，站在已验证的能力上</a:t>
            </a:r>
            <a:endParaRPr sz="2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649224" y="1892807"/>
            <a:ext cx="23774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80">
                <a:solidFill>
                  <a:srgbClr val="002FA7"/>
                </a:solidFill>
                <a:latin typeface="Arial" panose="020B0604020202090204"/>
                <a:ea typeface="微软雅黑"/>
              </a:rPr>
              <a:t>Encoder</a:t>
            </a:r>
            <a:endParaRPr sz="1200" b="1" i="0" spc="8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9224" y="2167128"/>
            <a:ext cx="237744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点云→隐空间编码（PointNet++ + 时序聚合）</a:t>
            </a:r>
            <a:endParaRPr sz="1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328415" y="1783080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3474720" y="1892807"/>
            <a:ext cx="23774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80">
                <a:solidFill>
                  <a:srgbClr val="002FA7"/>
                </a:solidFill>
                <a:latin typeface="Arial" panose="020B0604020202090204"/>
                <a:ea typeface="微软雅黑"/>
              </a:rPr>
              <a:t>Latent Space</a:t>
            </a:r>
            <a:endParaRPr sz="1200" b="1" i="0" spc="8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74720" y="2167128"/>
            <a:ext cx="237744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图结构(空间拓扑)+向量(人状态/不确定性)</a:t>
            </a:r>
            <a:endParaRPr sz="1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3912" y="1783080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6300216" y="1892807"/>
            <a:ext cx="23774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80">
                <a:solidFill>
                  <a:srgbClr val="002FA7"/>
                </a:solidFill>
                <a:latin typeface="Arial" panose="020B0604020202090204"/>
                <a:ea typeface="微软雅黑"/>
              </a:rPr>
              <a:t>Predictor</a:t>
            </a:r>
            <a:endParaRPr sz="1200" b="1" i="0" spc="8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00216" y="2167128"/>
            <a:ext cx="237744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自监督S_t→S_{t+1}，预测偏差=异常信号</a:t>
            </a:r>
            <a:endParaRPr sz="1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979408" y="1783080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9125712" y="1892807"/>
            <a:ext cx="23774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80">
                <a:solidFill>
                  <a:srgbClr val="002FA7"/>
                </a:solidFill>
                <a:latin typeface="Arial" panose="020B0604020202090204"/>
                <a:ea typeface="微软雅黑"/>
              </a:rPr>
              <a:t>Decoder:异常</a:t>
            </a:r>
            <a:endParaRPr sz="1200" b="1" i="0" spc="8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25712" y="2167128"/>
            <a:ext cx="237744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隐状态距离预期分布→空间感知异常分</a:t>
            </a:r>
            <a:endParaRPr sz="1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2920" y="2734056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649224" y="2843784"/>
            <a:ext cx="23774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80">
                <a:solidFill>
                  <a:srgbClr val="002FA7"/>
                </a:solidFill>
                <a:latin typeface="Arial" panose="020B0604020202090204"/>
                <a:ea typeface="微软雅黑"/>
              </a:rPr>
              <a:t>Decoder:通知</a:t>
            </a:r>
            <a:endParaRPr sz="1200" b="1" i="0" spc="8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9224" y="3118104"/>
            <a:ext cx="237744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异常分+持续性+紧急性→分级通知</a:t>
            </a:r>
            <a:endParaRPr sz="1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328415" y="2734056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3474720" y="2843784"/>
            <a:ext cx="23774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80">
                <a:solidFill>
                  <a:srgbClr val="002FA7"/>
                </a:solidFill>
                <a:latin typeface="Arial" panose="020B0604020202090204"/>
                <a:ea typeface="微软雅黑"/>
              </a:rPr>
              <a:t>Decoder:报告</a:t>
            </a:r>
            <a:endParaRPr sz="1200" b="1" i="0" spc="8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474720" y="3118104"/>
            <a:ext cx="237744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隐状态轨迹摘要→健康日报/周报</a:t>
            </a:r>
            <a:endParaRPr sz="1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153912" y="2734056"/>
            <a:ext cx="2651760" cy="78638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300216" y="2843784"/>
            <a:ext cx="23774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80">
                <a:solidFill>
                  <a:srgbClr val="002FA7"/>
                </a:solidFill>
                <a:latin typeface="Arial" panose="020B0604020202090204"/>
                <a:ea typeface="微软雅黑"/>
              </a:rPr>
              <a:t>Decoder:追踪</a:t>
            </a:r>
            <a:endParaRPr sz="1200" b="1" i="0" spc="8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300216" y="3118104"/>
            <a:ext cx="237744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位置编码图上时序→轨迹/热力图</a:t>
            </a:r>
            <a:endParaRPr sz="1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979408" y="2734056"/>
            <a:ext cx="2651760" cy="786384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TextBox 28"/>
          <p:cNvSpPr txBox="1"/>
          <p:nvPr/>
        </p:nvSpPr>
        <p:spPr>
          <a:xfrm>
            <a:off x="9125712" y="2843784"/>
            <a:ext cx="23774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80">
                <a:solidFill>
                  <a:srgbClr val="FFFFFF"/>
                </a:solidFill>
                <a:latin typeface="Arial" panose="020B0604020202090204"/>
                <a:ea typeface="微软雅黑"/>
              </a:rPr>
              <a:t>干预接口(P2)</a:t>
            </a:r>
            <a:endParaRPr sz="1200" b="1" i="0" spc="8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125712" y="3118104"/>
            <a:ext cx="237744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向量注入Predictor→反事实推理</a:t>
            </a:r>
            <a:endParaRPr sz="14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502920" y="370332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" y="3886200"/>
            <a:ext cx="356616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跌倒检测</a:t>
            </a:r>
            <a:endParaRPr sz="12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02920" y="4160520"/>
            <a:ext cx="356616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92%+</a:t>
            </a:r>
            <a:endParaRPr sz="28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2920" y="4892040"/>
            <a:ext cx="3566160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误报&lt;3%（TI IWR6843 参考设计，20㎡）</a:t>
            </a:r>
            <a:endParaRPr sz="12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233672" y="3886200"/>
            <a:ext cx="356616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呼吸/心率误差</a:t>
            </a:r>
            <a:endParaRPr sz="12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233672" y="4160520"/>
            <a:ext cx="356616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±0.4</a:t>
            </a:r>
            <a:endParaRPr sz="28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233672" y="4892040"/>
            <a:ext cx="3566160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心率 ±1.0 次/分（安静睡眠，西京学院2026）</a:t>
            </a:r>
            <a:endParaRPr sz="12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964424" y="3886200"/>
            <a:ext cx="356616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步态预测跌倒风险</a:t>
            </a:r>
            <a:endParaRPr sz="12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964424" y="4160520"/>
            <a:ext cx="356616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已验证</a:t>
            </a:r>
            <a:endParaRPr sz="28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964424" y="4892040"/>
            <a:ext cx="3566160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Nature Sci Rep 2025 / Frontiers 2024，学术阶段</a:t>
            </a:r>
            <a:endParaRPr sz="12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02920" y="6172200"/>
            <a:ext cx="11183112" cy="441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硬件演进（看点云质量+SDK开放度）：IWR6843 开发板 → TI 模组 ~200 元 → 自研一体板 ~100 元 → 国产 60GHz SoC ~60 元（加特兰）。上述精度为行业参考设计/学术验证，非产品实测；合成数据→真实domain gap是核心风险，真实数据自监督fine-tune缓释。</a:t>
            </a:r>
            <a:endParaRPr sz="12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The Moat · 为什么难复制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08 / 15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5B7BFF"/>
                </a:solidFill>
                <a:latin typeface="Arial" panose="020B0604020202090204"/>
                <a:ea typeface="微软雅黑"/>
              </a:rPr>
              <a:t>WHY US</a:t>
            </a:r>
            <a:endParaRPr sz="1050" b="1" i="0" spc="150">
              <a:solidFill>
                <a:srgbClr val="5B7B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壁垒：统一隐空间世界模型</a:t>
            </a:r>
            <a:endParaRPr sz="25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3602736" cy="32004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167128"/>
            <a:ext cx="32369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10">
                <a:solidFill>
                  <a:srgbClr val="FFFFFF"/>
                </a:solidFill>
                <a:latin typeface="Arial" panose="020B0604020202090204"/>
                <a:ea typeface="微软雅黑"/>
              </a:rPr>
              <a:t>LAYER 01 · 架构层</a:t>
            </a:r>
            <a:endParaRPr sz="900" b="0" i="0" spc="11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04088" y="2532888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统一隐空间世界模型</a:t>
            </a:r>
            <a:endParaRPr sz="17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4088" y="3108960"/>
            <a:ext cx="3200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范式壁垒。不是"做得更好"——是架构代际差异。LLM用一个模型替代N个NLP任务的范式，家安在居家养老领域做同样的事。竞品从管道迁移到世界模型，是在改公司架构。</a:t>
            </a:r>
            <a:endParaRPr sz="950" b="0" i="0">
              <a:solidFill>
                <a:srgbClr val="ECF0FB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704088" y="4709160"/>
            <a:ext cx="3145536" cy="0"/>
          </a:xfrm>
          <a:prstGeom prst="bentConnector3">
            <a:avLst/>
          </a:prstGeom>
          <a:ln w="12700">
            <a:solidFill>
              <a:srgbClr val="88A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" y="48006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100">
                <a:solidFill>
                  <a:srgbClr val="FFFFFF"/>
                </a:solidFill>
                <a:latin typeface="Arial" panose="020B0604020202090204"/>
                <a:ea typeface="微软雅黑"/>
              </a:rPr>
              <a:t>算法壁垒</a:t>
            </a:r>
            <a:endParaRPr sz="850" b="0" i="0" spc="10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5112" y="1965960"/>
            <a:ext cx="3602736" cy="32004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79" y="2167128"/>
            <a:ext cx="32369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LAYER 02 · 算法层</a:t>
            </a:r>
            <a:endParaRPr sz="9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26279" y="2532888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自研点云 Encoder</a:t>
            </a:r>
            <a:endParaRPr sz="17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26279" y="3108960"/>
            <a:ext cx="3200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毫米波雷达点云极稀疏(10–50点/帧)、噪声特殊。需同时懂雷达信号处理+点云深度学习+自监督学习的跨学科团队。竞品用厂商固件或视觉模型——两者都回避了雷达原生信号。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4526279" y="4709160"/>
            <a:ext cx="3145536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26279" y="48006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100">
                <a:solidFill>
                  <a:srgbClr val="737373"/>
                </a:solidFill>
                <a:latin typeface="Arial" panose="020B0604020202090204"/>
                <a:ea typeface="微软雅黑"/>
              </a:rPr>
              <a:t>架构壁垒</a:t>
            </a:r>
            <a:endParaRPr sz="850" b="0" i="0" spc="10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147304" y="1965960"/>
            <a:ext cx="3602736" cy="32004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2167128"/>
            <a:ext cx="32369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LAYER 03 · 数据层</a:t>
            </a:r>
            <a:endParaRPr sz="9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48472" y="2532888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自监督 + 个人基线</a:t>
            </a:r>
            <a:endParaRPr sz="17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48472" y="3108960"/>
            <a:ext cx="3200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自监督学习不需标注，所有日常数据都是训练信号。14天个人基线→3个月更准→1年更准。用户越多模型越强→切换成本指数增长。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8348472" y="4709160"/>
            <a:ext cx="3145536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348472" y="48006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100">
                <a:solidFill>
                  <a:srgbClr val="737373"/>
                </a:solidFill>
                <a:latin typeface="Arial" panose="020B0604020202090204"/>
                <a:ea typeface="微软雅黑"/>
              </a:rPr>
              <a:t>数据飞轮 · 越用越准</a:t>
            </a:r>
            <a:endParaRPr sz="850" b="0" i="0" spc="10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5486400"/>
            <a:ext cx="11155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C8C8C8"/>
                </a:solidFill>
                <a:latin typeface="Arial" panose="020B0604020202090204"/>
                <a:ea typeface="微软雅黑"/>
              </a:rPr>
              <a:t>数据飞轮：用户越多、用得越久 → 隐空间表征越丰富 → 模型越准 → 体验越好 → 用户越多。自监督不需标注，所有日常数据都是训练信号。壁垒随使用复利加深，管道架构停在出厂那天。</a:t>
            </a:r>
            <a:endParaRPr sz="1000" b="0" i="0">
              <a:solidFill>
                <a:srgbClr val="C8C8C8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Business Model · 商业模式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09 / 15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HOW WE MAKE MONEY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硬件获客 · 服务盈利</a:t>
            </a:r>
            <a:endParaRPr sz="2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737373"/>
                </a:solidFill>
                <a:latin typeface="Arial" panose="020B0604020202090204"/>
                <a:ea typeface="微软雅黑"/>
              </a:rPr>
              <a:t>01 硬件层 · 买断获客</a:t>
            </a:r>
            <a:endParaRPr sz="1000" b="1" i="0" spc="8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228600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0A0A0A"/>
                </a:solidFill>
                <a:latin typeface="微软雅黑"/>
                <a:ea typeface="微软雅黑"/>
              </a:rPr>
              <a:t>一次买断</a:t>
            </a:r>
            <a:endParaRPr sz="2700" b="0" i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32004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299 / 499 / 799 元三档，用户永久拥有；加权 ASP 599 / BOM 425 / 毛利 174 元（29%）。定位微利把设备装进家。</a:t>
            </a:r>
            <a:endParaRPr sz="11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02920" y="4251960"/>
            <a:ext cx="5120639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361688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 panose="020B0604020202090204"/>
                <a:ea typeface="微软雅黑"/>
              </a:rPr>
              <a:t>— 尝鲜 299 · 全屋 S 499 · 全屋 L 799</a:t>
            </a:r>
            <a:endParaRPr sz="950" b="0" i="0">
              <a:solidFill>
                <a:srgbClr val="33333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4690872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 panose="020B0604020202090204"/>
                <a:ea typeface="微软雅黑"/>
              </a:rPr>
              <a:t>— 硬件不指望赚钱，是获客入口</a:t>
            </a:r>
            <a:endParaRPr sz="950" b="0" i="0">
              <a:solidFill>
                <a:srgbClr val="33333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5020055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 panose="020B0604020202090204"/>
                <a:ea typeface="微软雅黑"/>
              </a:rPr>
              <a:t>— 低成本渠道把 CAC 压到 300 以内</a:t>
            </a:r>
            <a:endParaRPr sz="950" b="0" i="0">
              <a:solidFill>
                <a:srgbClr val="33333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53328" y="1965960"/>
            <a:ext cx="10972" cy="310896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9659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002FA7"/>
                </a:solidFill>
                <a:latin typeface="Arial" panose="020B0604020202090204"/>
                <a:ea typeface="微软雅黑"/>
              </a:rPr>
              <a:t>02 服务层 · 订阅盈利</a:t>
            </a:r>
            <a:endParaRPr sz="1000" b="1" i="0" spc="8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46520" y="2286000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0" i="0">
                <a:solidFill>
                  <a:srgbClr val="002FA7"/>
                </a:solidFill>
                <a:latin typeface="微软雅黑"/>
                <a:ea typeface="微软雅黑"/>
              </a:rPr>
              <a:t>199 元/年</a:t>
            </a:r>
            <a:endParaRPr sz="2700" b="0" i="0">
              <a:solidFill>
                <a:srgbClr val="002FA7"/>
              </a:solidFill>
              <a:latin typeface="微软雅黑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46520" y="32004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基础服务（实时告警、周报）永久免费；高级服务（月报PDF、长期趋势、就医参考）订阅，毛利约 90%。</a:t>
            </a:r>
            <a:endParaRPr sz="11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6446520" y="4251960"/>
            <a:ext cx="5120639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46520" y="4361688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 panose="020B0604020202090204"/>
                <a:ea typeface="微软雅黑"/>
              </a:rPr>
              <a:t>— 免费层轻云、付费层承担重云成本</a:t>
            </a:r>
            <a:endParaRPr sz="950" b="0" i="0">
              <a:solidFill>
                <a:srgbClr val="33333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46520" y="4690872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 panose="020B0604020202090204"/>
                <a:ea typeface="微软雅黑"/>
              </a:rPr>
              <a:t>— 转化率保守取 15%（子女买单）</a:t>
            </a:r>
            <a:endParaRPr sz="950" b="0" i="0">
              <a:solidFill>
                <a:srgbClr val="33333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46520" y="5020055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333333"/>
                </a:solidFill>
                <a:latin typeface="Arial" panose="020B0604020202090204"/>
                <a:ea typeface="微软雅黑"/>
              </a:rPr>
              <a:t>— 越用越准 → 越不可替代</a:t>
            </a:r>
            <a:endParaRPr sz="950" b="0" i="0">
              <a:solidFill>
                <a:srgbClr val="333333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502920" y="544068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5577840"/>
            <a:ext cx="11155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00" b="1" i="0">
                <a:solidFill>
                  <a:srgbClr val="0A0A0A"/>
                </a:solidFill>
                <a:latin typeface="Arial" panose="020B0604020202090204"/>
                <a:ea typeface="微软雅黑"/>
              </a:rPr>
              <a:t>单位经济：</a:t>
            </a:r>
            <a:r>
              <a:rPr sz="11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早期(BOM425) LTV 232 / CAC 300 = 0.77 承压 → 国产SoC降本后(BOM110) LTV 547 / CAC 250 = </a:t>
            </a:r>
            <a:r>
              <a:rPr sz="1100" b="1" i="0">
                <a:solidFill>
                  <a:srgbClr val="002FA7"/>
                </a:solidFill>
                <a:latin typeface="Arial" panose="020B0604020202090204"/>
                <a:ea typeface="微软雅黑"/>
              </a:rPr>
              <a:t>2.19 转正</a:t>
            </a:r>
            <a:r>
              <a:rPr sz="11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。第二曲线：数据向保险/养老机构/医疗 B 端变现。</a:t>
            </a:r>
            <a:endParaRPr sz="11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Financials · 财务预测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10 / 15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FINANCIALS · 中性务实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三年财务预测</a:t>
            </a:r>
            <a:endParaRPr sz="2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02920" y="182880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19659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 panose="020B0604020202090204"/>
                <a:ea typeface="微软雅黑"/>
              </a:rPr>
              <a:t>Y3 年末装机</a:t>
            </a:r>
            <a:endParaRPr sz="900" b="0" i="0" spc="10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1.5万户</a:t>
            </a:r>
            <a:endParaRPr sz="2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Y1 1k→Y2 5k→Y3 15k</a:t>
            </a:r>
            <a:endParaRPr sz="9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55264" y="1920240"/>
            <a:ext cx="7315" cy="118872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19659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 panose="020B0604020202090204"/>
                <a:ea typeface="微软雅黑"/>
              </a:rPr>
              <a:t>Y3 总收入</a:t>
            </a:r>
            <a:endParaRPr sz="900" b="0" i="0" spc="10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00984" y="22402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637万</a:t>
            </a:r>
            <a:endParaRPr sz="2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300984" y="29718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3 年累计约 953 万</a:t>
            </a:r>
            <a:endParaRPr sz="9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53328" y="1920240"/>
            <a:ext cx="7315" cy="118872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048" y="19659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 panose="020B0604020202090204"/>
                <a:ea typeface="微软雅黑"/>
              </a:rPr>
              <a:t>毛利率（稳定）</a:t>
            </a:r>
            <a:endParaRPr sz="900" b="0" i="0" spc="10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99048" y="22402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30%</a:t>
            </a:r>
            <a:endParaRPr sz="2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099048" y="29718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硬件 + 订阅加权</a:t>
            </a:r>
            <a:endParaRPr sz="9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851392" y="1920240"/>
            <a:ext cx="7315" cy="118872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9659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 panose="020B0604020202090204"/>
                <a:ea typeface="微软雅黑"/>
              </a:rPr>
              <a:t>降本后单位经济</a:t>
            </a:r>
            <a:endParaRPr sz="900" b="0" i="0" spc="10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897112" y="22402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2.19x</a:t>
            </a:r>
            <a:endParaRPr sz="2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897112" y="29718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LTV/CAC · 国产 SoC 后</a:t>
            </a:r>
            <a:endParaRPr sz="9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02920" y="359359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Y1 收入</a:t>
            </a:r>
            <a:endParaRPr sz="10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874519" y="3611880"/>
            <a:ext cx="7498079" cy="237744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74519" y="3611880"/>
            <a:ext cx="742309" cy="23774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356616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62.9万</a:t>
            </a:r>
            <a:endParaRPr sz="1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Y2 收入</a:t>
            </a:r>
            <a:endParaRPr sz="10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874519" y="4178808"/>
            <a:ext cx="7498079" cy="237744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74519" y="4178808"/>
            <a:ext cx="2976737" cy="23774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64040" y="413308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253万</a:t>
            </a:r>
            <a:endParaRPr sz="1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02920" y="472744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Y3 收入</a:t>
            </a:r>
            <a:endParaRPr sz="10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874519" y="4745736"/>
            <a:ext cx="7498079" cy="237744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4519" y="4745736"/>
            <a:ext cx="7498079" cy="237744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64040" y="470001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637万</a:t>
            </a:r>
            <a:endParaRPr sz="1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502920" y="544068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02920" y="557784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前 3 年是投入期，净利 −206 / −355 / −532 万——不是单位经济问题，是规模不足：硬件毛利薄(174元)而早期 CAC(300元)高，靠融资补贴获客、占领 C 端空白、积累数据。盈亏平衡出现在①国产 SoC 降本(BOM425→110，硬件毛利抬到489元)②装机与订阅规模起来之后(约第4年)。天使轮资金正是覆盖到降本转正拐点。</a:t>
            </a:r>
            <a:endParaRPr sz="95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Competition · 竞争格局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11 / 15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5B7BFF"/>
                </a:solidFill>
                <a:latin typeface="Arial" panose="020B0604020202090204"/>
                <a:ea typeface="微软雅黑"/>
              </a:rPr>
              <a:t>THE WHITE SPACE</a:t>
            </a:r>
            <a:endParaRPr sz="1050" b="1" i="0" spc="150">
              <a:solidFill>
                <a:srgbClr val="5B7B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C 端全屋买断，是一片空白</a:t>
            </a:r>
            <a:endParaRPr sz="24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CCCCCC"/>
                </a:solidFill>
                <a:latin typeface="Arial" panose="020B0604020202090204"/>
                <a:ea typeface="微软雅黑"/>
              </a:rPr>
              <a:t>价格与形态是最强差异点：子女买给父母、15 分钟自装的 C 端全屋雷达套装几乎没有对手；雷达厂商走 B 端项目制，小米做智能家居非康养，华为绑装修，萤石以摄像头为主。</a:t>
            </a:r>
            <a:endParaRPr sz="1050" b="0" i="0">
              <a:solidFill>
                <a:srgbClr val="CCCCCC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" y="2514600"/>
            <a:ext cx="3602736" cy="24688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715768"/>
            <a:ext cx="32369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现有玩家</a:t>
            </a:r>
            <a:endParaRPr sz="95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4088" y="30632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固件 · 出厂即定型</a:t>
            </a:r>
            <a:endParaRPr sz="1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04088" y="356616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萤石/点可/森思泰克用雷达厂商固件，嵌入式 DSP 精度停在出厂那天，用户反馈"误报多、后来就不看了"。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25112" y="2514600"/>
            <a:ext cx="3602736" cy="24688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2715768"/>
            <a:ext cx="32369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渠道错位</a:t>
            </a:r>
            <a:endParaRPr sz="95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79" y="30632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B 端项目 / 绑装修</a:t>
            </a:r>
            <a:endParaRPr sz="1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26279" y="356616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多为机构项目制或高端全屋，缺一个消费级、子女能自己装的产品。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147304" y="2514600"/>
            <a:ext cx="3602736" cy="246888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715768"/>
            <a:ext cx="323697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10">
                <a:solidFill>
                  <a:srgbClr val="FFFFFF"/>
                </a:solidFill>
                <a:latin typeface="Arial" panose="020B0604020202090204"/>
                <a:ea typeface="微软雅黑"/>
              </a:rPr>
              <a:t>家安差异</a:t>
            </a:r>
            <a:endParaRPr sz="950" b="0" i="0" spc="11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48472" y="306324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世界模型 · 越用越准</a:t>
            </a:r>
            <a:endParaRPr sz="16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48472" y="356616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统一隐空间世界模型自监督进化 + 个人基线 + C 端买断零售，三点同时补缺口。</a:t>
            </a:r>
            <a:endParaRPr sz="950" b="0" i="0">
              <a:solidFill>
                <a:srgbClr val="ECF0FB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海外对标均为"硬件+月费+B 端"（Vayyar Care $250+$20/月、估值约 $1B；CarePredict $169+$30/月；SafelyYou 纯 B 端）；Apple Watch 纯 C 端但 65+ 佩戴率低、夜间/洗澡失效——室内无感覆盖仍是雷达独占。</a:t>
            </a:r>
            <a:endParaRPr sz="9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Roadmap · 落地路径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12 / 15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ROADMAP · 落地与里程碑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落地路径与里程碑</a:t>
            </a:r>
            <a:endParaRPr sz="24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868680" y="3657600"/>
            <a:ext cx="10607039" cy="0"/>
          </a:xfrm>
          <a:prstGeom prst="bentConnector3">
            <a:avLst/>
          </a:prstGeom>
          <a:ln w="9525" cap="flat" cmpd="sng" algn="ctr">
            <a:solidFill>
              <a:schemeClr val="accent1"/>
            </a:solidFill>
            <a:prstDash val="dash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813816" y="3602736"/>
            <a:ext cx="109728" cy="109728"/>
          </a:xfrm>
          <a:prstGeom prst="ellipse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182879" y="24231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60">
                <a:solidFill>
                  <a:srgbClr val="002FA7"/>
                </a:solidFill>
                <a:latin typeface="Arial" panose="020B0604020202090204"/>
                <a:ea typeface="微软雅黑"/>
              </a:rPr>
              <a:t>M0–6 · MVP</a:t>
            </a:r>
            <a:endParaRPr sz="900" b="0" i="0" spc="6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-182879" y="26974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002FA7"/>
                </a:solidFill>
                <a:latin typeface="Arial" panose="020B0604020202090204"/>
                <a:ea typeface="微软雅黑"/>
              </a:rPr>
              <a:t>验证核心壁垒</a:t>
            </a:r>
            <a:endParaRPr sz="1200" b="0" i="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-228599" y="3090672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2雷达·跌倒≥90%·误报&lt;2次/周·内测5–8户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465576" y="3602736"/>
            <a:ext cx="109728" cy="10972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385876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60">
                <a:solidFill>
                  <a:srgbClr val="737373"/>
                </a:solidFill>
                <a:latin typeface="Arial" panose="020B0604020202090204"/>
                <a:ea typeface="微软雅黑"/>
              </a:rPr>
              <a:t>M6–12</a:t>
            </a:r>
            <a:endParaRPr sz="900" b="0" i="0" spc="6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468880" y="413308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商用启动</a:t>
            </a:r>
            <a:endParaRPr sz="1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23160" y="45262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全屋套上线·1000户·高级订阅·iOS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117336" y="3602736"/>
            <a:ext cx="109728" cy="10972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24231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60">
                <a:solidFill>
                  <a:srgbClr val="737373"/>
                </a:solidFill>
                <a:latin typeface="Arial" panose="020B0604020202090204"/>
                <a:ea typeface="微软雅黑"/>
              </a:rPr>
              <a:t>M12–18</a:t>
            </a:r>
            <a:endParaRPr sz="900" b="0" i="0" spc="6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120640" y="26974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规模化+降本</a:t>
            </a:r>
            <a:endParaRPr sz="1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074920" y="3090672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5000户·国产SoC样机·步态预测·启动A轮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69095" y="3602736"/>
            <a:ext cx="109728" cy="109728"/>
          </a:xfrm>
          <a:prstGeom prst="ellipse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399" y="385876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60">
                <a:solidFill>
                  <a:srgbClr val="002FA7"/>
                </a:solidFill>
                <a:latin typeface="Arial" panose="020B0604020202090204"/>
                <a:ea typeface="微软雅黑"/>
              </a:rPr>
              <a:t>Phase 3 · 18M+</a:t>
            </a:r>
            <a:endParaRPr sz="900" b="0" i="0" spc="6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772399" y="413308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002FA7"/>
                </a:solidFill>
                <a:latin typeface="Arial" panose="020B0604020202090204"/>
                <a:ea typeface="微软雅黑"/>
              </a:rPr>
              <a:t>单位经济转正</a:t>
            </a:r>
            <a:endParaRPr sz="1200" b="0" i="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26679" y="45262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BOM425→110·LTV/CAC→2.19·B端数据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1420855" y="3602736"/>
            <a:ext cx="109728" cy="10972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9" y="242316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 spc="60">
                <a:solidFill>
                  <a:srgbClr val="737373"/>
                </a:solidFill>
                <a:latin typeface="Arial" panose="020B0604020202090204"/>
                <a:ea typeface="微软雅黑"/>
              </a:rPr>
              <a:t>获客渠道</a:t>
            </a:r>
            <a:endParaRPr sz="900" b="0" i="0" spc="6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424159" y="26974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低成本组合</a:t>
            </a:r>
            <a:endParaRPr sz="12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378440" y="3090672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子女社群·适老化补贴·机构分销</a:t>
            </a:r>
            <a:endParaRPr sz="85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737373"/>
                </a:solidFill>
                <a:latin typeface="Arial" panose="020B0604020202090204"/>
                <a:ea typeface="微软雅黑"/>
              </a:rPr>
              <a:t>MVP 6 个月预算约 100 万（人力 90 万 + 设备/云 10 万），对应本轮融资第一阶段。</a:t>
            </a:r>
            <a:endParaRPr sz="900" b="0" i="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Team · 团队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13 / 15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002FA7"/>
                </a:solidFill>
                <a:latin typeface="Arial" panose="020B0604020202090204"/>
                <a:ea typeface="微软雅黑"/>
              </a:rPr>
              <a:t>WHY THIS TEAM</a:t>
            </a:r>
            <a:endParaRPr sz="1050" b="1" i="0" spc="15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跨学科，是核心门槛</a:t>
            </a:r>
            <a:endParaRPr sz="2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3194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404040"/>
                </a:solidFill>
                <a:latin typeface="Arial" panose="020B0604020202090204"/>
                <a:ea typeface="微软雅黑"/>
              </a:rPr>
              <a:t>壁垒的核心不在算法本身（算法可复现），而在标注数据积累 + 三种能力的团队组合——花钱短期难复制。</a:t>
            </a:r>
            <a:endParaRPr sz="1600" b="0" i="0">
              <a:solidFill>
                <a:srgbClr val="404040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3602736" cy="23774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704088" y="2688336"/>
            <a:ext cx="3236976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02FA7"/>
                </a:solidFill>
                <a:latin typeface="Arial" panose="020B0604020202090204"/>
                <a:ea typeface="微软雅黑"/>
              </a:rPr>
              <a:t>01</a:t>
            </a:r>
            <a:endParaRPr sz="4000" b="0" i="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04088" y="3520440"/>
            <a:ext cx="3200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雷达信号处理</a:t>
            </a:r>
            <a:endParaRPr sz="20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04088" y="3977639"/>
            <a:ext cx="3200400" cy="5803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从稀疏点云稳定提取多维特征，理解毫米波雷达物理、噪声模型与多径鬼影。</a:t>
            </a:r>
            <a:endParaRPr sz="14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25112" y="2468880"/>
            <a:ext cx="3602736" cy="23774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4526279" y="2688336"/>
            <a:ext cx="3236976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02FA7"/>
                </a:solidFill>
                <a:latin typeface="Arial" panose="020B0604020202090204"/>
                <a:ea typeface="微软雅黑"/>
              </a:rPr>
              <a:t>02</a:t>
            </a:r>
            <a:endParaRPr sz="4000" b="0" i="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79" y="3520440"/>
            <a:ext cx="3200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点云深度学习</a:t>
            </a:r>
            <a:endParaRPr sz="20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26279" y="3977639"/>
            <a:ext cx="3200400" cy="5803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稀疏点云时序表示学习、端到端跌倒检测、微多普勒步态建模，云端 GPU 深度模型。</a:t>
            </a:r>
            <a:endParaRPr sz="14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147304" y="2468880"/>
            <a:ext cx="3602736" cy="23774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8348472" y="2688336"/>
            <a:ext cx="3236976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002FA7"/>
                </a:solidFill>
                <a:latin typeface="Arial" panose="020B0604020202090204"/>
                <a:ea typeface="微软雅黑"/>
              </a:rPr>
              <a:t>03</a:t>
            </a:r>
            <a:endParaRPr sz="4000" b="0" i="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48472" y="3520440"/>
            <a:ext cx="3200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老年医学认知</a:t>
            </a:r>
            <a:endParaRPr sz="20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48472" y="3977639"/>
            <a:ext cx="3200400" cy="871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把呼吸/心率/活动/如厕指标翻译成"建议就医/关注"的临床关联，守住不做诊断的合规边界。</a:t>
            </a:r>
            <a:endParaRPr sz="140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502920" y="512064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257800"/>
            <a:ext cx="11155680" cy="6642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MVP 团队 5 人 ｜ 产品+架构（创始人）· 嵌入式/边缘 · 后端（Python/时序库）· AI/ML · iOS；6 个月人力约 90 万，第 2/3 年扩至 8/12 人。</a:t>
            </a:r>
            <a:endParaRPr sz="16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The Ask · 融资计划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14 / 15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5B7BFF"/>
                </a:solidFill>
                <a:latin typeface="Arial" panose="020B0604020202090204"/>
                <a:ea typeface="微软雅黑"/>
              </a:rPr>
              <a:t>SEED ROUND</a:t>
            </a:r>
            <a:endParaRPr sz="1050" b="1" i="0" spc="150">
              <a:solidFill>
                <a:srgbClr val="5B7B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005840"/>
            <a:ext cx="11155680" cy="1120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25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融资计划</a:t>
            </a:r>
            <a:endParaRPr sz="25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2920" y="1965960"/>
            <a:ext cx="2651760" cy="27432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4027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10">
                <a:solidFill>
                  <a:srgbClr val="FFFFFF"/>
                </a:solidFill>
                <a:latin typeface="Arial" panose="020B0604020202090204"/>
                <a:ea typeface="微软雅黑"/>
              </a:rPr>
              <a:t>融资额</a:t>
            </a:r>
            <a:endParaRPr sz="900" b="0" i="0" spc="11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2286000" cy="4616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0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3</a:t>
            </a:r>
            <a:r>
              <a:rPr sz="30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00万</a:t>
            </a:r>
            <a:endParaRPr sz="30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2286000" cy="379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出让</a:t>
            </a:r>
            <a:r>
              <a:rPr lang="zh-CN" sz="95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股权</a:t>
            </a:r>
            <a:r>
              <a:rPr sz="95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约 15–20%（</a:t>
            </a:r>
            <a:r>
              <a:rPr lang="zh-CN" sz="95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最终以</a:t>
            </a:r>
            <a:r>
              <a:rPr sz="95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投前估值</a:t>
            </a:r>
            <a:r>
              <a:rPr lang="zh-CN" sz="95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为准</a:t>
            </a:r>
            <a:r>
              <a:rPr sz="950" b="0" i="0">
                <a:solidFill>
                  <a:srgbClr val="ECF0FB"/>
                </a:solidFill>
                <a:latin typeface="Arial" panose="020B0604020202090204"/>
                <a:ea typeface="微软雅黑"/>
              </a:rPr>
              <a:t>）</a:t>
            </a:r>
            <a:endParaRPr sz="950" b="0" i="0">
              <a:solidFill>
                <a:srgbClr val="ECF0FB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328415" y="1965960"/>
            <a:ext cx="2651760" cy="27432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224027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跑道</a:t>
            </a:r>
            <a:endParaRPr sz="9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11296" y="278892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18个月</a:t>
            </a:r>
            <a:endParaRPr sz="28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11296" y="370332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覆盖 MVP 验证到国产 SoC 降本拐点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53912" y="1965960"/>
            <a:ext cx="2651760" cy="27432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224027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资金用途</a:t>
            </a:r>
            <a:endParaRPr sz="9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36792" y="2697480"/>
            <a:ext cx="22860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研发/团队 50%
供应链 / 流片 20%
获客 20%
云 · 数据 · 其他 10%</a:t>
            </a:r>
            <a:endParaRPr sz="11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979408" y="1965960"/>
            <a:ext cx="2651760" cy="27432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224027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spc="110">
                <a:solidFill>
                  <a:srgbClr val="737373"/>
                </a:solidFill>
                <a:latin typeface="Arial" panose="020B0604020202090204"/>
                <a:ea typeface="微软雅黑"/>
              </a:rPr>
              <a:t>关键里程碑</a:t>
            </a:r>
            <a:endParaRPr sz="900" b="0" i="0" spc="11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62288" y="2697480"/>
            <a:ext cx="22860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5000 户装机
国产 SoC 降本样机
误报&lt;2次/周/户
启动 A 轮</a:t>
            </a:r>
            <a:endParaRPr sz="11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02920" y="6327648"/>
            <a:ext cx="11183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政策背书：国办发〔2024〕1 号明确"家庭配备智能安全监护设备"；毫米波雷达跌倒/生命体征监测已入工信部/民政部/卫健委《智慧健康养老产品及服务推广目录》——产品即国家鼓励品类，可争取申报入选。</a:t>
            </a:r>
            <a:endParaRPr sz="9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FFFFFF"/>
                </a:solidFill>
                <a:latin typeface="Arial" panose="020B0604020202090204"/>
                <a:ea typeface="微软雅黑"/>
              </a:rPr>
              <a:t>Vision · 愿景</a:t>
            </a:r>
            <a:endParaRPr sz="950" b="0" i="0" spc="12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FFFFFF"/>
                </a:solidFill>
                <a:latin typeface="Arial" panose="020B0604020202090204"/>
                <a:ea typeface="微软雅黑"/>
              </a:rPr>
              <a:t>TEN-YEAR VISION</a:t>
            </a:r>
            <a:endParaRPr sz="1050" b="1" i="0" spc="15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49377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27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从跌倒监测切入，</a:t>
            </a:r>
            <a:endParaRPr sz="27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  <a:p>
            <a:pPr>
              <a:lnSpc>
                <a:spcPct val="110000"/>
              </a:lnSpc>
            </a:pPr>
            <a:r>
              <a:rPr sz="27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做居家养老的</a:t>
            </a:r>
            <a:endParaRPr sz="27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  <a:p>
            <a:pPr>
              <a:lnSpc>
                <a:spcPct val="110000"/>
              </a:lnSpc>
            </a:pPr>
            <a:r>
              <a:rPr sz="2700" b="0" i="1">
                <a:solidFill>
                  <a:srgbClr val="FFFFFF"/>
                </a:solidFill>
                <a:latin typeface="Arial" panose="020B0604020202090204"/>
                <a:ea typeface="微软雅黑"/>
              </a:rPr>
              <a:t>健康基础设施</a:t>
            </a:r>
            <a:endParaRPr sz="2700" b="0" i="1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4023360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DE4F5"/>
                </a:solidFill>
                <a:latin typeface="Arial" panose="020B0604020202090204"/>
                <a:ea typeface="微软雅黑"/>
              </a:rPr>
              <a:t>中国正进入深度老龄化，未来二十年数以亿计的老人在家养老，他们的健康对子女、对医疗养老体系长期是盲区。家安用持续、连续的居家健康数据把盲区补上。</a:t>
            </a:r>
            <a:endParaRPr sz="1000" b="0" i="0">
              <a:solidFill>
                <a:srgbClr val="DDE4F5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59436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 panose="020B0604020202090204"/>
                <a:ea typeface="微软雅黑"/>
              </a:rPr>
              <a:t>让每个在家变老的人，被持续看见、被及时守护。</a:t>
            </a:r>
            <a:endParaRPr sz="1100" b="0" i="0">
              <a:solidFill>
                <a:srgbClr val="FFFFFF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66560" y="32918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spc="120">
                <a:solidFill>
                  <a:srgbClr val="737373"/>
                </a:solidFill>
                <a:latin typeface="Arial" panose="020B0604020202090204"/>
                <a:ea typeface="微软雅黑"/>
              </a:rPr>
              <a:t>TAKEAWAYS</a:t>
            </a:r>
            <a:endParaRPr sz="950" b="0" i="0" spc="12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66560" y="14630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002FA7"/>
                </a:solidFill>
                <a:latin typeface="Arial" panose="020B0604020202090204"/>
                <a:ea typeface="微软雅黑"/>
              </a:rPr>
              <a:t>01</a:t>
            </a:r>
            <a:endParaRPr sz="1000" b="1" i="0" spc="10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66560" y="1755648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切入点足够痛</a:t>
            </a:r>
            <a:endParaRPr sz="1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66560" y="217627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2.2 亿老人、跌倒首位死因、现有方案全失效。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66560" y="28346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002FA7"/>
                </a:solidFill>
                <a:latin typeface="Arial" panose="020B0604020202090204"/>
                <a:ea typeface="微软雅黑"/>
              </a:rPr>
              <a:t>02</a:t>
            </a:r>
            <a:endParaRPr sz="1000" b="1" i="0" spc="10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766560" y="3127248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壁垒足够深</a:t>
            </a:r>
            <a:endParaRPr sz="1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766560" y="354787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世界模型 + 数据飞轮，越用越准、短期难复制。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766560" y="4206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002FA7"/>
                </a:solidFill>
                <a:latin typeface="Arial" panose="020B0604020202090204"/>
                <a:ea typeface="微软雅黑"/>
              </a:rPr>
              <a:t>03</a:t>
            </a:r>
            <a:endParaRPr sz="1000" b="1" i="0" spc="100">
              <a:solidFill>
                <a:srgbClr val="002FA7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766560" y="4498848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Arial" panose="020B0604020202090204"/>
                <a:ea typeface="微软雅黑"/>
              </a:rPr>
              <a:t>路径足够清</a:t>
            </a:r>
            <a:endParaRPr sz="1500" b="0" i="0">
              <a:solidFill>
                <a:srgbClr val="0A0A0A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66560" y="4919472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444444"/>
                </a:solidFill>
                <a:latin typeface="Arial" panose="020B0604020202090204"/>
                <a:ea typeface="微软雅黑"/>
              </a:rPr>
              <a:t>买断获客 → 降本转正 → 数据变现，自洽可信。</a:t>
            </a:r>
            <a:endParaRPr sz="950" b="0" i="0">
              <a:solidFill>
                <a:srgbClr val="444444"/>
              </a:solidFill>
              <a:latin typeface="Arial" panose="020B0604020202090204"/>
              <a:ea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66560" y="630936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 spc="100">
                <a:solidFill>
                  <a:srgbClr val="737373"/>
                </a:solidFill>
                <a:latin typeface="Arial" panose="020B0604020202090204"/>
                <a:ea typeface="微软雅黑"/>
              </a:rPr>
              <a:t>家安 housafe · 天使轮 800 万</a:t>
            </a:r>
            <a:endParaRPr sz="900" b="0" i="0" spc="100">
              <a:solidFill>
                <a:srgbClr val="737373"/>
              </a:solidFill>
              <a:latin typeface="Arial" panose="020B0604020202090204"/>
              <a:ea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5575</Words>
  <Application>WPS 文字</Application>
  <PresentationFormat>On-screen Show (4:3)</PresentationFormat>
  <Paragraphs>563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微软雅黑</vt:lpstr>
      <vt:lpstr>汉仪书宋二KW</vt:lpstr>
      <vt:lpstr>宋体</vt:lpstr>
      <vt:lpstr>Arial Unicode MS</vt:lpstr>
      <vt:lpstr>微软雅黑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Lluvia en Macondo</cp:lastModifiedBy>
  <cp:revision>2</cp:revision>
  <dcterms:created xsi:type="dcterms:W3CDTF">2026-07-12T15:42:13Z</dcterms:created>
  <dcterms:modified xsi:type="dcterms:W3CDTF">2026-07-12T15:42:13Z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F95B08147A2415B9D5B5536A903766DA_42</vt:lpwstr>
  </property>
</Properties>
</file>