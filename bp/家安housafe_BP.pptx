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家安 housafe · 商业计划书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Arial"/>
                <a:ea typeface="微软雅黑"/>
              </a:rPr>
              <a:t>HOUSAFE · 居家养老 AI 健康守护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15488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600" b="0" i="0">
                <a:solidFill>
                  <a:srgbClr val="FFFFFF"/>
                </a:solidFill>
                <a:latin typeface="Arial"/>
                <a:ea typeface="微软雅黑"/>
              </a:rPr>
              <a:t>让每一位独居老人，被持续看见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3017520"/>
            <a:ext cx="11548872" cy="0"/>
          </a:xfrm>
          <a:prstGeom prst="bentConnector3">
            <a:avLst/>
          </a:prstGeom>
          <a:ln w="12700">
            <a:solidFill>
              <a:srgbClr val="6E8A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3200400"/>
            <a:ext cx="11548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毫米波雷达组网，不拍视频、不用穿戴——AI 感知老人在家状态，异常分级通知异地子女。从跌倒监测切入，做居家养老的健康基础设施。专为独居老人设计，夫妻同居场景提供基础报警。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206240"/>
            <a:ext cx="11548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D5DDF2"/>
                </a:solidFill>
                <a:latin typeface="Arial"/>
                <a:ea typeface="微软雅黑"/>
              </a:rPr>
              <a:t>硬件 299–799 元一次买断 · 高级健康服务 199 元/年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98848"/>
            <a:ext cx="11548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10">
                <a:solidFill>
                  <a:srgbClr val="D5DDF2"/>
                </a:solidFill>
                <a:latin typeface="Arial"/>
                <a:ea typeface="微软雅黑"/>
              </a:rPr>
              <a:t>天使轮 · 拟融资 800 万人民币 / 18 个月跑道 · 出让约 15–20%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791455"/>
            <a:ext cx="11548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10">
                <a:solidFill>
                  <a:srgbClr val="FFFFFF"/>
                </a:solidFill>
                <a:latin typeface="Arial"/>
                <a:ea typeface="微软雅黑"/>
              </a:rPr>
              <a:t>housafe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Executive Summary · 机会速览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一页看懂家安 housafe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749039" cy="1783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737373"/>
                </a:solidFill>
                <a:latin typeface="Arial"/>
                <a:ea typeface="微软雅黑"/>
              </a:rPr>
              <a:t>01 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2.2 亿独居/空巢老人的跌倒检测盲区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跌倒是 65+ 伤害死亡首位原因。约 30% 每年至少跌倒一次、年逾 4000 万人。47% 摔倒后无法自行起身，20–30% 倒地超 1 小时。异地子女无从知晓。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25880"/>
            <a:ext cx="3749039" cy="1783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737373"/>
                </a:solidFill>
                <a:latin typeface="Arial"/>
                <a:ea typeface="微软雅黑"/>
              </a:rPr>
              <a:t>02 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18488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银发经济 7 万亿 → 30 万亿（2035E）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84248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智能养老设备 2025 约 1840 亿、年增约 20%。健康监测可穿戴 25H1 出货 +53.6%。国办发〔2024〕1 号明确写入"家庭配备智能安全监护设备"。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3749039" cy="1783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737373"/>
                </a:solidFill>
                <a:latin typeface="Arial"/>
                <a:ea typeface="微软雅黑"/>
              </a:rPr>
              <a:t>03 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18488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全屋毫米波雷达组网，无感守护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84248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2–4 个雷达组网，Φ85mm 像烟雾探测器，15 分钟自装。不穿戴、不操作、无摄像头。AI 识别跌倒/静止/体征异常/模式偏离四类事件，分级通知子女。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18687"/>
            <a:ext cx="3749039" cy="1783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10127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737373"/>
                </a:solidFill>
                <a:latin typeface="Arial"/>
                <a:ea typeface="微软雅黑"/>
              </a:rPr>
              <a:t>04 壁垒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11295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ELPD 统一隐空间世界模型 + 数据飞轮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77055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自研 Encoder 从原始点云提取全维度信号，云端 GPU 深度时序模型，自监督持续进化。多雷达聚合全屋画像，14 天个人基线，越用越准。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218687"/>
            <a:ext cx="3749039" cy="17830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310127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737373"/>
                </a:solidFill>
                <a:latin typeface="Arial"/>
                <a:ea typeface="微软雅黑"/>
              </a:rPr>
              <a:t>05 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511295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硬件买断获客 + 订阅服务盈利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77055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硬件 299–799 元一次买断（微利），高级健康服务 199 元/年（高毛利，约 90%）。早期 LTV/CAC=0.77，国产 SoC 降本后转正到 2.19。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218687"/>
            <a:ext cx="3749039" cy="17830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310127"/>
            <a:ext cx="35204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100">
                <a:solidFill>
                  <a:srgbClr val="FFFFFF"/>
                </a:solidFill>
                <a:latin typeface="Arial"/>
                <a:ea typeface="微软雅黑"/>
              </a:rPr>
              <a:t>06 融资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511295"/>
            <a:ext cx="3474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天使轮 800 万 · 18 个月跑道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77055"/>
            <a:ext cx="3474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ECF0FB"/>
                </a:solidFill>
                <a:latin typeface="Arial"/>
                <a:ea typeface="微软雅黑"/>
              </a:rPr>
              <a:t>覆盖 MVP 验证到国产 SoC 降本样机。达成数千户商用与数据飞轮，为 A 轮铺路。出让约 15–20%，投前估值约 3200–4500 万。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327648"/>
            <a:ext cx="115488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737373"/>
                </a:solidFill>
                <a:latin typeface="Arial"/>
                <a:ea typeface="微软雅黑"/>
              </a:rPr>
              <a:t>数据来源：民政部《2024 国家老龄事业发展公报》· CDC《老年人跌倒干预技术指南》· 《银发经济蓝皮书(2024)》· 中商产业研究院(2025) · IDC(2025H1)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The Problem · 需求痛点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Arial"/>
                <a:ea typeface="微软雅黑"/>
              </a:rPr>
              <a:t>被忽视的高频高危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Arial"/>
                <a:ea typeface="微软雅黑"/>
              </a:rPr>
              <a:t>每 3 位老人</a:t>
            </a:r>
          </a:p>
          <a:p>
            <a:pPr>
              <a:lnSpc>
                <a:spcPct val="105000"/>
              </a:lnSpc>
            </a:pPr>
            <a:r>
              <a:rPr sz="3000" b="0" i="0">
                <a:solidFill>
                  <a:srgbClr val="FFFFFF"/>
                </a:solidFill>
                <a:latin typeface="Arial"/>
                <a:ea typeface="微软雅黑"/>
              </a:rPr>
              <a:t>就有 1 人</a:t>
            </a:r>
          </a:p>
          <a:p>
            <a:pPr>
              <a:lnSpc>
                <a:spcPct val="105000"/>
              </a:lnSpc>
            </a:pPr>
            <a:r>
              <a:rPr sz="3000" b="0" i="1">
                <a:solidFill>
                  <a:srgbClr val="FFFFFF"/>
                </a:solidFill>
                <a:latin typeface="Arial"/>
                <a:ea typeface="微软雅黑"/>
              </a:rPr>
              <a:t>每年跌倒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2004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C8C8C8"/>
                </a:solidFill>
                <a:latin typeface="Arial"/>
                <a:ea typeface="微软雅黑"/>
              </a:rPr>
              <a:t>2.2 亿 65+ 老人（占 15.6%，2035 年约 3 亿）。90% 居家养老。独居/空巢约 1.2 亿——父母是否安好，异地子女无从知晓。跌倒是 65+ 伤害死亡首位、创伤性骨折首位。独居老人倒下后，抢救黄金期在无人知晓中流逝。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1188720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1280160"/>
            <a:ext cx="6382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737373"/>
                </a:solidFill>
                <a:latin typeface="Arial"/>
                <a:ea typeface="微软雅黑"/>
              </a:rPr>
              <a:t>年跌倒人数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6382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  <a:ea typeface="微软雅黑"/>
              </a:rPr>
              <a:t>4000万+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65960"/>
            <a:ext cx="6382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C8C8C8"/>
                </a:solidFill>
                <a:latin typeface="Arial"/>
                <a:ea typeface="微软雅黑"/>
              </a:rPr>
              <a:t>约 30% 每年至少跌倒一次。跌倒是伤害死亡首位、创伤性骨折首位。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0" y="2514600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0" y="2606040"/>
            <a:ext cx="6382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737373"/>
                </a:solidFill>
                <a:latin typeface="Arial"/>
                <a:ea typeface="微软雅黑"/>
              </a:rPr>
              <a:t>摔倒后无法自行起身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70632"/>
            <a:ext cx="63825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Arial"/>
                <a:ea typeface="微软雅黑"/>
              </a:rP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91840"/>
            <a:ext cx="6382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C8C8C8"/>
                </a:solidFill>
                <a:latin typeface="Arial"/>
                <a:ea typeface="微软雅黑"/>
              </a:rPr>
              <a:t>20–30% 倒地超 1 小时。髋部骨折 1 年死亡率 14–25%，人均住院约 1.98 万元。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3840480"/>
            <a:ext cx="638251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0" y="3931920"/>
            <a:ext cx="6382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737373"/>
                </a:solidFill>
                <a:latin typeface="Arial"/>
                <a:ea typeface="微软雅黑"/>
              </a:rPr>
              <a:t>现有方案为什么不行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187952"/>
            <a:ext cx="6382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BBBBBB"/>
                </a:solidFill>
                <a:latin typeface="Arial"/>
                <a:ea typeface="微软雅黑"/>
              </a:rPr>
              <a:t>摄像头 — 浴室卧室不可装，隐私争议大，老人抵触强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480560"/>
            <a:ext cx="6382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BBBBBB"/>
                </a:solidFill>
                <a:latin typeface="Arial"/>
                <a:ea typeface="微软雅黑"/>
              </a:rPr>
              <a:t>手环/手表 — 依从性仅 30–50%，忘戴、洗澡取下、充电时失效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73168"/>
            <a:ext cx="6382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BBBBBB"/>
                </a:solidFill>
                <a:latin typeface="Arial"/>
                <a:ea typeface="微软雅黑"/>
              </a:rPr>
              <a:t>紧急按钮 — 摔倒后够不到，意识丧失时完全无效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065776"/>
            <a:ext cx="63825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BBBBBB"/>
                </a:solidFill>
                <a:latin typeface="Arial"/>
                <a:ea typeface="微软雅黑"/>
              </a:rPr>
              <a:t>现有雷达 — 单房间覆盖、误报率高、精度出厂定型、无长期趋势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9224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FFFFFF"/>
                </a:solidFill>
                <a:latin typeface="Arial"/>
                <a:ea typeface="微软雅黑"/>
              </a:rPr>
              <a:t>来源：民政部《2024 国家老龄事业发展公报》· CDC《老年人跌倒干预技术指南》(2011)/《核心信息》(2021) · BMJ Long-lie 研究(2023)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The Market · 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一个正在爆发的银发健康市场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11548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银发经济 2024 约 7 万亿 → 2035 约 30 万亿（CAGR≈15%）。我们切入其中一块具体刚需：独居老人室内无感监测。需求、供给、政策三端同时在 2024–2025 年到位。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39"/>
            <a:ext cx="2788920" cy="27432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5447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FFFFFF"/>
                </a:solidFill>
                <a:latin typeface="Arial"/>
                <a:ea typeface="微软雅黑"/>
              </a:rPr>
              <a:t>TAM · 银发经济 2035E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83079"/>
            <a:ext cx="2606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rial"/>
                <a:ea typeface="微软雅黑"/>
              </a:rPr>
              <a:t>30 万亿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70332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DDE4F5"/>
                </a:solidFill>
                <a:latin typeface="Arial"/>
                <a:ea typeface="微软雅黑"/>
              </a:rPr>
              <a:t>2024 约 7 万亿，CAGR≈15%
占 GDP 6%→10%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560320"/>
            <a:ext cx="2788920" cy="16459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2651760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737373"/>
                </a:solidFill>
                <a:latin typeface="Arial"/>
                <a:ea typeface="微软雅黑"/>
              </a:rPr>
              <a:t>SAM · 智能养老设备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880360"/>
            <a:ext cx="2606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0A0A0A"/>
                </a:solidFill>
                <a:latin typeface="Arial"/>
                <a:ea typeface="微软雅黑"/>
              </a:rPr>
              <a:t>≈2400 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370332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设备 1840 亿 + 适老化
≈600 亿（2025），年增≈20%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2194559"/>
            <a:ext cx="2788920" cy="201168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228599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737373"/>
                </a:solidFill>
                <a:latin typeface="Arial"/>
                <a:ea typeface="微软雅黑"/>
              </a:rPr>
              <a:t>刚需人群 · 年跌倒人次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514599"/>
            <a:ext cx="2606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0A0A0A"/>
                </a:solidFill>
                <a:latin typeface="Arial"/>
                <a:ea typeface="微软雅黑"/>
              </a:rPr>
              <a:t>4000 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70332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65+ 老人跌倒/年
居家场景最刚性需求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3017520"/>
            <a:ext cx="2788920" cy="1188720"/>
          </a:xfrm>
          <a:prstGeom prst="rect">
            <a:avLst/>
          </a:prstGeom>
          <a:solidFill>
            <a:srgbClr val="FAFAF8"/>
          </a:solidFill>
          <a:ln w="1270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3108960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737373"/>
                </a:solidFill>
                <a:latin typeface="Arial"/>
                <a:ea typeface="微软雅黑"/>
              </a:rPr>
              <a:t>需求信号 · 出货增速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3337560"/>
            <a:ext cx="2606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0A0A0A"/>
                </a:solidFill>
                <a:latin typeface="Arial"/>
                <a:ea typeface="微软雅黑"/>
              </a:rPr>
              <a:t>+53.6%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1" y="370332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健康监测可穿戴 25H1 出货
市场用钱投票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" y="443484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" y="4526280"/>
            <a:ext cx="115488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00">
                <a:solidFill>
                  <a:srgbClr val="002FA7"/>
                </a:solidFill>
                <a:latin typeface="Arial"/>
                <a:ea typeface="微软雅黑"/>
              </a:rPr>
              <a:t>Why Now — 四个同时到位的驱动力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773168"/>
            <a:ext cx="5669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① 雷达降本：60GHz SoC 从千元级走向百元内，消费级定价成为可能。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773168"/>
            <a:ext cx="5669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② AI 成熟：云端深度模型处理稀疏点云可行，GPU 推理成本降至可接受范围。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157216"/>
            <a:ext cx="5669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③ 老龄化拐点：65+ 已 2.2 亿（15.6%），深度老龄化社会，独居/空巢超半数。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5157216"/>
            <a:ext cx="5669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④ 政策明确：国办发〔2024〕1 号写入"家庭配备智能安全监护设备"。毫米波雷达已入工信部/民政部/卫健委《推广目录》。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来源：《银发经济蓝皮书(2024)》社科文献出版社 · 中商产业研究院(2025) · IDC(2025H1) · 国办发〔2024〕1 号。市场金额为机构测算。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The Product ·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全屋雷达组网，无感守护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4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333333"/>
                </a:solidFill>
                <a:latin typeface="Arial"/>
                <a:ea typeface="微软雅黑"/>
              </a:rPr>
              <a:t>子女带回家，一人操作、15 分钟装完、无需工具。雷达 7×24 采集，云端 AI 识别异常，异地子女第一时间知道。老人不穿戴、不操作——对外只说是"自动感应开灯的"。系统检测到长期两人同住时自动降级为基础报警模式。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783080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182880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37373"/>
                </a:solidFill>
                <a:latin typeface="Arial"/>
                <a:ea typeface="微软雅黑"/>
              </a:rPr>
              <a:t>01 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28800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Arial"/>
                <a:ea typeface="微软雅黑"/>
              </a:rPr>
              <a:t>毫米波雷达组网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75688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Φ85mm 白色感应器，小于烟雾探测器。天花板/墙壁 3M 磁吸安装，2.4G WiFi 直连云，USB-C 供电 &lt; 2W，全年电费 &lt; 40 元。采集姿态、活动、呼吸、心率。安装配件包含底座、线卡、定位卡纸。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" y="2953512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" y="299923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37373"/>
                </a:solidFill>
                <a:latin typeface="Arial"/>
                <a:ea typeface="微软雅黑"/>
              </a:rPr>
              <a:t>02 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99232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Arial"/>
                <a:ea typeface="微软雅黑"/>
              </a:rPr>
              <a:t>云端 AI 点云理解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46120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原始点云通过 WiFi 直传云端，GPU 自研模型从点云中同时提取姿态序列、速度分布、点云形变、微多普勒谱、生命体征、活动片段六类信号。识别跌倒/长时间静止/体征异常/模式偏离四类事件。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" y="4123944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4169663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37373"/>
                </a:solidFill>
                <a:latin typeface="Arial"/>
                <a:ea typeface="微软雅黑"/>
              </a:rPr>
              <a:t>03 判决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69663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Arial"/>
                <a:ea typeface="微软雅黑"/>
              </a:rPr>
              <a:t>延迟确认降误报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416552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跌倒初判后等 3–5 秒观察后续行为，多雷达交叉验证，结合 14 天个人基线。区分真摔与快速坐下/蹲下/弯腰捡物——这是厂商固件做不到的，因为固件没有个人的"正常"做参照。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" y="5294376"/>
            <a:ext cx="7132320" cy="0"/>
          </a:xfrm>
          <a:prstGeom prst="bentConnector3">
            <a:avLst/>
          </a:prstGeom>
          <a:ln w="19050">
            <a:solidFill>
              <a:srgbClr val="002F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" y="5340096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80">
                <a:solidFill>
                  <a:srgbClr val="737373"/>
                </a:solidFill>
                <a:latin typeface="Arial"/>
                <a:ea typeface="微软雅黑"/>
              </a:rPr>
              <a:t>04 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340096"/>
            <a:ext cx="5669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Arial"/>
                <a:ea typeface="微软雅黑"/>
              </a:rPr>
              <a:t>分级触达子女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586984"/>
            <a:ext cx="5669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不提 / App 推送 / 强推+短信 / 电话四级。紧急事件（跌倒）同时短信+电话。日常模式偏离（活动量连续下降、睡眠恶化）以周报形式呈现，不实时骚扰。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1783080"/>
            <a:ext cx="4050791" cy="2999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1874519"/>
            <a:ext cx="38313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002FA7"/>
                </a:solidFill>
                <a:latin typeface="Arial"/>
                <a:ea typeface="微软雅黑"/>
              </a:rPr>
              <a:t>六大核心场景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121408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S1 浴室跌倒 → 强推+短信+电话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2468879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S2 蹲下捡物 → 3–5 秒延迟确认，不误报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2816352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S3 卧室静止超时 → 推送提醒子女查看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3163824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S4 连续 3 天活动量 &lt; 基线 50% → 建议关注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3511296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S5 首页卡片："昨夜睡眠 7.2h，起床 6:40，正常"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3858768"/>
            <a:ext cx="38313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S6 导出 30 天趋势 PDF 供就医参考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4892040"/>
            <a:ext cx="4050791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7848" y="4956048"/>
            <a:ext cx="38313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00">
                <a:solidFill>
                  <a:srgbClr val="FFFFFF"/>
                </a:solidFill>
                <a:latin typeface="Arial"/>
                <a:ea typeface="微软雅黑"/>
              </a:rPr>
              <a:t>硬边界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5138928"/>
            <a:ext cx="38313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CCCCCC"/>
                </a:solidFill>
                <a:latin typeface="Arial"/>
                <a:ea typeface="微软雅黑"/>
              </a:rPr>
              <a:t>无摄像头 / 无视频  ·  不做医学诊断  ·  不做 120 调度
不测血压 / 血氧 / 血糖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核心价值：无感 · 准 · 有预判 · 不骚扰。独居为核心设计场景，夫妻同居提供基础紧急报警。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The Core Tech · 统一隐空间世界模型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5B7BFF"/>
                </a:solidFill>
                <a:latin typeface="Arial"/>
                <a:ea typeface="微软雅黑"/>
              </a:rPr>
              <a:t>THE CORE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360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800" b="0" i="0">
                <a:solidFill>
                  <a:srgbClr val="FFFFFF"/>
                </a:solidFill>
                <a:latin typeface="Arial"/>
                <a:ea typeface="微软雅黑"/>
              </a:rPr>
              <a:t>ELPD 架构：Encoder → Latent Space → Predictor → Decoders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15568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CCCCCC"/>
                </a:solidFill>
                <a:latin typeface="Arial"/>
                <a:ea typeface="微软雅黑"/>
              </a:rPr>
              <a:t>成品雷达模块在固件里算完，只输出"跌倒/未跌倒"，中间数据全部丢弃。家安不买"答案"，直接拿"原材料"——原始点云 WiFi 上云，跑自研深度模型。ELPD 用一个隐空间统一表征所有信号，所有任务从同一隐空间读取，信息零丢弃。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" y="1600200"/>
            <a:ext cx="2423160" cy="14173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1673352"/>
            <a:ext cx="224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" y="1947672"/>
            <a:ext cx="2240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CCD8F0"/>
                </a:solidFill>
                <a:latin typeface="Arial"/>
                <a:ea typeface="微软雅黑"/>
              </a:rPr>
              <a:t>编码器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" y="2130552"/>
            <a:ext cx="224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DDE4F5"/>
                </a:solidFill>
                <a:latin typeface="Arial"/>
                <a:ea typeface="微软雅黑"/>
              </a:rPr>
              <a:t>PointNet++ 变体
时序 Transformer
多雷达 Cross-Attention
时间编码注入
体征信号旁路
→ 输出 S_t + Σ_t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2716" y="1600200"/>
            <a:ext cx="2423160" cy="1417320"/>
          </a:xfrm>
          <a:prstGeom prst="rect">
            <a:avLst/>
          </a:prstGeom>
          <a:solidFill>
            <a:srgbClr val="004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4156" y="1673352"/>
            <a:ext cx="224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Latent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4156" y="1947672"/>
            <a:ext cx="2240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CCD8F0"/>
                </a:solidFill>
                <a:latin typeface="Arial"/>
                <a:ea typeface="微软雅黑"/>
              </a:rPr>
              <a:t>隐空间 S_t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4156" y="2130552"/>
            <a:ext cx="224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DDE4F5"/>
                </a:solidFill>
                <a:latin typeface="Arial"/>
                <a:ea typeface="微软雅黑"/>
              </a:rPr>
              <a:t>图结构：空间拓扑
（节点/边/区域）
向量：人状态
全局上下文
不确定性 Σ_t
个人基线流形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3076" y="1600200"/>
            <a:ext cx="2423160" cy="14173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4516" y="1673352"/>
            <a:ext cx="224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Predictor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1947672"/>
            <a:ext cx="2240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CCD8F0"/>
                </a:solidFill>
                <a:latin typeface="Arial"/>
                <a:ea typeface="微软雅黑"/>
              </a:rPr>
              <a:t>预测器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2130552"/>
            <a:ext cx="224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DDE4F5"/>
                </a:solidFill>
                <a:latin typeface="Arial"/>
                <a:ea typeface="微软雅黑"/>
              </a:rPr>
              <a:t>Causal Transformer
S_t → Ŝ_{t+1}
多尺度预测
(1s/10s/60s/3600s)
自监督训练
预测偏差 = 异常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3436" y="1600200"/>
            <a:ext cx="2423160" cy="14173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876" y="1673352"/>
            <a:ext cx="2240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  <a:ea typeface="微软雅黑"/>
              </a:rPr>
              <a:t>Decoders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4876" y="1947672"/>
            <a:ext cx="22402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CCD8F0"/>
                </a:solidFill>
                <a:latin typeface="Arial"/>
                <a:ea typeface="微软雅黑"/>
              </a:rPr>
              <a:t>解码器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876" y="2130552"/>
            <a:ext cx="224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 i="0">
                <a:solidFill>
                  <a:srgbClr val="DDE4F5"/>
                </a:solidFill>
                <a:latin typeface="Arial"/>
                <a:ea typeface="微软雅黑"/>
              </a:rPr>
              <a:t>Anomaly 异常检测
Notification 通知
Report 健康报告
Tracking 轨迹追踪
轻量读出层
不做重推理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85516" y="2308860"/>
            <a:ext cx="384048" cy="0"/>
          </a:xfrm>
          <a:prstGeom prst="bentConnector3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369564" y="2308860"/>
            <a:ext cx="91440" cy="0"/>
          </a:xfrm>
          <a:prstGeom prst="line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04388" y="1805939"/>
            <a:ext cx="228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65876" y="2308860"/>
            <a:ext cx="384048" cy="0"/>
          </a:xfrm>
          <a:prstGeom prst="bentConnector3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49924" y="2308860"/>
            <a:ext cx="91440" cy="0"/>
          </a:xfrm>
          <a:prstGeom prst="line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84748" y="1805939"/>
            <a:ext cx="228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→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46236" y="2308860"/>
            <a:ext cx="384048" cy="0"/>
          </a:xfrm>
          <a:prstGeom prst="bentConnector3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0284" y="2308860"/>
            <a:ext cx="91440" cy="0"/>
          </a:xfrm>
          <a:prstGeom prst="line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65108" y="1805939"/>
            <a:ext cx="228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1815083" y="17373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BBBBBB"/>
                </a:solidFill>
                <a:latin typeface="Arial"/>
                <a:ea typeface="微软雅黑"/>
              </a:rPr>
              <a:t>← 多模态输入
  Radar Point Cloud
  Time Encoding
  (未来: Door, Temp)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3756" y="2308860"/>
            <a:ext cx="256032" cy="0"/>
          </a:xfrm>
          <a:prstGeom prst="bentConnector3">
            <a:avLst/>
          </a:prstGeom>
          <a:ln w="25400">
            <a:solidFill>
              <a:srgbClr val="5B7B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36324" y="17373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BBBBBB"/>
                </a:solidFill>
                <a:latin typeface="Arial"/>
                <a:ea typeface="微软雅黑"/>
              </a:rPr>
              <a:t>→ 任务输出
  Alert / Notification
  Daily Report
  Trajectory / Heatmap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127248"/>
            <a:ext cx="115488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 spc="80">
                <a:solidFill>
                  <a:srgbClr val="5B7BFF"/>
                </a:solidFill>
                <a:latin typeface="Arial"/>
                <a:ea typeface="微软雅黑"/>
              </a:rPr>
              <a:t>自监督学习回环：Predicted Ŝ_{t+1} vs Encoder(Real_PC_{t+1}) → gradient update  |  每个正常日子 = 训练数据，零标注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42716" y="3328416"/>
            <a:ext cx="5303520" cy="36576"/>
          </a:xfrm>
          <a:prstGeom prst="rect">
            <a:avLst/>
          </a:prstGeom>
          <a:solidFill>
            <a:srgbClr val="5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538728"/>
            <a:ext cx="5623560" cy="9601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3593592"/>
            <a:ext cx="53949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737373"/>
                </a:solidFill>
                <a:latin typeface="Arial"/>
                <a:ea typeface="微软雅黑"/>
              </a:rPr>
              <a:t>传统管道（竞品）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3767328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444444"/>
                </a:solidFill>
                <a:latin typeface="Arial"/>
                <a:ea typeface="微软雅黑"/>
              </a:rPr>
              <a:t>传感器→姿态分类→事件合并→状态机→基线统计→偏离检测→融合打分→通知路由  |  各模块输出离散标签，硬决策丢信息；"跌倒+浴室"=两个字符串，无空间上下文；规则冲突无法自修复；新功能=新模块+新数据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79" y="3538728"/>
            <a:ext cx="5742432" cy="9601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7" y="3593592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FFFFFF"/>
                </a:solidFill>
                <a:latin typeface="Arial"/>
                <a:ea typeface="微软雅黑"/>
              </a:rPr>
              <a:t>ELPD 核心差异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7" y="3767328"/>
            <a:ext cx="5486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680" b="0" i="0">
                <a:solidFill>
                  <a:srgbClr val="FFFFFF"/>
                </a:solidFill>
                <a:latin typeface="Arial"/>
                <a:ea typeface="微软雅黑"/>
              </a:rPr>
              <a:t>单一真相源：所有任务从同一隐空间读取，位置+姿态在同一向量空间  |  自监督零标注：每个正常日子都是训练信号  |  预测=异常：系统觉察"现实与预期不符"——规则引擎做不到  |  新任务=新Decoder：零额外标注，轻量读出层从现有隐空间读取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0040" y="4636008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0040" y="4700016"/>
            <a:ext cx="1154887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BBBBBB"/>
                </a:solidFill>
                <a:latin typeface="Arial"/>
                <a:ea typeface="微软雅黑"/>
              </a:rPr>
              <a:t>从同一条点云流提取 6 类信号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姿态序列·空间分布→跌倒初判/基线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速度分布·径向速度→精细活动量化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点云形变·PCA/质心→真摔vs坐下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515721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微多普勒谱·相位时频→步态参数(P2)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515721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生命体征·胸腔微动→呼吸/心率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15721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>
                <a:solidFill>
                  <a:srgbClr val="AFAFAF"/>
                </a:solidFill>
                <a:latin typeface="Arial"/>
                <a:ea typeface="微软雅黑"/>
              </a:rPr>
              <a:t>活动片段·时序聚类→基线时间分布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20040" y="5486400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20040" y="5550408"/>
            <a:ext cx="1154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0">
                <a:solidFill>
                  <a:srgbClr val="999999"/>
                </a:solidFill>
                <a:latin typeface="Arial"/>
                <a:ea typeface="微软雅黑"/>
              </a:rPr>
              <a:t>技术可行性（行业验证/参考设计）：跌倒检测 92%+ 准确率、误报&lt;3%（TI IWR6843 参考设计）| 呼吸 ±0.4、心率 ±1.0 次/分（安静睡眠，西京学院 2026）| 步态预测跌倒风险（Nature 2025/Frontiers 2024，学术阶段）
硬件演进：IWR6843ISK 开发板 → TI 模组~200元 → 自研一体板~100元(量&gt;5000) → 国产60GHz SoC~60元(量&gt;5万，首选加特兰)。选型标准：点云质量+SDK开放度。诚实备注：自研Encoder精度是MVP最核心风险，并行跑固件作对照。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FFFFFF"/>
                </a:solidFill>
                <a:latin typeface="Arial"/>
                <a:ea typeface="微软雅黑"/>
              </a:rPr>
              <a:t>架构类比：就像 OpenAI 用 GPT 替代 N 个 NLP 模型——家安在居家养老场景用 ELPD 替代 N 个专用检测算法。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Algorithms &amp; Feasibility · 算法与可行性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ALGORITHMS &amp;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七个核心算法，站在已验证的能力上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89304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ALG-0  点云→人体状态理解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81912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取代厂商固件，从原始点云直接输出连续状态向量而非离散标签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34440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289304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ALG-1  多雷达时序对齐+空间拓扑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581912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云端对齐多雷达时间线，自学习空间拓扑，零人工标注平面图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234440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5" y="1289304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ALG-2  跌倒延迟确认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5" y="1581912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3–5 秒观察窗口+多雷达交叉+个人基线，降误报核心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5984" y="1234440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289304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ALG-3  个人基线建模（14天）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1581912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时序聚类提取典型日模式，稳健统计建立个人常态区间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039112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093976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ALG-4  异常偏离检测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2386584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实时状态 vs 基线，多维度联合偏离评分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2039112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093976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ALG-5  多信号贝叶斯置信度融合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386584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活动量↓+睡眠↓+心率↑ 同时出现时置信度指数叠加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2039112"/>
            <a:ext cx="278892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5" y="2093976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02FA7"/>
                </a:solidFill>
                <a:latin typeface="Arial"/>
                <a:ea typeface="微软雅黑"/>
              </a:rPr>
              <a:t>ALG-6  分级通知决策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5" y="2386584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333333"/>
                </a:solidFill>
                <a:latin typeface="Arial"/>
                <a:ea typeface="微软雅黑"/>
              </a:rPr>
              <a:t>异常分+持续性+紧急性→通知等级（不提/推送/强推/电话）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15984" y="2039112"/>
            <a:ext cx="2788920" cy="713232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2093976"/>
            <a:ext cx="26243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FFFFF"/>
                </a:solidFill>
                <a:latin typeface="Arial"/>
                <a:ea typeface="微软雅黑"/>
              </a:rPr>
              <a:t>ALG-7  步态提取+跌倒风险预测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2386584"/>
            <a:ext cx="26243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i="0">
                <a:solidFill>
                  <a:srgbClr val="FFFFFF"/>
                </a:solidFill>
                <a:latin typeface="Arial"/>
                <a:ea typeface="微软雅黑"/>
              </a:rPr>
              <a:t>微多普勒步态参数+ML，Phase 2 引入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0040" y="2724912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0040" y="283464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00">
                <a:solidFill>
                  <a:srgbClr val="002FA7"/>
                </a:solidFill>
                <a:latin typeface="Arial"/>
                <a:ea typeface="微软雅黑"/>
              </a:rPr>
              <a:t>技术可行性（行业已验证/参考设计，非产品实测）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03580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  <a:ea typeface="微软雅黑"/>
              </a:rPr>
              <a:t>跌倒检测 92%+ 准确率、误报&lt;3%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2461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TI IWR6843 参考设计，20㎡；Application Note ZHCAA43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03580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  <a:ea typeface="微软雅黑"/>
              </a:rPr>
              <a:t>呼吸 ±0.4 次/分、心率 ±1.0 次/分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2461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安静睡眠状态；西京学院 2026，n=20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03580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  <a:ea typeface="微软雅黑"/>
              </a:rPr>
              <a:t>步态参数预测跌倒风险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32461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Nature Sci Rep 2025 / Frontiers in AI 2024，学术验证阶段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56616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00">
                <a:solidFill>
                  <a:srgbClr val="002FA7"/>
                </a:solidFill>
                <a:latin typeface="Arial"/>
                <a:ea typeface="微软雅黑"/>
              </a:rPr>
              <a:t>硬件演进路线（选型看点云质量+SDK开放度，不看固件精度）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3749039"/>
            <a:ext cx="115488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IWR6843ISK 开发板（$149，USB 直出点云，深度模型训练数据源）→ TI IWR6843 模组 ~200 元（MVP 产品）→ 自研一体板 ~100 元（量 &gt; 5,000，TI 同款芯片，单 PCB 集成 WiFi+电源）→ 国产 60GHz SoC ~60 元（量 &gt; 5 万，首选加特兰 Alps 系列。前提：SDK 开放原始点云输出，否则一票否决）
各阶段点云特征分布一致，模型无缝迁移。国产替代候选：加特兰（出货量最大，支持级联 4D 成像）&gt; 矽典微（超低功耗 AiP）&gt; 岸达（成本最低）。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57200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00">
                <a:solidFill>
                  <a:srgbClr val="002FA7"/>
                </a:solidFill>
                <a:latin typeface="Arial"/>
                <a:ea typeface="微软雅黑"/>
              </a:rPr>
              <a:t>MVP 技术风险与缓释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754880"/>
            <a:ext cx="11548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① 合成数据→真实点云 domain gap 导致 Encoder 精度不达预期（高风险）：合成数据仅做基础预训练（"什么是人形"），真实数据自监督 fine-tune。开发期并行跑固件作对照基准，不达预期则先用固件过渡、自研并行。
② 隐空间坍缩——大量"无人"帧导致模型只预测"人不在了"（高风险）：loss 加权非空帧/变化帧，curriculum learning 先学有人的片段。
③ 自监督数据密度不足——MVP 阶段仅 2 雷达 5–8 户（中风险）：合成数据补充多样性；MVP 不要求 SOTA，比 naive baseline 好就是成功。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上述精度为行业参考设计/学术验证，非家安产品实测。自研 Encoder 精度是 MVP 待验证核心指标。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The Moat · 为什么难复制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5B7BFF"/>
                </a:solidFill>
                <a:latin typeface="Arial"/>
                <a:ea typeface="微软雅黑"/>
              </a:rPr>
              <a:t>WHY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FFFFFF"/>
                </a:solidFill>
                <a:latin typeface="Arial"/>
                <a:ea typeface="微软雅黑"/>
              </a:rPr>
              <a:t>三层壁垒：范式 · 算法 · 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4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CCCCCC"/>
                </a:solidFill>
                <a:latin typeface="Arial"/>
                <a:ea typeface="微软雅黑"/>
              </a:rPr>
              <a:t>壁垒不在传感器（传感器是供应商的通用件），也不在单个算法（算法可以复现）。真正的壁垒在三样东西的叠加：架构范式的代际差异、跨学科团队的稀缺性、随时间复利加深的数据资产。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3749039" cy="22402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FFFFFF"/>
                </a:solidFill>
                <a:latin typeface="Arial"/>
                <a:ea typeface="微软雅黑"/>
              </a:rPr>
              <a:t>LAYER 01 · 范式壁垒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11680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统一隐空间世界模型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331720"/>
            <a:ext cx="352958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ECF0FB"/>
                </a:solidFill>
                <a:latin typeface="Arial"/>
                <a:ea typeface="微软雅黑"/>
              </a:rPr>
              <a:t>传统养老监测是管道架构——传感器→规则→事件→通知，每层做硬决策、丢信息。ELPD 用一个隐空间统一表征所有信号，多维度偏离在隐空间中自动耦合，不需外部融合。竞品从管道迁移到世界模型，要改的是公司架构，远不止代码。就像 OpenAI 用 GPT 替代 N 个 NLP 模型——家安在居家养老这个场景里做了同样的事。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" y="3611880"/>
            <a:ext cx="3529583" cy="0"/>
          </a:xfrm>
          <a:prstGeom prst="bentConnector3">
            <a:avLst/>
          </a:prstGeom>
          <a:ln w="12700">
            <a:solidFill>
              <a:srgbClr val="88A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3675888"/>
            <a:ext cx="35295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80">
                <a:solidFill>
                  <a:srgbClr val="FFFFFF"/>
                </a:solidFill>
                <a:latin typeface="Arial"/>
                <a:ea typeface="微软雅黑"/>
              </a:rPr>
              <a:t>范式壁垒 · 架构代际差异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7095" y="1691640"/>
            <a:ext cx="3749039" cy="22402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3" y="180136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737373"/>
                </a:solidFill>
                <a:latin typeface="Arial"/>
                <a:ea typeface="微软雅黑"/>
              </a:rPr>
              <a:t>LAYER 02 · 算法壁垒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2011680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Arial"/>
                <a:ea typeface="微软雅黑"/>
              </a:rPr>
              <a:t>自研点云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3" y="2331720"/>
            <a:ext cx="352958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毫米波雷达点云极稀疏（每帧 10–50 点，LiDAR 数万点）、噪声特殊（多径鬼影、微多普勒模糊）、无颜色纹理。需要同时懂雷达信号处理 + 点云深度学习 + 自监督表示学习的团队。三个圈子的专家平时不坐在一起。竞品要么用厂商固件（硬件厂，回避了模型），要么搬视觉模型（AI 厂，回避了雷达信号）。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06823" y="361188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06823" y="3675888"/>
            <a:ext cx="35295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80">
                <a:solidFill>
                  <a:srgbClr val="737373"/>
                </a:solidFill>
                <a:latin typeface="Arial"/>
                <a:ea typeface="微软雅黑"/>
              </a:rPr>
              <a:t>算法壁垒 · 跨学科稀缺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151" y="1691640"/>
            <a:ext cx="3749039" cy="22402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80136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00">
                <a:solidFill>
                  <a:srgbClr val="737373"/>
                </a:solidFill>
                <a:latin typeface="Arial"/>
                <a:ea typeface="微软雅黑"/>
              </a:rPr>
              <a:t>LAYER 03 · 时间壁垒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011680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Arial"/>
                <a:ea typeface="微软雅黑"/>
              </a:rPr>
              <a:t>数据飞轮 + 个人基线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331720"/>
            <a:ext cx="352958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自监督学习零标注成本——每个正常日子都是训练信号。14 天建立个人基线，3 个月比 14 天准，1 年比 3 个月准。用得越久切换成本越高：个人基线是用户的数据资产，换品牌意味着重新学习 14 天。固件精度停在出厂那天，世界模型每天都在进化——这是时间的朋友，不是用钱能加速的。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361188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83879" y="3675888"/>
            <a:ext cx="352958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80">
                <a:solidFill>
                  <a:srgbClr val="737373"/>
                </a:solidFill>
                <a:latin typeface="Arial"/>
                <a:ea typeface="微软雅黑"/>
              </a:rPr>
              <a:t>时间壁垒 · 越用越准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160520"/>
            <a:ext cx="1154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CCCCCC"/>
                </a:solidFill>
                <a:latin typeface="Arial"/>
                <a:ea typeface="微软雅黑"/>
              </a:rPr>
              <a:t>数据飞轮：用户越多 → 数据越丰富 → 模型越强 → 产品越好 → 用户更多。每户每天产生 1–2GB 点云流，全部可作为自监督训练信号。飞轮一旦转起来，追赶需要的不只是钱，是时间。管道架构的竞品无论卖多少台，精度都停在出厂那天。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754880"/>
            <a:ext cx="1154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737373"/>
                </a:solidFill>
                <a:latin typeface="Arial"/>
                <a:ea typeface="微软雅黑"/>
              </a:rPr>
              <a:t>能力归属：传感器（TI/国产 SoC）= 供应商 commodity | 感知/聚合/分析/决策/交互 = 家安自研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FFFFFF"/>
                </a:solidFill>
                <a:latin typeface="Arial"/>
                <a:ea typeface="微软雅黑"/>
              </a:rPr>
              <a:t>三层壁垒的叠加效应：竞品单独突破任何一层都不够——需要同时具备架构能力+跨学科团队+时间积累，缺一不可。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Business Model · 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HOW WE MAKE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硬件获客 · 服务盈利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301752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737373"/>
                </a:solidFill>
                <a:latin typeface="Arial"/>
                <a:ea typeface="微软雅黑"/>
              </a:rPr>
              <a:t>01 硬件层 · 买断获客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A0A0A"/>
                </a:solidFill>
                <a:latin typeface="Arial"/>
                <a:ea typeface="微软雅黑"/>
              </a:rPr>
              <a:t>一次买断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微软雅黑"/>
              </a:rPr>
              <a:t>299 / 499 / 799 元三档，用户永久拥有。
加权 ASP 599 元 / BOM 425 元 / 硬件毛利 174 元（29%）。
硬件微利——目的是把设备装进家，利润从服务来。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3383280"/>
            <a:ext cx="5029200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474720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— 尝鲜版 299 元 — 1 雷达（仅浴室，尝鲜入口）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— 全屋套 S 499 元 — 2 雷达（2室1厅，主推入门）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59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— 全屋套 L 799 元 — 4 雷达（3室2厅，完整覆盖）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79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— 硬件不指望赚钱，是获客入口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333333"/>
                </a:solidFill>
                <a:latin typeface="Arial"/>
                <a:ea typeface="微软雅黑"/>
              </a:rPr>
              <a:t>— 低成本渠道把 CAC 压到 300 以内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325880"/>
            <a:ext cx="7315" cy="301752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5559552" cy="301752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17320"/>
            <a:ext cx="52852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FFFFFF"/>
                </a:solidFill>
                <a:latin typeface="Arial"/>
                <a:ea typeface="微软雅黑"/>
              </a:rPr>
              <a:t>02 服务层 · 订阅盈利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5285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  <a:ea typeface="微软雅黑"/>
              </a:rPr>
              <a:t>199 元/年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148840"/>
            <a:ext cx="52852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基础服务（实时告警、周报）永久免费。
高级健康服务（月报 PDF、长期趋势、就医参考）按年订阅。
毛利约 90%，免费层走轻量云、付费层承担重云成本。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3383280"/>
            <a:ext cx="5285232" cy="0"/>
          </a:xfrm>
          <a:prstGeom prst="bentConnector3">
            <a:avLst/>
          </a:prstGeom>
          <a:ln w="12700">
            <a:solidFill>
              <a:srgbClr val="88A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3474720"/>
            <a:ext cx="5285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FFFFFF"/>
                </a:solidFill>
                <a:latin typeface="Arial"/>
                <a:ea typeface="微软雅黑"/>
              </a:rPr>
              <a:t>— 转化率保守取 15% — 子女为父母健康买单意愿高于一般 IoT（行业基准 5–10%）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49039"/>
            <a:ext cx="5285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FFFFFF"/>
                </a:solidFill>
                <a:latin typeface="Arial"/>
                <a:ea typeface="微软雅黑"/>
              </a:rPr>
              <a:t>— 免费层走轻量云、付费层承担重云成本 — 订阅收入覆盖云成本有余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23359"/>
            <a:ext cx="52852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FFFFFF"/>
                </a:solidFill>
                <a:latin typeface="Arial"/>
                <a:ea typeface="微软雅黑"/>
              </a:rPr>
              <a:t>— 越用越准 → 越不可替代 → 续费越稳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0040" y="461772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" y="4709160"/>
            <a:ext cx="115488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002FA7"/>
                </a:solidFill>
                <a:latin typeface="Arial"/>
                <a:ea typeface="微软雅黑"/>
              </a:rPr>
              <a:t>单位经济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937760"/>
            <a:ext cx="11548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早期（BOM 425）：LTV 232 / CAC 300 = 0.77，承压。国产 SoC 降本后（BOM 110，硬件毛利 174→489）：LTV 547 / CAC 250 = 2.19，转正。盈亏平衡约在第 4 年。敏感性：订阅转化率 10%/15%/20% 对应 blended 订阅 LTV 约 39/58/77 元，降本仍是转正主要杠杆。
第二曲线：沉淀的居家健康数据向保险/养老机构/医疗 B 端变现。已积累的个人基线数据和标注数据是 B 端服务的核心资产。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Financials · 财务预测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FINANCIALS · 中性务实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三年财务预测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123444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040" y="13258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737373"/>
                </a:solidFill>
                <a:latin typeface="Arial"/>
                <a:ea typeface="微软雅黑"/>
              </a:rPr>
              <a:t>Y3 年末装机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1.5 万户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Y1 1,000 → Y2 5,000 → Y3 15,000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298448"/>
            <a:ext cx="5486" cy="100584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13258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737373"/>
                </a:solidFill>
                <a:latin typeface="Arial"/>
                <a:ea typeface="微软雅黑"/>
              </a:rPr>
              <a:t>Y3 总收入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1508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637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19933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3 年累计约 953 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298448"/>
            <a:ext cx="5486" cy="100584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13258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737373"/>
                </a:solidFill>
                <a:latin typeface="Arial"/>
                <a:ea typeface="微软雅黑"/>
              </a:rPr>
              <a:t>毛利率（稳定）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508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9933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硬件+订阅加权平均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298448"/>
            <a:ext cx="5486" cy="1005840"/>
          </a:xfrm>
          <a:prstGeom prst="rect">
            <a:avLst/>
          </a:prstGeom>
          <a:solidFill>
            <a:srgbClr val="D4D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32588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737373"/>
                </a:solidFill>
                <a:latin typeface="Arial"/>
                <a:ea typeface="微软雅黑"/>
              </a:rPr>
              <a:t>降本后 LTV/CAC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5087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02FA7"/>
                </a:solidFill>
                <a:latin typeface="Arial"/>
                <a:ea typeface="微软雅黑"/>
              </a:rPr>
              <a:t>2.19x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9933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国产 SoC 后转正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37744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246888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0A0A0A"/>
                </a:solidFill>
                <a:latin typeface="Arial"/>
                <a:ea typeface="微软雅黑"/>
              </a:rPr>
              <a:t>三年收入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65176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Arial"/>
                <a:ea typeface="微软雅黑"/>
              </a:rPr>
              <a:t>Y1 收入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267004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0" y="2670048"/>
            <a:ext cx="859993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8752" y="264261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62.9 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06324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Arial"/>
                <a:ea typeface="微软雅黑"/>
              </a:rPr>
              <a:t>Y2 收入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308152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0" y="3081528"/>
            <a:ext cx="3457346" cy="1828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88752" y="305409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253.3 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47472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Arial"/>
                <a:ea typeface="微软雅黑"/>
              </a:rPr>
              <a:t>Y3 收入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3493008"/>
            <a:ext cx="8686800" cy="1828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0" y="3493008"/>
            <a:ext cx="8686800" cy="1828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88752" y="346557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637.1 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06908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0A0A0A"/>
                </a:solidFill>
                <a:latin typeface="Arial"/>
                <a:ea typeface="微软雅黑"/>
              </a:rPr>
              <a:t>三年利润简表（万元）| 净利 −206 / −355 / −532 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29768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2976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Y1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9592" y="42976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Y2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8824" y="42976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Y3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48056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硬件收入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44805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59.9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9592" y="44805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239.6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78824" y="44805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599.0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466344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订阅收入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6634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3.0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79592" y="46634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13.7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8824" y="46634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38.1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484632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总收入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484632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62.9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9592" y="484632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253.3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78824" y="484632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637.1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502920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总成本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502920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44.2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79592" y="502920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178.3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78824" y="502920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449.3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521208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毛利（率）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52120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18.7 (30%)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9592" y="52120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75.0 (30%)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78824" y="521208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187.8 (30%)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539496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总费用（人力+CAC+行政）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360" y="53949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225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79592" y="53949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430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78824" y="539496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60">
                <a:solidFill>
                  <a:srgbClr val="333333"/>
                </a:solidFill>
                <a:latin typeface="Arial"/>
                <a:ea typeface="微软雅黑"/>
              </a:rPr>
              <a:t>720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5577840"/>
            <a:ext cx="2560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净利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55778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−206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592" y="55778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−355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78824" y="5577840"/>
            <a:ext cx="2999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60">
                <a:solidFill>
                  <a:srgbClr val="0A0A0A"/>
                </a:solidFill>
                <a:latin typeface="Arial"/>
                <a:ea typeface="微软雅黑"/>
              </a:rPr>
              <a:t>−532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5806440"/>
            <a:ext cx="11548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37373"/>
                </a:solidFill>
                <a:latin typeface="Arial"/>
                <a:ea typeface="微软雅黑"/>
              </a:rPr>
              <a:t>前 3 年是投入期，亏损原因在规模不足——硬件毛利薄（174 元）而早期 CAC（300 元）高，靠融资补贴获客、占领 C 端空白、积累数据飞轮。盈亏平衡约在第 4 年，需要两件事先后发生：① 国产 SoC 降本（BOM 425→110），硬件毛利抬到 489 元；② 装机与订阅规模起来。天使轮资金正是覆盖到这个降本转正拐点——融的是过桥的钱。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Competition ·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5B7BFF"/>
                </a:solidFill>
                <a:latin typeface="Arial"/>
                <a:ea typeface="微软雅黑"/>
              </a:rPr>
              <a:t>THE WHITE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FFFFFF"/>
                </a:solidFill>
                <a:latin typeface="Arial"/>
                <a:ea typeface="微软雅黑"/>
              </a:rPr>
              <a:t>C 端全屋买断，是一片空白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4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CCCCCC"/>
                </a:solidFill>
                <a:latin typeface="Arial"/>
                <a:ea typeface="微软雅黑"/>
              </a:rPr>
              <a:t>雷达跌倒检测已有厂商在做——点可、清雷、森思泰克、兆观。但都走 B 端项目制（养老院、医院）或卖模块给集成商。小米做智能家居（非康养），华为绑全屋装修，萤石核心是摄像头（雷达仅配件）。299–799 元、子女买给父母、15 分钟自装的 C 端全屋雷达套装——这个品类目前是空的。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49039" cy="2377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93852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737373"/>
                </a:solidFill>
                <a:latin typeface="Arial"/>
                <a:ea typeface="微软雅黑"/>
              </a:rPr>
              <a:t>现有玩家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Arial"/>
                <a:ea typeface="微软雅黑"/>
              </a:rPr>
              <a:t>固件 · 出厂即定型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14600"/>
            <a:ext cx="35295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萤石/点可/森思泰克用雷达厂商固件，嵌入式 DSP 精度停在出厂那天。
用户反馈："误报多、后来就不看了"——产品体验没到位，但独居老人跌倒检测的需求真实存在。
固件方案多卖一万台不会变得更好。定价 500–2000+ 元，多需专业人员安装。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5" y="1828800"/>
            <a:ext cx="3749039" cy="237744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3" y="193852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737373"/>
                </a:solidFill>
                <a:latin typeface="Arial"/>
                <a:ea typeface="微软雅黑"/>
              </a:rPr>
              <a:t>渠道错位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3" y="2148840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  <a:latin typeface="Arial"/>
                <a:ea typeface="微软雅黑"/>
              </a:rPr>
              <a:t>B 端项目 / 绑装修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3" y="2514600"/>
            <a:ext cx="35295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机构项目制针对养老院和医院，高端全屋方案走装修公司渠道。
缺一个消费级的、子女回家自己就能装的东西——15 分钟、无需工具、价格在 500 元以内。
价格带（299–799 vs 竞品 500–2000+）和安装门槛（自装 vs 上门）是核心差异点。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1828800"/>
            <a:ext cx="3749039" cy="237744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938528"/>
            <a:ext cx="35661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FFFFFF"/>
                </a:solidFill>
                <a:latin typeface="Arial"/>
                <a:ea typeface="微软雅黑"/>
              </a:rPr>
              <a:t>家安差异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48840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  <a:ea typeface="微软雅黑"/>
              </a:rPr>
              <a:t>ELPD 世界模型 · 越用越准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14600"/>
            <a:ext cx="35295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ECF0FB"/>
                </a:solidFill>
                <a:latin typeface="Arial"/>
                <a:ea typeface="微软雅黑"/>
              </a:rPr>
              <a:t>云端深度模型持续进化，自监督学习让模型随数据积累变强——固件做不到这一点。
14 天个人基线，用得越久越准。C 端买断零售 + 消费级安装体验。
三点同时补空白：自研感知 + 全屋组网 + 订阅服务。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434840"/>
            <a:ext cx="115488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FFFFFF"/>
                </a:solidFill>
                <a:latin typeface="Arial"/>
                <a:ea typeface="微软雅黑"/>
              </a:rPr>
              <a:t>海外对标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45152"/>
            <a:ext cx="11548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Vayyar Care（以色列）：$250/台 + $20/月订阅，估值约 $1B。CarePredict（美国）：$169/台 + $30/月。SafelyYou（美国）：纯 B 端，养老机构。三家模式均为"硬件+月费+B 端"。Apple Watch 跌倒检测纯 C 端买断，但 65+ 佩戴率低、夜间充电/洗澡取下——室内无感覆盖仍是雷达独占场景。国内暂无可比 C 端消费级雷达套装品牌。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FFFFFF"/>
                </a:solidFill>
                <a:latin typeface="Arial"/>
                <a:ea typeface="微软雅黑"/>
              </a:rPr>
              <a:t>价格和形态是最强差异化武器。品牌壁垒形成后，新进入者需同时追上自研模型精度+数据飞轮规模+消费级渠道——三项同时从零开始。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Roadmap · 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ROADMAP · 落地与里程碑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落地路径与里程碑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74320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91056" y="2688336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002FA7"/>
                </a:solidFill>
                <a:latin typeface="Arial"/>
                <a:ea typeface="微软雅黑"/>
              </a:rPr>
              <a:t>M0–6 ·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2FA7"/>
                </a:solidFill>
                <a:latin typeface="Arial"/>
                <a:ea typeface="微软雅黑"/>
              </a:rPr>
              <a:t>验证核心壁垒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i="0">
                <a:solidFill>
                  <a:srgbClr val="737373"/>
                </a:solidFill>
                <a:latin typeface="Arial"/>
                <a:ea typeface="微软雅黑"/>
              </a:rPr>
              <a:t>2 雷达起步（浴室+卧室）
跌倒≥90%·误报&lt;2次/周/户
内测5–8户攒标注数据
预算约100万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22776" y="26883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59" y="2907792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737373"/>
                </a:solidFill>
                <a:latin typeface="Arial"/>
                <a:ea typeface="微软雅黑"/>
              </a:rPr>
              <a:t>M6–12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59" y="312724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商用启动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59" y="3401568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i="0">
                <a:solidFill>
                  <a:srgbClr val="737373"/>
                </a:solidFill>
                <a:latin typeface="Arial"/>
                <a:ea typeface="微软雅黑"/>
              </a:rPr>
              <a:t>全屋套 S/L 上线
1000 户·高级订阅上线
iOS 全功能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6883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60020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737373"/>
                </a:solidFill>
                <a:latin typeface="Arial"/>
                <a:ea typeface="微软雅黑"/>
              </a:rPr>
              <a:t>M12–18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182880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规模化+降本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103120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i="0">
                <a:solidFill>
                  <a:srgbClr val="737373"/>
                </a:solidFill>
                <a:latin typeface="Arial"/>
                <a:ea typeface="微软雅黑"/>
              </a:rPr>
              <a:t>5000 户
国产 SoC 降本样机
步态预测·启动 A 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86215" y="2688336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907792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002FA7"/>
                </a:solidFill>
                <a:latin typeface="Arial"/>
                <a:ea typeface="微软雅黑"/>
              </a:rPr>
              <a:t>Phase 3 · 18M+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12724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02FA7"/>
                </a:solidFill>
                <a:latin typeface="Arial"/>
                <a:ea typeface="微软雅黑"/>
              </a:rPr>
              <a:t>单位经济转正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401568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i="0">
                <a:solidFill>
                  <a:srgbClr val="737373"/>
                </a:solidFill>
                <a:latin typeface="Arial"/>
                <a:ea typeface="微软雅黑"/>
              </a:rPr>
              <a:t>BOM 425→110
LTV/CAC→2.19
B 端数据合作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17936" y="2688336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60020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60">
                <a:solidFill>
                  <a:srgbClr val="737373"/>
                </a:solidFill>
                <a:latin typeface="Arial"/>
                <a:ea typeface="微软雅黑"/>
              </a:rPr>
              <a:t>获客渠道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82880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0A0A0A"/>
                </a:solidFill>
                <a:latin typeface="Arial"/>
                <a:ea typeface="微软雅黑"/>
              </a:rPr>
              <a:t>低成本组合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103120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i="0">
                <a:solidFill>
                  <a:srgbClr val="737373"/>
                </a:solidFill>
                <a:latin typeface="Arial"/>
                <a:ea typeface="微软雅黑"/>
              </a:rPr>
              <a:t>异地子女社群口碑
适老化改造政府补贴
养老机构/社区分销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0040" y="370332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" y="3794760"/>
            <a:ext cx="115488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002FA7"/>
                </a:solidFill>
                <a:latin typeface="Arial"/>
                <a:ea typeface="微软雅黑"/>
              </a:rPr>
              <a:t>MVP 阶段预算明细（M0–6，共约 100 万）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005072"/>
            <a:ext cx="11548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人力 90 万：产品+架构（创始人）· 嵌入式/边缘 1 人 · 后端 Python/时序库 1 人 · AI/ML 1 人 · iOS 1 人。5 人团队，月均约 15 万，6 个月。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279392"/>
            <a:ext cx="11548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设备/云 10 万：IWR6843ISK 开发板 ×5、海凌科 LD6002 原型模组 ×10、云端 GPU 实例（训练+推理）、TimescaleDB 云实例。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53712"/>
            <a:ext cx="11548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M1：传感器到货，数据 pipeline 跑通（雷达→云）。M2：L1 实时判别上线，App v0.1。M3：L2 基线学习训练完成，App 周报页。M4：内测 5–8 户，收集标注数据。M5：迭代降误报，扩展到 15–20 户。M6：效果评估、NPS 问卷、准备融资材料。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MVP 6 个月预算约 100 万，对应本轮融资第一阶段。关键验证指标：跌倒检测准确率≥90%、误报&lt;2 次/周/户、NPS≥30。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Team · 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02FA7"/>
                </a:solidFill>
                <a:latin typeface="Arial"/>
                <a:ea typeface="微软雅黑"/>
              </a:rPr>
              <a:t>WHY THIS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0A0A0A"/>
                </a:solidFill>
                <a:latin typeface="Arial"/>
                <a:ea typeface="微软雅黑"/>
              </a:rPr>
              <a:t>跨学科，是核心门槛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1548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微软雅黑"/>
              </a:rPr>
              <a:t>这件事的技术门槛不在单个领域——在跨领域。雷达信号处理、点云深度学习、老年医学认知，三个圈子的专家平时不坐在一起。壁垒不在算法本身（算法可复现），在能同时驾驭这三个领域的团队组合 + 标注数据积累——这两样花钱短期堆不出来。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3749039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566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FA7"/>
                </a:solidFill>
                <a:latin typeface="Arial"/>
                <a:ea typeface="微软雅黑"/>
              </a:rPr>
              <a:t>01 雷达信号处理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240280"/>
            <a:ext cx="35295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从稀疏点云稳定提取多维特征，理解毫米波雷达物理模型、FMCW 信号链、噪声特性与多径鬼影剔除。关键能力：CFAR 检测、DoA 估计、微多普勒分析、点云聚类——将原始 ADC 数据转化为高质量点云流。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3474720"/>
            <a:ext cx="3529583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3538728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737373"/>
                </a:solidFill>
                <a:latin typeface="Arial"/>
                <a:ea typeface="微软雅黑"/>
              </a:rPr>
              <a:t>核心技能：雷达信号链 · 嵌入式 · 点云预处理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7095" y="1691640"/>
            <a:ext cx="3749039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3" y="1801368"/>
            <a:ext cx="3566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FA7"/>
                </a:solidFill>
                <a:latin typeface="Arial"/>
                <a:ea typeface="微软雅黑"/>
              </a:rPr>
              <a:t>02 点云深度学习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3" y="2240280"/>
            <a:ext cx="35295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稀疏点云时序表示学习、端到端跌倒检测、微多普勒步态建模。云端 GPU 训练+推理。关键挑战：雷达点云和 RGB 图像是两种东西——极稀疏（10–50 点）、无纹理、噪声模型完全不同。不能把视觉模型直接搬过来。需自研适合雷达点云的 Encoder 架构（PointNet++ 变体 + 时序 Transformer）。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06823" y="347472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06823" y="3538728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737373"/>
                </a:solidFill>
                <a:latin typeface="Arial"/>
                <a:ea typeface="微软雅黑"/>
              </a:rPr>
              <a:t>核心技能：3D 深度学习 · 自监督学习 · 时序建模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1" y="1691640"/>
            <a:ext cx="3749039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801368"/>
            <a:ext cx="35661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2FA7"/>
                </a:solidFill>
                <a:latin typeface="Arial"/>
                <a:ea typeface="微软雅黑"/>
              </a:rPr>
              <a:t>03 老年医学认知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240280"/>
            <a:ext cx="35295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33333"/>
                </a:solidFill>
                <a:latin typeface="Arial"/>
                <a:ea typeface="微软雅黑"/>
              </a:rPr>
              <a:t>把呼吸/心率/活动/如厕/睡眠等居家数据翻译成"建议就医/关注"的临床关联，同时守住不做诊断的合规边界。关键能力：理解老年常见慢病（心衰/COPD/糖尿病/认知障碍）的居家可观测指标及其临床意义。产品设计确保所有输出有免责声明，不触发医疗器械监管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79" y="3474720"/>
            <a:ext cx="3529584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83879" y="3538728"/>
            <a:ext cx="35295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737373"/>
                </a:solidFill>
                <a:latin typeface="Arial"/>
                <a:ea typeface="微软雅黑"/>
              </a:rPr>
              <a:t>核心技能：老年医学 · 临床研究 · 医疗合规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4114800"/>
            <a:ext cx="11548872" cy="0"/>
          </a:xfrm>
          <a:prstGeom prst="bentConnector3">
            <a:avLst/>
          </a:prstGeom>
          <a:ln w="12700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4206240"/>
            <a:ext cx="115488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002FA7"/>
                </a:solidFill>
                <a:latin typeface="Arial"/>
                <a:ea typeface="微软雅黑"/>
              </a:rPr>
              <a:t>MVP 团队配置 &amp; 扩张计划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434840"/>
            <a:ext cx="115488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MVP（5 人）：产品+架构（创始人）· 嵌入式/边缘 1 人 · 后端 Python/时序库 1 人 · AI/ML 1 人 · iOS 1 人。6 个月人力约 90 万。
Y2（8 人）：+ 安卓 1 人 · + AI/ML 1 人 · + 运营/客户成功 1 人。年人力约 280 万。
Y3（12 人）：+ 硬件工程师 1 人（自研一体板）· + 后端 1 人 · + 商务拓展 1 人 · + 医疗顾问 1 人（兼职）。年人力约 420 万。
创始人背景：全栈工程师/产品架构，同时做产品和工程决策。团队采用远程优先，核心成员 base 国内一线城市。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737373"/>
                </a:solidFill>
                <a:latin typeface="Arial"/>
                <a:ea typeface="微软雅黑"/>
              </a:rPr>
              <a:t>团队的核心竞争力不在人数——在跨学科组合的稀缺性。雷达+AI+医学三个方向各自找人容易，三个方向在同一个团队里协作很难。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The Ask · 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"/>
            <a:ext cx="54681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5B7BFF"/>
                </a:solidFill>
                <a:latin typeface="Arial"/>
                <a:ea typeface="微软雅黑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1548872" cy="8882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000" b="0" i="0">
                <a:solidFill>
                  <a:srgbClr val="FFFFFF"/>
                </a:solidFill>
                <a:latin typeface="Arial"/>
                <a:ea typeface="微软雅黑"/>
              </a:rPr>
              <a:t>融资计划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88920" cy="2286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6303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FFFFFF"/>
                </a:solidFill>
                <a:latin typeface="Arial"/>
                <a:ea typeface="微软雅黑"/>
              </a:rPr>
              <a:t>融资额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3736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Arial"/>
                <a:ea typeface="微软雅黑"/>
              </a:rPr>
              <a:t>800 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3172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ECF0FB"/>
                </a:solidFill>
                <a:latin typeface="Arial"/>
                <a:ea typeface="微软雅黑"/>
              </a:rPr>
              <a:t>人民币
出让约 15–20%
投前估值约 3200–4500 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325880"/>
            <a:ext cx="2788920" cy="22860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46303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跑道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173736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 i="0">
                <a:solidFill>
                  <a:srgbClr val="0A0A0A"/>
                </a:solidFill>
                <a:latin typeface="Arial"/>
                <a:ea typeface="微软雅黑"/>
              </a:rPr>
              <a:t>18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233172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微软雅黑"/>
              </a:rPr>
              <a:t>覆盖 MVP 验证到
国产 SoC 降本拐点
约第 4 年盈亏平衡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325880"/>
            <a:ext cx="2788920" cy="22860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6303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资金用途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737360"/>
            <a:ext cx="2606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微软雅黑"/>
              </a:rPr>
              <a:t>研发/团队 50%（人力+GPU）
供应链/流片 20%
获客 20%
云·数据·其他 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325880"/>
            <a:ext cx="2788920" cy="22860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1" y="1463039"/>
            <a:ext cx="26060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关键里程碑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1737360"/>
            <a:ext cx="2606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微软雅黑"/>
              </a:rPr>
              <a:t>5,000 户装机
国产 SoC 降本样机
误报 &lt;2 次/周/户
启动 A 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" y="3840480"/>
            <a:ext cx="11548872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" y="3931920"/>
            <a:ext cx="115488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FFFFFF"/>
                </a:solidFill>
                <a:latin typeface="Arial"/>
                <a:ea typeface="微软雅黑"/>
              </a:rPr>
              <a:t>政策背书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160520"/>
            <a:ext cx="115488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国办发〔2024〕1 号明确"家庭配备智能安全监护设备"——产品品类即国家鼓励方向。
毫米波雷达跌倒/生命体征监测已入工信部/民政部/卫健委《智慧健康养老产品及服务推广目录》（2022/2024），可争取申报入选。
政策风向：2024 年"银发经济"首入政府工作报告，2025 年四部委联合推进智慧养老——监管框架正在形成，先入局者有合规先发优势。
天使轮资金使用节奏：前 6 个月约 200 万（MVP 验证），6–12 个月约 300 万（商用启动+获客），12–18 个月约 300 万（规模化+降本）。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FFFFFF"/>
                </a:solidFill>
                <a:latin typeface="Arial"/>
                <a:ea typeface="微软雅黑"/>
              </a:rPr>
              <a:t>本页数据基于中性务实假设。财务模型参数可调（见底稿输入区），投资人可自行调整假设并观察推导结果。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FFFFFF"/>
                </a:solidFill>
                <a:latin typeface="Arial"/>
                <a:ea typeface="微软雅黑"/>
              </a:rPr>
              <a:t>Vision · 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Arial"/>
                <a:ea typeface="微软雅黑"/>
              </a:rPr>
              <a:t>TEN-YEAR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从跌倒监测切入，</a:t>
            </a:r>
          </a:p>
          <a:p>
            <a:pPr>
              <a:lnSpc>
                <a:spcPct val="108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做居家养老的</a:t>
            </a:r>
          </a:p>
          <a:p>
            <a:pPr>
              <a:lnSpc>
                <a:spcPct val="108000"/>
              </a:lnSpc>
            </a:pPr>
            <a:r>
              <a:rPr sz="2400" b="0" i="1">
                <a:solidFill>
                  <a:srgbClr val="FFFFFF"/>
                </a:solidFill>
                <a:latin typeface="Arial"/>
                <a:ea typeface="微软雅黑"/>
              </a:rPr>
              <a:t>健康基础设施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971800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DDE4F5"/>
                </a:solidFill>
                <a:latin typeface="Arial"/>
                <a:ea typeface="微软雅黑"/>
              </a:rPr>
              <a:t>中国进入深度老龄化，未来二十年数以亿计的老人在家养老。他们的健康对子女、对医疗养老体系长期是盲区。家安用持续、连续的居家健康数据把盲区补上——让每个在家变老的人被持续看见、被及时守护。这是我们要用十年做成的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  <a:ea typeface="微软雅黑"/>
              </a:rPr>
              <a:t>家安 housafe · 天使轮 800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20">
                <a:solidFill>
                  <a:srgbClr val="737373"/>
                </a:solidFill>
                <a:latin typeface="Arial"/>
                <a:ea typeface="微软雅黑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002FA7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/>
                <a:ea typeface="微软雅黑"/>
              </a:rPr>
              <a:t>切入点足够痛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2.2 亿老人、跌倒首位死因、现有方案全失效。独居老人背后的异地子女是一个被忽视的付费群体——他们有支付意愿，缺的是一个真正能用的产品。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78608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002FA7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07208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/>
                <a:ea typeface="微软雅黑"/>
              </a:rPr>
              <a:t>壁垒足够深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ELPD 世界模型 + 自研 Encoder + 数据飞轮。架构代际差异 + 跨学科团队稀缺性 + 时间复利效应——三重叠加，花钱短期追不上。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59936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002FA7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88536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A0A0A"/>
                </a:solidFill>
                <a:latin typeface="Arial"/>
                <a:ea typeface="微软雅黑"/>
              </a:rPr>
              <a:t>路径足够清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62856"/>
            <a:ext cx="5029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333333"/>
                </a:solidFill>
                <a:latin typeface="Arial"/>
                <a:ea typeface="微软雅黑"/>
              </a:rPr>
              <a:t>买断获客（硬件微利建规模）→ 降本转正（国产 SoC 抬毛利）→ 数据变现（B 端健康数据服务）。三步自洽，拐点明确。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263640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80">
                <a:solidFill>
                  <a:srgbClr val="737373"/>
                </a:solidFill>
                <a:latin typeface="Arial"/>
                <a:ea typeface="微软雅黑"/>
              </a:rPr>
              <a:t>家安 housafe · 天使轮 800 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