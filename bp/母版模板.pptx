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 spc="120">
                <a:solidFill>
                  <a:srgbClr val="FFFFFF"/>
                </a:solidFill>
                <a:latin typeface="Arial" panose="020B0604020202090204"/>
                <a:ea typeface="微软雅黑"/>
              </a:rPr>
              <a:t>家安 housafe · 商业计划书</a:t>
            </a:r>
            <a:endParaRPr sz="950" b="0" i="0" spc="12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790895" y="329184"/>
            <a:ext cx="5897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 spc="120">
                <a:solidFill>
                  <a:srgbClr val="FFFFFF"/>
                </a:solidFill>
                <a:latin typeface="Arial" panose="020B0604020202090204"/>
                <a:ea typeface="微软雅黑"/>
              </a:rPr>
              <a:t>2026 · 01 / 15</a:t>
            </a:r>
            <a:endParaRPr sz="950" b="0" i="0" spc="12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1874519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FFFFFF"/>
                </a:solidFill>
                <a:latin typeface="Arial" panose="020B0604020202090204"/>
                <a:ea typeface="微软雅黑"/>
              </a:rPr>
              <a:t>HOUSAFE · 居家养老 AI 健康守护</a:t>
            </a:r>
            <a:endParaRPr sz="1050" b="1" i="0" spc="15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2331720"/>
            <a:ext cx="109728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sz="4000" b="0" i="0">
                <a:solidFill>
                  <a:srgbClr val="FFFFFF"/>
                </a:solidFill>
                <a:latin typeface="Arial" panose="020B0604020202090204"/>
                <a:ea typeface="微软雅黑"/>
              </a:rPr>
              <a:t>让每个在家变老的人，</a:t>
            </a:r>
            <a:endParaRPr sz="4000" b="0" i="0">
              <a:solidFill>
                <a:srgbClr val="FFFFFF"/>
              </a:solidFill>
              <a:latin typeface="Arial" panose="020B0604020202090204"/>
              <a:ea typeface="微软雅黑"/>
            </a:endParaRPr>
          </a:p>
          <a:p>
            <a:pPr>
              <a:lnSpc>
                <a:spcPct val="108000"/>
              </a:lnSpc>
            </a:pPr>
            <a:r>
              <a:rPr sz="4000" b="0" i="1">
                <a:solidFill>
                  <a:srgbClr val="FFFFFF"/>
                </a:solidFill>
                <a:latin typeface="Arial" panose="020B0604020202090204"/>
                <a:ea typeface="微软雅黑"/>
              </a:rPr>
              <a:t>被持续看见</a:t>
            </a:r>
            <a:endParaRPr sz="4000" b="0" i="1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02920" y="4800600"/>
            <a:ext cx="11183112" cy="0"/>
          </a:xfrm>
          <a:prstGeom prst="bentConnector3">
            <a:avLst/>
          </a:prstGeom>
          <a:ln w="12700">
            <a:solidFill>
              <a:srgbClr val="6E8A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498348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FFFFF"/>
                </a:solidFill>
                <a:latin typeface="Arial" panose="020B0604020202090204"/>
                <a:ea typeface="微软雅黑"/>
              </a:rPr>
              <a:t>面向异地子女的非接触式 AI 居家健康监测系统。毫米波雷达组网，无感采集老人在家的活动与生命体征，AI 识别异常、分级通知子女——从跌倒监测切入，做居家养老的健康基础设施。</a:t>
            </a:r>
            <a:endParaRPr sz="1250" b="0" i="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30936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spc="120">
                <a:solidFill>
                  <a:srgbClr val="D5DDF2"/>
                </a:solidFill>
                <a:latin typeface="Arial" panose="020B0604020202090204"/>
                <a:ea typeface="微软雅黑"/>
              </a:rPr>
              <a:t>天使轮 · 拟融资 800 万 / 18 个月跑道</a:t>
            </a:r>
            <a:endParaRPr sz="1000" b="0" i="0" spc="120">
              <a:solidFill>
                <a:srgbClr val="D5DDF2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0" y="6309360"/>
            <a:ext cx="43708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 spc="120">
                <a:solidFill>
                  <a:srgbClr val="D5DDF2"/>
                </a:solidFill>
                <a:latin typeface="Arial" panose="020B0604020202090204"/>
                <a:ea typeface="微软雅黑"/>
              </a:rPr>
              <a:t>housafe · 2026</a:t>
            </a:r>
            <a:endParaRPr sz="1000" b="0" i="0" spc="120">
              <a:solidFill>
                <a:srgbClr val="D5DDF2"/>
              </a:solidFill>
              <a:latin typeface="Arial" panose="020B0604020202090204"/>
              <a:ea typeface="微软雅黑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 spc="120">
                <a:solidFill>
                  <a:srgbClr val="737373"/>
                </a:solidFill>
                <a:latin typeface="Arial" panose="020B0604020202090204"/>
                <a:ea typeface="微软雅黑"/>
              </a:rPr>
              <a:t>浅色内容版式 · LIGHT LAYOUT</a:t>
            </a:r>
            <a:endParaRPr sz="950" b="0" i="0" spc="12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790895" y="329184"/>
            <a:ext cx="5897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 spc="120">
                <a:solidFill>
                  <a:srgbClr val="737373"/>
                </a:solidFill>
                <a:latin typeface="Arial" panose="020B0604020202090204"/>
                <a:ea typeface="微软雅黑"/>
              </a:rPr>
              <a:t>LAYOUT / LIGHT</a:t>
            </a:r>
            <a:endParaRPr sz="950" b="0" i="0" spc="12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002FA7"/>
                </a:solidFill>
                <a:latin typeface="Arial" panose="020B0604020202090204"/>
                <a:ea typeface="微软雅黑"/>
              </a:rPr>
              <a:t>KICKER · 章节英文标签</a:t>
            </a:r>
            <a:endParaRPr sz="1050" b="1" i="0" spc="150">
              <a:solidFill>
                <a:srgbClr val="002FA7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1115568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26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主标题占位 · 无衬线细体</a:t>
            </a:r>
            <a:endParaRPr sz="26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02920" y="2194560"/>
            <a:ext cx="3566160" cy="219456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395728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 spc="110">
                <a:solidFill>
                  <a:srgbClr val="737373"/>
                </a:solidFill>
                <a:latin typeface="Arial" panose="020B0604020202090204"/>
                <a:ea typeface="微软雅黑"/>
              </a:rPr>
              <a:t>01 卡片标签</a:t>
            </a:r>
            <a:endParaRPr sz="950" b="0" i="0" spc="11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04088" y="274320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卡片标题占位</a:t>
            </a:r>
            <a:endParaRPr sz="15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04088" y="3246120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44444"/>
                </a:solidFill>
                <a:latin typeface="Arial" panose="020B0604020202090204"/>
                <a:ea typeface="微软雅黑"/>
              </a:rPr>
              <a:t>正文占位。瑞士风：直角纯色块 + 无衬线 + 单一 IKB 强调色 + 发丝线。</a:t>
            </a:r>
            <a:endParaRPr sz="1000" b="0" i="0">
              <a:solidFill>
                <a:srgbClr val="444444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25112" y="2194560"/>
            <a:ext cx="3566160" cy="219456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79" y="2395728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 spc="110">
                <a:solidFill>
                  <a:srgbClr val="737373"/>
                </a:solidFill>
                <a:latin typeface="Arial" panose="020B0604020202090204"/>
                <a:ea typeface="微软雅黑"/>
              </a:rPr>
              <a:t>02 卡片标签</a:t>
            </a:r>
            <a:endParaRPr sz="950" b="0" i="0" spc="11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526279" y="274320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卡片标题占位</a:t>
            </a:r>
            <a:endParaRPr sz="15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26279" y="3246120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44444"/>
                </a:solidFill>
                <a:latin typeface="Arial" panose="020B0604020202090204"/>
                <a:ea typeface="微软雅黑"/>
              </a:rPr>
              <a:t>正文占位。瑞士风：直角纯色块 + 无衬线 + 单一 IKB 强调色 + 发丝线。</a:t>
            </a:r>
            <a:endParaRPr sz="1000" b="0" i="0">
              <a:solidFill>
                <a:srgbClr val="444444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147304" y="2194560"/>
            <a:ext cx="3566160" cy="219456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48472" y="2395728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 spc="110">
                <a:solidFill>
                  <a:srgbClr val="737373"/>
                </a:solidFill>
                <a:latin typeface="Arial" panose="020B0604020202090204"/>
                <a:ea typeface="微软雅黑"/>
              </a:rPr>
              <a:t>03 卡片标签</a:t>
            </a:r>
            <a:endParaRPr sz="950" b="0" i="0" spc="11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348472" y="274320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卡片标题占位</a:t>
            </a:r>
            <a:endParaRPr sz="15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48472" y="3246120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44444"/>
                </a:solidFill>
                <a:latin typeface="Arial" panose="020B0604020202090204"/>
                <a:ea typeface="微软雅黑"/>
              </a:rPr>
              <a:t>正文占位。瑞士风：直角纯色块 + 无衬线 + 单一 IKB 强调色 + 发丝线。</a:t>
            </a:r>
            <a:endParaRPr sz="1000" b="0" i="0">
              <a:solidFill>
                <a:srgbClr val="444444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02920" y="6327648"/>
            <a:ext cx="1118311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737373"/>
                </a:solidFill>
                <a:latin typeface="Arial" panose="020B0604020202090204"/>
                <a:ea typeface="微软雅黑"/>
              </a:rPr>
              <a:t>来源脚注版式 · 数据来源统一放这里，9pt 灰字</a:t>
            </a:r>
            <a:endParaRPr sz="900" b="0" i="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 spc="120">
                <a:solidFill>
                  <a:srgbClr val="FFFFFF"/>
                </a:solidFill>
                <a:latin typeface="Arial" panose="020B0604020202090204"/>
                <a:ea typeface="微软雅黑"/>
              </a:rPr>
              <a:t>深色内容版式 · DARK LAYOUT</a:t>
            </a:r>
            <a:endParaRPr sz="950" b="0" i="0" spc="12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790895" y="329184"/>
            <a:ext cx="5897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 spc="120">
                <a:solidFill>
                  <a:srgbClr val="FFFFFF"/>
                </a:solidFill>
                <a:latin typeface="Arial" panose="020B0604020202090204"/>
                <a:ea typeface="微软雅黑"/>
              </a:rPr>
              <a:t>LAYOUT / DARK</a:t>
            </a:r>
            <a:endParaRPr sz="950" b="0" i="0" spc="12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5B7BFF"/>
                </a:solidFill>
                <a:latin typeface="Arial" panose="020B0604020202090204"/>
                <a:ea typeface="微软雅黑"/>
              </a:rPr>
              <a:t>KICKER</a:t>
            </a:r>
            <a:endParaRPr sz="1050" b="1" i="0" spc="150">
              <a:solidFill>
                <a:srgbClr val="5B7B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111556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2400" b="0" i="0">
                <a:solidFill>
                  <a:srgbClr val="FFFFFF"/>
                </a:solidFill>
                <a:latin typeface="Arial" panose="020B0604020202090204"/>
                <a:ea typeface="微软雅黑"/>
              </a:rPr>
              <a:t>深色页用于痛点/技术/护城河/竞争/融资</a:t>
            </a:r>
            <a:endParaRPr sz="2400" b="0" i="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02920" y="2377440"/>
            <a:ext cx="5394960" cy="201168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578608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浅色卡片（灰底黑字）</a:t>
            </a:r>
            <a:endParaRPr sz="12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172200" y="2377440"/>
            <a:ext cx="5394960" cy="201168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3368" y="2578608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rial" panose="020B0604020202090204"/>
                <a:ea typeface="微软雅黑"/>
              </a:rPr>
              <a:t>IKB 强调卡（蓝底白字）</a:t>
            </a:r>
            <a:endParaRPr sz="1200" b="0" i="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02920" y="6327648"/>
            <a:ext cx="1118311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Arial" panose="020B0604020202090204"/>
                <a:ea typeface="微软雅黑"/>
              </a:rPr>
              <a:t>深色页脚注版式 · 白色 62% 透明近似</a:t>
            </a:r>
            <a:endParaRPr sz="900" b="0" i="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304" y="0"/>
            <a:ext cx="6095390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 spc="120">
                <a:solidFill>
                  <a:srgbClr val="FFFFFF"/>
                </a:solidFill>
                <a:latin typeface="Arial" panose="020B0604020202090204"/>
                <a:ea typeface="微软雅黑"/>
              </a:rPr>
              <a:t>Vision · 愿景</a:t>
            </a:r>
            <a:endParaRPr sz="950" b="0" i="0" spc="12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FFFFFF"/>
                </a:solidFill>
                <a:latin typeface="Arial" panose="020B0604020202090204"/>
                <a:ea typeface="微软雅黑"/>
              </a:rPr>
              <a:t>TEN-YEAR VISION</a:t>
            </a:r>
            <a:endParaRPr sz="1050" b="1" i="0" spc="15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49377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2700" b="0" i="0">
                <a:solidFill>
                  <a:srgbClr val="FFFFFF"/>
                </a:solidFill>
                <a:latin typeface="Arial" panose="020B0604020202090204"/>
                <a:ea typeface="微软雅黑"/>
              </a:rPr>
              <a:t>从跌倒监测切入，</a:t>
            </a:r>
            <a:endParaRPr sz="2700" b="0" i="0">
              <a:solidFill>
                <a:srgbClr val="FFFFFF"/>
              </a:solidFill>
              <a:latin typeface="Arial" panose="020B0604020202090204"/>
              <a:ea typeface="微软雅黑"/>
            </a:endParaRPr>
          </a:p>
          <a:p>
            <a:pPr>
              <a:lnSpc>
                <a:spcPct val="110000"/>
              </a:lnSpc>
            </a:pPr>
            <a:r>
              <a:rPr sz="2700" b="0" i="0">
                <a:solidFill>
                  <a:srgbClr val="FFFFFF"/>
                </a:solidFill>
                <a:latin typeface="Arial" panose="020B0604020202090204"/>
                <a:ea typeface="微软雅黑"/>
              </a:rPr>
              <a:t>做居家养老的</a:t>
            </a:r>
            <a:endParaRPr sz="2700" b="0" i="0">
              <a:solidFill>
                <a:srgbClr val="FFFFFF"/>
              </a:solidFill>
              <a:latin typeface="Arial" panose="020B0604020202090204"/>
              <a:ea typeface="微软雅黑"/>
            </a:endParaRPr>
          </a:p>
          <a:p>
            <a:pPr>
              <a:lnSpc>
                <a:spcPct val="110000"/>
              </a:lnSpc>
            </a:pPr>
            <a:r>
              <a:rPr sz="2700" b="0" i="1">
                <a:solidFill>
                  <a:srgbClr val="FFFFFF"/>
                </a:solidFill>
                <a:latin typeface="Arial" panose="020B0604020202090204"/>
                <a:ea typeface="微软雅黑"/>
              </a:rPr>
              <a:t>健康基础设施</a:t>
            </a:r>
            <a:endParaRPr sz="2700" b="0" i="1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4023360"/>
            <a:ext cx="49377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DDE4F5"/>
                </a:solidFill>
                <a:latin typeface="Arial" panose="020B0604020202090204"/>
                <a:ea typeface="微软雅黑"/>
              </a:rPr>
              <a:t>中国正进入深度老龄化，未来二十年数以亿计的老人在家养老，他们的健康对子女、对医疗养老体系长期是盲区。家安用持续、连续的居家健康数据把盲区补上。</a:t>
            </a:r>
            <a:endParaRPr sz="1000" b="0" i="0">
              <a:solidFill>
                <a:srgbClr val="DDE4F5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594360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 panose="020B0604020202090204"/>
                <a:ea typeface="微软雅黑"/>
              </a:rPr>
              <a:t>让每个在家变老的人，被持续看见、被及时守护。</a:t>
            </a:r>
            <a:endParaRPr sz="1100" b="0" i="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766560" y="32918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 spc="120">
                <a:solidFill>
                  <a:srgbClr val="737373"/>
                </a:solidFill>
                <a:latin typeface="Arial" panose="020B0604020202090204"/>
                <a:ea typeface="微软雅黑"/>
              </a:rPr>
              <a:t>TAKEAWAYS</a:t>
            </a:r>
            <a:endParaRPr sz="950" b="0" i="0" spc="12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766560" y="146304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002FA7"/>
                </a:solidFill>
                <a:latin typeface="Arial" panose="020B0604020202090204"/>
                <a:ea typeface="微软雅黑"/>
              </a:rPr>
              <a:t>01</a:t>
            </a:r>
            <a:endParaRPr sz="1000" b="1" i="0" spc="100">
              <a:solidFill>
                <a:srgbClr val="002FA7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766560" y="1755648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切入点足够痛</a:t>
            </a:r>
            <a:endParaRPr sz="15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766560" y="2176272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444444"/>
                </a:solidFill>
                <a:latin typeface="Arial" panose="020B0604020202090204"/>
                <a:ea typeface="微软雅黑"/>
              </a:rPr>
              <a:t>2.2 亿老人、跌倒首位死因、现有方案全失效。</a:t>
            </a:r>
            <a:endParaRPr sz="950" b="0" i="0">
              <a:solidFill>
                <a:srgbClr val="444444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766560" y="283464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002FA7"/>
                </a:solidFill>
                <a:latin typeface="Arial" panose="020B0604020202090204"/>
                <a:ea typeface="微软雅黑"/>
              </a:rPr>
              <a:t>02</a:t>
            </a:r>
            <a:endParaRPr sz="1000" b="1" i="0" spc="100">
              <a:solidFill>
                <a:srgbClr val="002FA7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766560" y="3127248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壁垒足够深</a:t>
            </a:r>
            <a:endParaRPr sz="15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766560" y="3547872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444444"/>
                </a:solidFill>
                <a:latin typeface="Arial" panose="020B0604020202090204"/>
                <a:ea typeface="微软雅黑"/>
              </a:rPr>
              <a:t>自研点云 + 数据飞轮，越用越准、短期难复制。</a:t>
            </a:r>
            <a:endParaRPr sz="950" b="0" i="0">
              <a:solidFill>
                <a:srgbClr val="444444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766560" y="420624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002FA7"/>
                </a:solidFill>
                <a:latin typeface="Arial" panose="020B0604020202090204"/>
                <a:ea typeface="微软雅黑"/>
              </a:rPr>
              <a:t>03</a:t>
            </a:r>
            <a:endParaRPr sz="1000" b="1" i="0" spc="100">
              <a:solidFill>
                <a:srgbClr val="002FA7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766560" y="4498848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路径足够清</a:t>
            </a:r>
            <a:endParaRPr sz="15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766560" y="4919472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444444"/>
                </a:solidFill>
                <a:latin typeface="Arial" panose="020B0604020202090204"/>
                <a:ea typeface="微软雅黑"/>
              </a:rPr>
              <a:t>买断获客 → 降本转正 → 数据变现，自洽可信。</a:t>
            </a:r>
            <a:endParaRPr sz="950" b="0" i="0">
              <a:solidFill>
                <a:srgbClr val="444444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766560" y="630936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 spc="100">
                <a:solidFill>
                  <a:srgbClr val="737373"/>
                </a:solidFill>
                <a:latin typeface="Arial" panose="020B0604020202090204"/>
                <a:ea typeface="微软雅黑"/>
              </a:rPr>
              <a:t>家安 housafe · 天使轮 800 万</a:t>
            </a:r>
            <a:endParaRPr sz="900" b="0" i="0" spc="10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 spc="120">
                <a:solidFill>
                  <a:srgbClr val="737373"/>
                </a:solidFill>
                <a:latin typeface="Arial" panose="020B0604020202090204"/>
                <a:ea typeface="微软雅黑"/>
              </a:rPr>
              <a:t>样式规范 · STYLE GUIDE</a:t>
            </a:r>
            <a:endParaRPr sz="950" b="0" i="0" spc="12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790895" y="329184"/>
            <a:ext cx="5897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 spc="120">
                <a:solidFill>
                  <a:srgbClr val="737373"/>
                </a:solidFill>
                <a:latin typeface="Arial" panose="020B0604020202090204"/>
                <a:ea typeface="微软雅黑"/>
              </a:rPr>
              <a:t>MASTER / SPEC</a:t>
            </a:r>
            <a:endParaRPr sz="950" b="0" i="0" spc="12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1115568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26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视觉规范</a:t>
            </a:r>
            <a:endParaRPr sz="26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1645920" cy="914400"/>
          </a:xfrm>
          <a:prstGeom prst="rect">
            <a:avLst/>
          </a:prstGeom>
          <a:solidFill>
            <a:srgbClr val="002FA7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83464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IKB 克莱因蓝</a:t>
            </a:r>
            <a:endParaRPr sz="95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306324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37373"/>
                </a:solidFill>
                <a:latin typeface="Arial" panose="020B0604020202090204"/>
                <a:ea typeface="微软雅黑"/>
              </a:rPr>
              <a:t>#002FA7</a:t>
            </a:r>
            <a:endParaRPr sz="850" b="0" i="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386584" y="1828800"/>
            <a:ext cx="1645920" cy="914400"/>
          </a:xfrm>
          <a:prstGeom prst="rect">
            <a:avLst/>
          </a:prstGeom>
          <a:solidFill>
            <a:srgbClr val="0A0A0A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6584" y="283464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墨黑 Ink</a:t>
            </a:r>
            <a:endParaRPr sz="95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386584" y="306324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37373"/>
                </a:solidFill>
                <a:latin typeface="Arial" panose="020B0604020202090204"/>
                <a:ea typeface="微软雅黑"/>
              </a:rPr>
              <a:t>#0A0A0A</a:t>
            </a:r>
            <a:endParaRPr sz="850" b="0" i="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270248" y="1828800"/>
            <a:ext cx="1645920" cy="914400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0248" y="283464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纸白 Paper</a:t>
            </a:r>
            <a:endParaRPr sz="95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270248" y="306324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37373"/>
                </a:solidFill>
                <a:latin typeface="Arial" panose="020B0604020202090204"/>
                <a:ea typeface="微软雅黑"/>
              </a:rPr>
              <a:t>#FAFAF8</a:t>
            </a:r>
            <a:endParaRPr sz="850" b="0" i="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153912" y="1828800"/>
            <a:ext cx="1645920" cy="914400"/>
          </a:xfrm>
          <a:prstGeom prst="rect">
            <a:avLst/>
          </a:prstGeom>
          <a:solidFill>
            <a:srgbClr val="F5F5F4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283464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浅灰卡</a:t>
            </a:r>
            <a:endParaRPr sz="95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153912" y="306324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37373"/>
                </a:solidFill>
                <a:latin typeface="Arial" panose="020B0604020202090204"/>
                <a:ea typeface="微软雅黑"/>
              </a:rPr>
              <a:t>#F5F5F4</a:t>
            </a:r>
            <a:endParaRPr sz="850" b="0" i="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8037576" y="1828800"/>
            <a:ext cx="1645920" cy="914400"/>
          </a:xfrm>
          <a:prstGeom prst="rect">
            <a:avLst/>
          </a:prstGeom>
          <a:solidFill>
            <a:srgbClr val="D4D4D2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37576" y="283464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中灰线</a:t>
            </a:r>
            <a:endParaRPr sz="95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037576" y="306324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37373"/>
                </a:solidFill>
                <a:latin typeface="Arial" panose="020B0604020202090204"/>
                <a:ea typeface="微软雅黑"/>
              </a:rPr>
              <a:t>#D4D4D2</a:t>
            </a:r>
            <a:endParaRPr sz="850" b="0" i="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9921240" y="1828800"/>
            <a:ext cx="1645920" cy="914400"/>
          </a:xfrm>
          <a:prstGeom prst="rect">
            <a:avLst/>
          </a:prstGeom>
          <a:solidFill>
            <a:srgbClr val="737373"/>
          </a:solidFill>
          <a:ln w="635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21240" y="283464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辅助灰</a:t>
            </a:r>
            <a:endParaRPr sz="95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921240" y="306324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37373"/>
                </a:solidFill>
                <a:latin typeface="Arial" panose="020B0604020202090204"/>
                <a:ea typeface="微软雅黑"/>
              </a:rPr>
              <a:t>#737373</a:t>
            </a:r>
            <a:endParaRPr sz="850" b="0" i="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02920" y="3840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字体：中文 微软雅黑 / 西文·数字 Arial（无衬线）。标题大字号不加粗，模拟瑞士风细体。</a:t>
            </a:r>
            <a:endParaRPr sz="11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02920" y="438912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444444"/>
                </a:solidFill>
                <a:latin typeface="Arial" panose="020B0604020202090204"/>
                <a:ea typeface="微软雅黑"/>
              </a:rPr>
              <a:t>字号阶梯：封面 40pt · 章节标题 24–27pt · KPI 数字 22–30pt · 正文 10–11pt · 脚注/标签 9pt</a:t>
            </a:r>
            <a:endParaRPr sz="1050" b="0" i="0">
              <a:solidFill>
                <a:srgbClr val="444444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02920" y="49377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444444"/>
                </a:solidFill>
                <a:latin typeface="Arial" panose="020B0604020202090204"/>
                <a:ea typeface="微软雅黑"/>
              </a:rPr>
              <a:t>版式：直角纯色块、发丝线分隔、单一 IKB 强调色、大幅留白、深/浅/蓝三种页底交替。</a:t>
            </a:r>
            <a:endParaRPr sz="1050" b="0" i="0">
              <a:solidFill>
                <a:srgbClr val="444444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02920" y="54864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37373"/>
                </a:solidFill>
                <a:latin typeface="Arial" panose="020B0604020202090204"/>
                <a:ea typeface="微软雅黑"/>
              </a:rPr>
              <a:t>明暗节奏：封面(蓝) 浅 深 浅 浅 深 浅 深 浅 浅 深 浅 浅 深 收尾(蓝)</a:t>
            </a:r>
            <a:endParaRPr sz="1000" b="0" i="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1115</Words>
  <Application>WPS 文字</Application>
  <PresentationFormat>On-screen Show (4:3)</PresentationFormat>
  <Paragraphs>129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9" baseType="lpstr">
      <vt:lpstr>Arial</vt:lpstr>
      <vt:lpstr>宋体</vt:lpstr>
      <vt:lpstr>Wingdings</vt:lpstr>
      <vt:lpstr>Arial</vt:lpstr>
      <vt:lpstr>微软雅黑</vt:lpstr>
      <vt:lpstr>汉仪旗黑</vt:lpstr>
      <vt:lpstr>Calibri</vt:lpstr>
      <vt:lpstr>Helvetica Neue</vt:lpstr>
      <vt:lpstr>微软雅黑</vt:lpstr>
      <vt:lpstr>汉仪书宋二KW</vt:lpstr>
      <vt:lpstr>宋体</vt:lpstr>
      <vt:lpstr>Arial Unicode MS</vt:lpstr>
      <vt:lpstr>微软雅黑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Lluvia en Macondo</cp:lastModifiedBy>
  <cp:revision>2</cp:revision>
  <dcterms:created xsi:type="dcterms:W3CDTF">2026-07-12T15:31:44Z</dcterms:created>
  <dcterms:modified xsi:type="dcterms:W3CDTF">2026-07-12T15:31:44Z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2052-12.1.25205.25205</vt:lpwstr>
  </property>
  <property fmtid="{D5CDD505-2E9C-101B-9397-08002B2CF9AE}" pid="3" name="ICV">
    <vt:lpwstr>D9087F2048388B4560B3536A85D14BAE_42</vt:lpwstr>
  </property>
</Properties>
</file>