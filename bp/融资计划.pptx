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FFFFFF"/>
                </a:solidFill>
                <a:latin typeface="Arial"/>
                <a:ea typeface="微软雅黑"/>
              </a:rPr>
              <a:t>家安 housafe · 融资计划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0895" y="329184"/>
            <a:ext cx="5897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20">
                <a:solidFill>
                  <a:srgbClr val="FFFFFF"/>
                </a:solidFill>
                <a:latin typeface="Arial"/>
                <a:ea typeface="微软雅黑"/>
              </a:rPr>
              <a:t>天使轮 · 01 /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50">
                <a:solidFill>
                  <a:srgbClr val="5B7BFF"/>
                </a:solidFill>
                <a:latin typeface="Arial"/>
                <a:ea typeface="微软雅黑"/>
              </a:rPr>
              <a:t>SEED ROUND · 500 万人民币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0" i="0">
                <a:solidFill>
                  <a:srgbClr val="FFFFFF"/>
                </a:solidFill>
                <a:latin typeface="Arial"/>
                <a:ea typeface="微软雅黑"/>
              </a:rPr>
              <a:t>融资概览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3794760" cy="214884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12140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FFFFFF"/>
                </a:solidFill>
                <a:latin typeface="Arial"/>
                <a:ea typeface="微软雅黑"/>
              </a:rPr>
              <a:t>融资金额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42316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Arial"/>
                <a:ea typeface="微软雅黑"/>
              </a:rPr>
              <a:t>500 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24612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DDE4F5"/>
                </a:solidFill>
                <a:latin typeface="Arial"/>
                <a:ea typeface="微软雅黑"/>
              </a:rPr>
              <a:t>人民币 · 出让约 14–17%
投前估值约 2,500–3,000 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920240"/>
            <a:ext cx="3749039" cy="96012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205740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10">
                <a:solidFill>
                  <a:srgbClr val="737373"/>
                </a:solidFill>
                <a:latin typeface="Arial"/>
                <a:ea typeface="微软雅黑"/>
              </a:rPr>
              <a:t>融资跑道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30428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A0A0A"/>
                </a:solidFill>
                <a:latin typeface="Arial"/>
                <a:ea typeface="微软雅黑"/>
              </a:rPr>
              <a:t>12 个月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3108960"/>
            <a:ext cx="3749039" cy="96012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324612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10">
                <a:solidFill>
                  <a:srgbClr val="737373"/>
                </a:solidFill>
                <a:latin typeface="Arial"/>
                <a:ea typeface="微软雅黑"/>
              </a:rPr>
              <a:t>融资阶段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34930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A0A0A"/>
                </a:solidFill>
                <a:latin typeface="Arial"/>
                <a:ea typeface="微软雅黑"/>
              </a:rPr>
              <a:t>天使轮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1920240"/>
            <a:ext cx="3593592" cy="214884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96528" y="2121408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10">
                <a:solidFill>
                  <a:srgbClr val="737373"/>
                </a:solidFill>
                <a:latin typeface="Arial"/>
                <a:ea typeface="微软雅黑"/>
              </a:rPr>
              <a:t>融资后目标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6528" y="2395728"/>
            <a:ext cx="3200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A0A0A"/>
                </a:solidFill>
                <a:latin typeface="Arial"/>
                <a:ea typeface="微软雅黑"/>
              </a:rPr>
              <a:t>— 1,000+ 户付费装机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6528" y="2779776"/>
            <a:ext cx="3200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02FA7"/>
                </a:solidFill>
                <a:latin typeface="Arial"/>
                <a:ea typeface="微软雅黑"/>
              </a:rPr>
              <a:t>— 误报 &lt; 2 次/周/户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3163824"/>
            <a:ext cx="3200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A0A0A"/>
                </a:solidFill>
                <a:latin typeface="Arial"/>
                <a:ea typeface="微软雅黑"/>
              </a:rPr>
              <a:t>— 续费率数据初步验证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3547872"/>
            <a:ext cx="3200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A0A0A"/>
                </a:solidFill>
                <a:latin typeface="Arial"/>
                <a:ea typeface="微软雅黑"/>
              </a:rPr>
              <a:t>— 启动 A 轮融资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4206240"/>
            <a:ext cx="11183112" cy="0"/>
          </a:xfrm>
          <a:prstGeom prst="bentConnector3">
            <a:avLst/>
          </a:prstGeom>
          <a:ln w="10160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20" y="4297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FFFFFF"/>
                </a:solidFill>
                <a:latin typeface="Arial"/>
                <a:ea typeface="微软雅黑"/>
              </a:rPr>
              <a:t>资金用途明细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663440"/>
            <a:ext cx="2670048" cy="18288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4800600"/>
            <a:ext cx="234086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00">
                <a:solidFill>
                  <a:srgbClr val="FFFFFF"/>
                </a:solidFill>
                <a:latin typeface="Arial"/>
                <a:ea typeface="微软雅黑"/>
              </a:rPr>
              <a:t>研发 / 团队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5047488"/>
            <a:ext cx="23408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000" b="0" i="0">
                <a:solidFill>
                  <a:srgbClr val="FFFFFF"/>
                </a:solidFill>
                <a:latin typeface="Arial"/>
                <a:ea typeface="微软雅黑"/>
              </a:rPr>
              <a:t>275 万</a:t>
            </a:r>
            <a:r>
              <a:rPr sz="1200" b="0" i="0" spc="80">
                <a:solidFill>
                  <a:srgbClr val="FFFFFF"/>
                </a:solidFill>
                <a:latin typeface="Arial"/>
                <a:ea typeface="微软雅黑"/>
              </a:rPr>
              <a:t>  55%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5623560"/>
            <a:ext cx="234086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DDE4F5"/>
                </a:solidFill>
                <a:latin typeface="Arial"/>
                <a:ea typeface="微软雅黑"/>
              </a:rPr>
              <a:t>5→8 人 · 含创始人薪资
AI 模型训练 · 后端 · App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4663440"/>
            <a:ext cx="2670048" cy="18288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02152" y="4800600"/>
            <a:ext cx="234086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00">
                <a:solidFill>
                  <a:srgbClr val="737373"/>
                </a:solidFill>
                <a:latin typeface="Arial"/>
                <a:ea typeface="微软雅黑"/>
              </a:rPr>
              <a:t>硬件 / 供应链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5047488"/>
            <a:ext cx="23408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000" b="0" i="0">
                <a:solidFill>
                  <a:srgbClr val="0A0A0A"/>
                </a:solidFill>
                <a:latin typeface="Arial"/>
                <a:ea typeface="微软雅黑"/>
              </a:rPr>
              <a:t>75 万</a:t>
            </a:r>
            <a:r>
              <a:rPr sz="1200" b="0" i="0" spc="80">
                <a:solidFill>
                  <a:srgbClr val="737373"/>
                </a:solidFill>
                <a:latin typeface="Arial"/>
                <a:ea typeface="微软雅黑"/>
              </a:rPr>
              <a:t>  15%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2152" y="5623560"/>
            <a:ext cx="234086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44444"/>
                </a:solidFill>
                <a:latin typeface="Arial"/>
                <a:ea typeface="微软雅黑"/>
              </a:rPr>
              <a:t>雷达开发板 · 模组采购
小批量试产 · 工装夹具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4663440"/>
            <a:ext cx="2670048" cy="18288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6792" y="4800600"/>
            <a:ext cx="234086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00">
                <a:solidFill>
                  <a:srgbClr val="737373"/>
                </a:solidFill>
                <a:latin typeface="Arial"/>
                <a:ea typeface="微软雅黑"/>
              </a:rPr>
              <a:t>获客 / 运营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6792" y="5047488"/>
            <a:ext cx="23408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000" b="0" i="0">
                <a:solidFill>
                  <a:srgbClr val="0A0A0A"/>
                </a:solidFill>
                <a:latin typeface="Arial"/>
                <a:ea typeface="微软雅黑"/>
              </a:rPr>
              <a:t>100 万</a:t>
            </a:r>
            <a:r>
              <a:rPr sz="1200" b="0" i="0" spc="80">
                <a:solidFill>
                  <a:srgbClr val="737373"/>
                </a:solidFill>
                <a:latin typeface="Arial"/>
                <a:ea typeface="微软雅黑"/>
              </a:rPr>
              <a:t> 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792" y="5623560"/>
            <a:ext cx="234086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44444"/>
                </a:solidFill>
                <a:latin typeface="Arial"/>
                <a:ea typeface="微软雅黑"/>
              </a:rPr>
              <a:t>种子用户获取 · 社区冷启
适老化补贴渠道对接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840" y="4663440"/>
            <a:ext cx="2670048" cy="18288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71432" y="4800600"/>
            <a:ext cx="234086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00">
                <a:solidFill>
                  <a:srgbClr val="737373"/>
                </a:solidFill>
                <a:latin typeface="Arial"/>
                <a:ea typeface="微软雅黑"/>
              </a:rPr>
              <a:t>云 / 数据 / 其他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71432" y="5047488"/>
            <a:ext cx="23408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000" b="0" i="0">
                <a:solidFill>
                  <a:srgbClr val="0A0A0A"/>
                </a:solidFill>
                <a:latin typeface="Arial"/>
                <a:ea typeface="微软雅黑"/>
              </a:rPr>
              <a:t>50 万</a:t>
            </a:r>
            <a:r>
              <a:rPr sz="1200" b="0" i="0" spc="80">
                <a:solidFill>
                  <a:srgbClr val="737373"/>
                </a:solidFill>
                <a:latin typeface="Arial"/>
                <a:ea typeface="微软雅黑"/>
              </a:rPr>
              <a:t>  10%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71432" y="5623560"/>
            <a:ext cx="234086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44444"/>
                </a:solidFill>
                <a:latin typeface="Arial"/>
                <a:ea typeface="微软雅黑"/>
              </a:rPr>
              <a:t>GPU 云 · TimescaleDB
办公 · 行政 · 合规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0080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999999"/>
                </a:solidFill>
                <a:latin typeface="Arial"/>
                <a:ea typeface="微软雅黑"/>
              </a:rPr>
              <a:t>当前进展：地基系统 10 Tasks ✅ + AI 引擎 Phase A-1/2/3 ✅ — 软件骨架已跑通，本轮资金主要投向 AI 模型训练 + 硬件采购 + 商业化启动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737373"/>
                </a:solidFill>
                <a:latin typeface="Arial"/>
                <a:ea typeface="微软雅黑"/>
              </a:rPr>
              <a:t>家安 housafe · 融资计划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0895" y="329184"/>
            <a:ext cx="5897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20">
                <a:solidFill>
                  <a:srgbClr val="737373"/>
                </a:solidFill>
                <a:latin typeface="Arial"/>
                <a:ea typeface="微软雅黑"/>
              </a:rPr>
              <a:t>天使轮 · 02 /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50">
                <a:solidFill>
                  <a:srgbClr val="002FA7"/>
                </a:solidFill>
                <a:latin typeface="Arial"/>
                <a:ea typeface="微软雅黑"/>
              </a:rPr>
              <a:t>ROADMAP &amp;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0" i="0">
                <a:solidFill>
                  <a:srgbClr val="0A0A0A"/>
                </a:solidFill>
                <a:latin typeface="Arial"/>
                <a:ea typeface="微软雅黑"/>
              </a:rPr>
              <a:t>关键里程碑与当前进展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00">
                <a:solidFill>
                  <a:srgbClr val="0A0A0A"/>
                </a:solidFill>
                <a:latin typeface="Arial"/>
                <a:ea typeface="微软雅黑"/>
              </a:rPr>
              <a:t>12 个月关键里程碑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3063240"/>
            <a:ext cx="11183112" cy="0"/>
          </a:xfrm>
          <a:prstGeom prst="bentConnector3">
            <a:avLst/>
          </a:prstGeom>
          <a:ln w="1905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399032" y="2999232"/>
            <a:ext cx="128016" cy="128016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1554480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 spc="60">
                <a:solidFill>
                  <a:srgbClr val="002FA7"/>
                </a:solidFill>
                <a:latin typeface="Arial"/>
                <a:ea typeface="微软雅黑"/>
              </a:rPr>
              <a:t>M0–3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182880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002FA7"/>
                </a:solidFill>
                <a:latin typeface="Arial"/>
                <a:ea typeface="微软雅黑"/>
              </a:rPr>
              <a:t>AI 模型上线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2221992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跌倒 + 生命体征
内测 5–10 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7032" y="2999232"/>
            <a:ext cx="128016" cy="128016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30880" y="3264408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 spc="60">
                <a:solidFill>
                  <a:srgbClr val="737373"/>
                </a:solidFill>
                <a:latin typeface="Arial"/>
                <a:ea typeface="微软雅黑"/>
              </a:rPr>
              <a:t>M3–6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0880" y="3538728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0A0A0A"/>
                </a:solidFill>
                <a:latin typeface="Arial"/>
                <a:ea typeface="微软雅黑"/>
              </a:rPr>
              <a:t>商用版上线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5160" y="3931920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全屋套 S/L 发布
开始公开售卖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5032" y="2999232"/>
            <a:ext cx="128016" cy="128016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 spc="60">
                <a:solidFill>
                  <a:srgbClr val="737373"/>
                </a:solidFill>
                <a:latin typeface="Arial"/>
                <a:ea typeface="微软雅黑"/>
              </a:rPr>
              <a:t>M6–9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880" y="182880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0A0A0A"/>
                </a:solidFill>
                <a:latin typeface="Arial"/>
                <a:ea typeface="微软雅黑"/>
              </a:rPr>
              <a:t>规模化验证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160" y="2221992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500 户装机
误报优化到位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43032" y="2999232"/>
            <a:ext cx="128016" cy="128016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3264408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 spc="60">
                <a:solidFill>
                  <a:srgbClr val="002FA7"/>
                </a:solidFill>
                <a:latin typeface="Arial"/>
                <a:ea typeface="微软雅黑"/>
              </a:rPr>
              <a:t>M9–12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538728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002FA7"/>
                </a:solidFill>
                <a:latin typeface="Arial"/>
                <a:ea typeface="微软雅黑"/>
              </a:rPr>
              <a:t>数据飞轮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931920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1,000+ 户
启动 A 轮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4297680"/>
            <a:ext cx="1118311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44348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00">
                <a:solidFill>
                  <a:srgbClr val="0A0A0A"/>
                </a:solidFill>
                <a:latin typeface="Arial"/>
                <a:ea typeface="微软雅黑"/>
              </a:rPr>
              <a:t>当前已完成工作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800600"/>
            <a:ext cx="3602736" cy="38404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4855464"/>
            <a:ext cx="3273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  <a:latin typeface="Arial"/>
                <a:ea typeface="微软雅黑"/>
              </a:rPr>
              <a:t>⚙️ 地基系统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" y="5257800"/>
            <a:ext cx="3273552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✓  Django + DRF 后端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5486400"/>
            <a:ext cx="3273552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✓  JWT 鉴权（注册/登录/刷新）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" y="5715000"/>
            <a:ext cx="3273552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✓  事件契约包（Tier-1 感知事件）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5943600"/>
            <a:ext cx="3273552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✓  TimescaleDB 时序存储 + 查询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" y="6172200"/>
            <a:ext cx="3273552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✓  WebSocket 实时通道（JWT+家庭隔离）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6400800"/>
            <a:ext cx="3273552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✓  设备绑定/列表/重命名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" y="6629400"/>
            <a:ext cx="3273552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✓  仿真器 + 端到端冒烟测试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5112" y="4800600"/>
            <a:ext cx="3602736" cy="38404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9703" y="4855464"/>
            <a:ext cx="3273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  <a:latin typeface="Arial"/>
                <a:ea typeface="微软雅黑"/>
              </a:rPr>
              <a:t>🧠 AI 引擎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9703" y="5257800"/>
            <a:ext cx="3273552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✓  世界模型共享类型定义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9703" y="5486400"/>
            <a:ext cx="3273552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✓  Redis Stream 消费端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9703" y="5715000"/>
            <a:ext cx="3273552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✓  Typed Frame 解析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9703" y="5943600"/>
            <a:ext cx="3273552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✓  FallbackEngine（3 条确定性规则）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9703" y="6172200"/>
            <a:ext cx="3273552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✓  ELPD Encoder/Decoder 架构就绪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47304" y="4800600"/>
            <a:ext cx="3602736" cy="38404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11896" y="4855464"/>
            <a:ext cx="3273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  <a:latin typeface="Arial"/>
                <a:ea typeface="微软雅黑"/>
              </a:rPr>
              <a:t>📱 前端 App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1896" y="5257800"/>
            <a:ext cx="3273552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✓  Expo 项目框架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11896" y="5486400"/>
            <a:ext cx="3273552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✓  主题系统（暖白+青绿养老基调）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11896" y="5715000"/>
            <a:ext cx="3273552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✓  登录/注册流程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11896" y="5943600"/>
            <a:ext cx="3273552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✓  实时 Today 首页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11896" y="6172200"/>
            <a:ext cx="3273552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✓  家庭/老人管理界面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02920" y="6263640"/>
            <a:ext cx="11183112" cy="0"/>
          </a:xfrm>
          <a:prstGeom prst="bentConnector3">
            <a:avLst/>
          </a:prstGeom>
          <a:ln w="1016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2920" y="635508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404040"/>
                </a:solidFill>
                <a:latin typeface="Arial"/>
                <a:ea typeface="微软雅黑"/>
              </a:rPr>
              <a:t>软件骨架已跑通。本轮 500 万天使轮资金主要投向 AI 模型训练与调优、雷达硬件采购与试产、种子用户获取——从"能跑"到"能卖"。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