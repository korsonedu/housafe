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FFFFFF"/>
                </a:solidFill>
                <a:latin typeface="Arial"/>
                <a:ea typeface="微软雅黑"/>
              </a:rPr>
              <a:t>The Ask · 融资计划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spc="120">
                <a:solidFill>
                  <a:srgbClr val="FFFFFF"/>
                </a:solidFill>
                <a:latin typeface="Arial"/>
                <a:ea typeface="微软雅黑"/>
              </a:rPr>
              <a:t>家安 housafe · 天使轮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82296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50">
                <a:solidFill>
                  <a:srgbClr val="5B7BFF"/>
                </a:solidFill>
                <a:latin typeface="Arial"/>
                <a:ea typeface="微软雅黑"/>
              </a:rPr>
              <a:t>SEED 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  <a:ea typeface="微软雅黑"/>
              </a:rPr>
              <a:t>融资概览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2651760" cy="2011680"/>
          </a:xfrm>
          <a:prstGeom prst="rect">
            <a:avLst/>
          </a:prstGeom>
          <a:solidFill>
            <a:srgbClr val="002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746504"/>
            <a:ext cx="23225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FFFFFF"/>
                </a:solidFill>
                <a:latin typeface="Arial"/>
                <a:ea typeface="微软雅黑"/>
              </a:rPr>
              <a:t>融资额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039112"/>
            <a:ext cx="232257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Arial"/>
                <a:ea typeface="微软雅黑"/>
              </a:rPr>
              <a:t>300 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560320"/>
            <a:ext cx="23225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DDE4F5"/>
                </a:solidFill>
                <a:latin typeface="Arial"/>
                <a:ea typeface="微软雅黑"/>
              </a:rPr>
              <a:t>人民币
出让约 15–20%
投前估值 1,500–2,000 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600200"/>
            <a:ext cx="2651760" cy="2011680"/>
          </a:xfrm>
          <a:prstGeom prst="rect">
            <a:avLst/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746504"/>
            <a:ext cx="23225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737373"/>
                </a:solidFill>
                <a:latin typeface="Arial"/>
                <a:ea typeface="微软雅黑"/>
              </a:rPr>
              <a:t>跑道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2039112"/>
            <a:ext cx="232257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0A0A0A"/>
                </a:solidFill>
                <a:latin typeface="Arial"/>
                <a:ea typeface="微软雅黑"/>
              </a:rPr>
              <a:t>12 个月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560320"/>
            <a:ext cx="23225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444444"/>
                </a:solidFill>
                <a:latin typeface="Arial"/>
                <a:ea typeface="微软雅黑"/>
              </a:rPr>
              <a:t>M0–6 MVP 验证
M6–12 商用冷启动
首批 500–1,000 户装机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4" y="1600200"/>
            <a:ext cx="2651760" cy="2011680"/>
          </a:xfrm>
          <a:prstGeom prst="rect">
            <a:avLst/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746504"/>
            <a:ext cx="23225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737373"/>
                </a:solidFill>
                <a:latin typeface="Arial"/>
                <a:ea typeface="微软雅黑"/>
              </a:rPr>
              <a:t>资金用途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2039112"/>
            <a:ext cx="23225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444444"/>
                </a:solidFill>
                <a:latin typeface="Arial"/>
                <a:ea typeface="微软雅黑"/>
              </a:rPr>
              <a:t>研发/团队 60%（180万）
设备/云 15%（45万）
获客/运营 15%（45万）
行政/其他 10%（30万）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51976" y="1600200"/>
            <a:ext cx="2651760" cy="2011680"/>
          </a:xfrm>
          <a:prstGeom prst="rect">
            <a:avLst/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16568" y="1746504"/>
            <a:ext cx="23225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10">
                <a:solidFill>
                  <a:srgbClr val="737373"/>
                </a:solidFill>
                <a:latin typeface="Arial"/>
                <a:ea typeface="微软雅黑"/>
              </a:rPr>
              <a:t>关键里程碑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6568" y="2039112"/>
            <a:ext cx="232257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444444"/>
                </a:solidFill>
                <a:latin typeface="Arial"/>
                <a:ea typeface="微软雅黑"/>
              </a:rPr>
              <a:t>MVP（跌倒≥90%）
首批 500–1,000 户
高级订阅上线
启动 A 轮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3840480"/>
            <a:ext cx="11183112" cy="0"/>
          </a:xfrm>
          <a:prstGeom prst="bentConnector3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3931920"/>
            <a:ext cx="11183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00">
                <a:solidFill>
                  <a:srgbClr val="FFFFFF"/>
                </a:solidFill>
                <a:latin typeface="Arial"/>
                <a:ea typeface="微软雅黑"/>
              </a:rPr>
              <a:t>估值逻辑 | Y3 前瞻收入 637 万 × P/S 倍数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1605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60">
                <a:solidFill>
                  <a:srgbClr val="002FA7"/>
                </a:solidFill>
                <a:latin typeface="Arial"/>
                <a:ea typeface="微软雅黑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16052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60">
                <a:solidFill>
                  <a:srgbClr val="002FA7"/>
                </a:solidFill>
                <a:latin typeface="Arial"/>
                <a:ea typeface="微软雅黑"/>
              </a:rPr>
              <a:t>5×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16052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60">
                <a:solidFill>
                  <a:srgbClr val="002FA7"/>
                </a:solidFill>
                <a:latin typeface="Arial"/>
                <a:ea typeface="微软雅黑"/>
              </a:rPr>
              <a:t>6×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416052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60">
                <a:solidFill>
                  <a:srgbClr val="002FA7"/>
                </a:solidFill>
                <a:latin typeface="Arial"/>
                <a:ea typeface="微软雅黑"/>
              </a:rPr>
              <a:t>7×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4160520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60">
                <a:solidFill>
                  <a:srgbClr val="002FA7"/>
                </a:solidFill>
                <a:latin typeface="Arial"/>
                <a:ea typeface="微软雅黑"/>
              </a:rPr>
              <a:t>8×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61688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60">
                <a:solidFill>
                  <a:srgbClr val="002FA7"/>
                </a:solidFill>
                <a:latin typeface="Arial"/>
                <a:ea typeface="微软雅黑"/>
              </a:rPr>
              <a:t>投后估值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436168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60">
                <a:solidFill>
                  <a:srgbClr val="FFFFFF"/>
                </a:solidFill>
                <a:latin typeface="Arial"/>
                <a:ea typeface="微软雅黑"/>
              </a:rPr>
              <a:t>3,185万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36168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60">
                <a:solidFill>
                  <a:srgbClr val="FFFFFF"/>
                </a:solidFill>
                <a:latin typeface="Arial"/>
                <a:ea typeface="微软雅黑"/>
              </a:rPr>
              <a:t>3,822万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436168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60">
                <a:solidFill>
                  <a:srgbClr val="FFFFFF"/>
                </a:solidFill>
                <a:latin typeface="Arial"/>
                <a:ea typeface="微软雅黑"/>
              </a:rPr>
              <a:t>4,460万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4361688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60">
                <a:solidFill>
                  <a:srgbClr val="FFFFFF"/>
                </a:solidFill>
                <a:latin typeface="Arial"/>
                <a:ea typeface="微软雅黑"/>
              </a:rPr>
              <a:t>5,097万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562856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60">
                <a:solidFill>
                  <a:srgbClr val="002FA7"/>
                </a:solidFill>
                <a:latin typeface="Arial"/>
                <a:ea typeface="微软雅黑"/>
              </a:rPr>
              <a:t>投前（−300万）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456285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60">
                <a:solidFill>
                  <a:srgbClr val="FFFFFF"/>
                </a:solidFill>
                <a:latin typeface="Arial"/>
                <a:ea typeface="微软雅黑"/>
              </a:rPr>
              <a:t>2,885万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56285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60">
                <a:solidFill>
                  <a:srgbClr val="FFFFFF"/>
                </a:solidFill>
                <a:latin typeface="Arial"/>
                <a:ea typeface="微软雅黑"/>
              </a:rPr>
              <a:t>3,522万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56285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60">
                <a:solidFill>
                  <a:srgbClr val="FFFFFF"/>
                </a:solidFill>
                <a:latin typeface="Arial"/>
                <a:ea typeface="微软雅黑"/>
              </a:rPr>
              <a:t>4,160万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4562856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60">
                <a:solidFill>
                  <a:srgbClr val="FFFFFF"/>
                </a:solidFill>
                <a:latin typeface="Arial"/>
                <a:ea typeface="微软雅黑"/>
              </a:rPr>
              <a:t>4,797万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76402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60">
                <a:solidFill>
                  <a:srgbClr val="002FA7"/>
                </a:solidFill>
                <a:latin typeface="Arial"/>
                <a:ea typeface="微软雅黑"/>
              </a:rPr>
              <a:t>出让比例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476402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60">
                <a:solidFill>
                  <a:srgbClr val="FFFFFF"/>
                </a:solidFill>
                <a:latin typeface="Arial"/>
                <a:ea typeface="微软雅黑"/>
              </a:rPr>
              <a:t>9.4%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476402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60">
                <a:solidFill>
                  <a:srgbClr val="FFFFFF"/>
                </a:solidFill>
                <a:latin typeface="Arial"/>
                <a:ea typeface="微软雅黑"/>
              </a:rPr>
              <a:t>7.8%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476402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60">
                <a:solidFill>
                  <a:srgbClr val="FFFFFF"/>
                </a:solidFill>
                <a:latin typeface="Arial"/>
                <a:ea typeface="微软雅黑"/>
              </a:rPr>
              <a:t>6.7%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476402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60">
                <a:solidFill>
                  <a:srgbClr val="FFFFFF"/>
                </a:solidFill>
                <a:latin typeface="Arial"/>
                <a:ea typeface="微软雅黑"/>
              </a:rPr>
              <a:t>5.9%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25780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BBBBBB"/>
                </a:solidFill>
                <a:latin typeface="Arial"/>
                <a:ea typeface="微软雅黑"/>
              </a:rPr>
              <a:t>可比：萤石上市前 8–12× P/S | 小米 IoT 3–5× | Vayyar C轮 ~10× | 国内天使轮硬件 2–5× 前瞻。家安取 5–8×：硬件+SaaS叠加（订阅毛利90%），1.5万户数据飞轮已冷启动，CAGR 218%，国产SoC降本确定性高。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806440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BBBBBB"/>
                </a:solidFill>
                <a:latin typeface="Arial"/>
                <a:ea typeface="微软雅黑"/>
              </a:rPr>
              <a:t>政策背书：国办发〔2024〕1 号"家庭配备智能安全监护设备" | 毫米波雷达已入工信部/民政部/卫健委《推广目录》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263640"/>
            <a:ext cx="11183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spc="100">
                <a:solidFill>
                  <a:srgbClr val="737373"/>
                </a:solidFill>
                <a:latin typeface="Arial"/>
                <a:ea typeface="微软雅黑"/>
              </a:rPr>
              <a:t>家安 housafe · 天使轮 300 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9184"/>
            <a:ext cx="73152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spc="120">
                <a:solidFill>
                  <a:srgbClr val="737373"/>
                </a:solidFill>
                <a:latin typeface="Arial"/>
                <a:ea typeface="微软雅黑"/>
              </a:rPr>
              <a:t>Financials &amp; Roadmap · 财务与里程碑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90895" y="329184"/>
            <a:ext cx="589788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spc="120">
                <a:solidFill>
                  <a:srgbClr val="737373"/>
                </a:solidFill>
                <a:latin typeface="Arial"/>
                <a:ea typeface="微软雅黑"/>
              </a:rPr>
              <a:t>家安 housafe · 天使轮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822960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spc="150">
                <a:solidFill>
                  <a:srgbClr val="002FA7"/>
                </a:solidFill>
                <a:latin typeface="Arial"/>
                <a:ea typeface="微软雅黑"/>
              </a:rPr>
              <a:t>FINANCIALS &amp;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6858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spc="100">
                <a:solidFill>
                  <a:srgbClr val="002FA7"/>
                </a:solidFill>
                <a:latin typeface="Arial"/>
                <a:ea typeface="微软雅黑"/>
              </a:rPr>
              <a:t>三年财务预测（万元）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8988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02FA7"/>
                </a:solidFill>
                <a:latin typeface="Arial"/>
                <a:ea typeface="微软雅黑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3898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02FA7"/>
                </a:solidFill>
                <a:latin typeface="Arial"/>
                <a:ea typeface="微软雅黑"/>
              </a:rPr>
              <a:t>Y1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3898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02FA7"/>
                </a:solidFill>
                <a:latin typeface="Arial"/>
                <a:ea typeface="微软雅黑"/>
              </a:rPr>
              <a:t>Y2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13898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02FA7"/>
                </a:solidFill>
                <a:latin typeface="Arial"/>
                <a:ea typeface="微软雅黑"/>
              </a:rPr>
              <a:t>Y3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7276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年末装机（户）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157276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1,000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157276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157276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15,000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175564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硬件收入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175564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59.9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75564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239.6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175564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599.0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93852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订阅收入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193852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3852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13.7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193852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38.1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212140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总收入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212140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62.9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212140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253.3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212140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637.1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230428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硬件 BOM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23042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42.5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23042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170.0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23042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425.0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248716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云服务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248716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1.4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86200" y="248716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6.6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40680" y="248716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19.6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267004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获客成本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267004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0.3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86200" y="267004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1.2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80" y="267004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3.0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285292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人力（5/8/12人）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285292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175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86200" y="285292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280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285292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420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303580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行政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303580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303580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0680" y="303580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321868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总费用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32186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234.2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86200" y="32186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477.8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40680" y="32186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897.6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340156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02FA7"/>
                </a:solidFill>
                <a:latin typeface="Arial"/>
                <a:ea typeface="微软雅黑"/>
              </a:rPr>
              <a:t>净利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31720" y="340156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A0A0A"/>
                </a:solidFill>
                <a:latin typeface="Arial"/>
                <a:ea typeface="微软雅黑"/>
              </a:rPr>
              <a:t>−206.5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86200" y="340156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A0A0A"/>
                </a:solidFill>
                <a:latin typeface="Arial"/>
                <a:ea typeface="微软雅黑"/>
              </a:rPr>
              <a:t>−355.8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0680" y="340156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A0A0A"/>
                </a:solidFill>
                <a:latin typeface="Arial"/>
                <a:ea typeface="微软雅黑"/>
              </a:rPr>
              <a:t>−584.5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58000" y="1143000"/>
            <a:ext cx="4754880" cy="2240280"/>
          </a:xfrm>
          <a:prstGeom prst="rect">
            <a:avLst/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60" y="1234440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00">
                <a:solidFill>
                  <a:srgbClr val="002FA7"/>
                </a:solidFill>
                <a:latin typeface="Arial"/>
                <a:ea typeface="微软雅黑"/>
              </a:rPr>
              <a:t>单位经济（单用户加权平均）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95160" y="1481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02FA7"/>
                </a:solidFill>
                <a:latin typeface="Arial"/>
                <a:ea typeface="微软雅黑"/>
              </a:rPr>
              <a:t/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58200" y="148132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02FA7"/>
                </a:solidFill>
                <a:latin typeface="Arial"/>
                <a:ea typeface="微软雅黑"/>
              </a:rPr>
              <a:t>早期 BOM 425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4120" y="148132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02FA7"/>
                </a:solidFill>
                <a:latin typeface="Arial"/>
                <a:ea typeface="微软雅黑"/>
              </a:rPr>
              <a:t>降本后 BOM 110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95160" y="166420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硬件 ASP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58200" y="166420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599 元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04120" y="166420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599 元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95160" y="184708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硬件毛利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58200" y="184708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174 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04120" y="184708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489 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95160" y="20299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订阅 ARPU（年）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58200" y="202996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30 元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202996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30 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60" y="221284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3年 LTV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58200" y="221284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232 元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104120" y="221284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547 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95160" y="23957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333333"/>
                </a:solidFill>
                <a:latin typeface="Arial"/>
                <a:ea typeface="微软雅黑"/>
              </a:rPr>
              <a:t>CAC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58200" y="239572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300 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239572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spc="50">
                <a:solidFill>
                  <a:srgbClr val="333333"/>
                </a:solidFill>
                <a:latin typeface="Arial"/>
                <a:ea typeface="微软雅黑"/>
              </a:rPr>
              <a:t>250 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95160" y="257860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02FA7"/>
                </a:solidFill>
                <a:latin typeface="Arial"/>
                <a:ea typeface="微软雅黑"/>
              </a:rPr>
              <a:t>LTV / CAC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58200" y="257860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A0A0A"/>
                </a:solidFill>
                <a:latin typeface="Arial"/>
                <a:ea typeface="微软雅黑"/>
              </a:rPr>
              <a:t>0.77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04120" y="2578608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spc="50">
                <a:solidFill>
                  <a:srgbClr val="0A0A0A"/>
                </a:solidFill>
                <a:latin typeface="Arial"/>
                <a:ea typeface="微软雅黑"/>
              </a:rPr>
              <a:t>2.19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95160" y="2807208"/>
            <a:ext cx="4480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37373"/>
                </a:solidFill>
                <a:latin typeface="Arial"/>
                <a:ea typeface="微软雅黑"/>
              </a:rPr>
              <a:t>盈亏平衡约 Y4。敏感性：转化率 10%/15%/20% → 订阅 LTV 39/58/77 元，降本是转正主杠杆。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02920" y="361188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02920" y="3703320"/>
            <a:ext cx="11183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spc="100">
                <a:solidFill>
                  <a:srgbClr val="002FA7"/>
                </a:solidFill>
                <a:latin typeface="Arial"/>
                <a:ea typeface="微软雅黑"/>
              </a:rPr>
              <a:t>12 个月里程碑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2920" y="395020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50">
                <a:solidFill>
                  <a:srgbClr val="002FA7"/>
                </a:solidFill>
                <a:latin typeface="Arial"/>
                <a:ea typeface="微软雅黑"/>
              </a:rPr>
              <a:t>M0–M3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74519" y="395020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50">
                <a:solidFill>
                  <a:srgbClr val="0A0A0A"/>
                </a:solidFill>
                <a:latin typeface="Arial"/>
                <a:ea typeface="微软雅黑"/>
              </a:rPr>
              <a:t>原型产品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46120" y="395020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50">
                <a:solidFill>
                  <a:srgbClr val="333333"/>
                </a:solidFill>
                <a:latin typeface="Arial"/>
                <a:ea typeface="微软雅黑"/>
              </a:rPr>
              <a:t>硬件上电出点云 → 采集 ≥100 文件 → 标注 ≥8,000 帧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417880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50">
                <a:solidFill>
                  <a:srgbClr val="002FA7"/>
                </a:solidFill>
                <a:latin typeface="Arial"/>
                <a:ea typeface="微软雅黑"/>
              </a:rPr>
              <a:t>M3–M6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74519" y="417880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50">
                <a:solidFill>
                  <a:srgbClr val="0A0A0A"/>
                </a:solidFill>
                <a:latin typeface="Arial"/>
                <a:ea typeface="微软雅黑"/>
              </a:rPr>
              <a:t>软件产品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46120" y="417880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50">
                <a:solidFill>
                  <a:srgbClr val="333333"/>
                </a:solidFill>
                <a:latin typeface="Arial"/>
                <a:ea typeface="微软雅黑"/>
              </a:rPr>
              <a:t>ALG-0 训练（F1≥0.85）→ A/B 对比 → 推理管线 → Dashboard → 内测 5–8 户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920" y="440740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50">
                <a:solidFill>
                  <a:srgbClr val="002FA7"/>
                </a:solidFill>
                <a:latin typeface="Arial"/>
                <a:ea typeface="微软雅黑"/>
              </a:rPr>
              <a:t>M6–M9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874519" y="440740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50">
                <a:solidFill>
                  <a:srgbClr val="0A0A0A"/>
                </a:solidFill>
                <a:latin typeface="Arial"/>
                <a:ea typeface="微软雅黑"/>
              </a:rPr>
              <a:t>算法迭代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46120" y="440740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50">
                <a:solidFill>
                  <a:srgbClr val="333333"/>
                </a:solidFill>
                <a:latin typeface="Arial"/>
                <a:ea typeface="微软雅黑"/>
              </a:rPr>
              <a:t>降误报 → 长尾标注 → 自监督验证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" y="463600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50">
                <a:solidFill>
                  <a:srgbClr val="002FA7"/>
                </a:solidFill>
                <a:latin typeface="Arial"/>
                <a:ea typeface="微软雅黑"/>
              </a:rPr>
              <a:t>M9–M12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874519" y="463600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spc="50">
                <a:solidFill>
                  <a:srgbClr val="0A0A0A"/>
                </a:solidFill>
                <a:latin typeface="Arial"/>
                <a:ea typeface="微软雅黑"/>
              </a:rPr>
              <a:t>商用冷启动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246120" y="463600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spc="50">
                <a:solidFill>
                  <a:srgbClr val="333333"/>
                </a:solidFill>
                <a:latin typeface="Arial"/>
                <a:ea typeface="微软雅黑"/>
              </a:rPr>
              <a:t>iOS 上线 → 高级订阅 → 首批 500–1,000 户 → 启动 A 轮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502920" y="4937760"/>
            <a:ext cx="11183112" cy="0"/>
          </a:xfrm>
          <a:prstGeom prst="bentConnector3">
            <a:avLst/>
          </a:prstGeom>
          <a:ln w="12700">
            <a:solidFill>
              <a:srgbClr val="D4D4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02920" y="5029200"/>
            <a:ext cx="1118311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spc="100">
                <a:solidFill>
                  <a:srgbClr val="002FA7"/>
                </a:solidFill>
                <a:latin typeface="Arial"/>
                <a:ea typeface="微软雅黑"/>
              </a:rPr>
              <a:t>盈亏平衡路径（约 Y4）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2920" y="5230368"/>
            <a:ext cx="1118311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333333"/>
                </a:solidFill>
                <a:latin typeface="Arial"/>
                <a:ea typeface="微软雅黑"/>
              </a:rPr>
              <a:t>① 国产 SoC 降本 BOM 425→110 → 硬件毛利 174→489 元 | ② 装机到 3–5 万户 → 固定费用摊薄 | ③ 订阅续费累积 → 存量收入占比上升 | ④ Y4 单月打平，Y5 全年盈利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" y="5623560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737373"/>
                </a:solidFill>
                <a:latin typeface="Arial"/>
                <a:ea typeface="微软雅黑"/>
              </a:rPr>
              <a:t>退出路径：Y6–Y7 目标 20–50 万户，年收入 6,000万–1.9亿。对标 Vayyar（$1B），P/S 4–6× → 退出估值 2.4–11.4 亿。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" y="6263640"/>
            <a:ext cx="11183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spc="100">
                <a:solidFill>
                  <a:srgbClr val="737373"/>
                </a:solidFill>
                <a:latin typeface="Arial"/>
                <a:ea typeface="微软雅黑"/>
              </a:rPr>
              <a:t>家安 housafe · 天使轮 300 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