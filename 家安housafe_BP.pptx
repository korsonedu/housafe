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120">
                <a:solidFill>
                  <a:srgbClr val="FFFFFF"/>
                </a:solidFill>
                <a:latin typeface="Arial"/>
                <a:ea typeface="微软雅黑"/>
              </a:rPr>
              <a:t>家安 housafe · 商业计划书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90895" y="329184"/>
            <a:ext cx="5897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 spc="120">
                <a:solidFill>
                  <a:srgbClr val="FFFFFF"/>
                </a:solidFill>
                <a:latin typeface="Arial"/>
                <a:ea typeface="微软雅黑"/>
              </a:rPr>
              <a:t>2026 · 01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74519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50">
                <a:solidFill>
                  <a:srgbClr val="FFFFFF"/>
                </a:solidFill>
                <a:latin typeface="Arial"/>
                <a:ea typeface="微软雅黑"/>
              </a:rPr>
              <a:t>HOUSAFE · 居家养老 AI 健康守护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317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4000" b="0" i="0">
                <a:solidFill>
                  <a:srgbClr val="FFFFFF"/>
                </a:solidFill>
                <a:latin typeface="Arial"/>
                <a:ea typeface="微软雅黑"/>
              </a:rPr>
              <a:t>让每个在家变老的人，</a:t>
            </a:r>
          </a:p>
          <a:p>
            <a:pPr>
              <a:lnSpc>
                <a:spcPct val="108000"/>
              </a:lnSpc>
            </a:pPr>
            <a:r>
              <a:rPr sz="4000" b="0" i="1">
                <a:solidFill>
                  <a:srgbClr val="FFFFFF"/>
                </a:solidFill>
                <a:latin typeface="Arial"/>
                <a:ea typeface="微软雅黑"/>
              </a:rPr>
              <a:t>被持续看见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4800600"/>
            <a:ext cx="11183112" cy="0"/>
          </a:xfrm>
          <a:prstGeom prst="bentConnector3">
            <a:avLst/>
          </a:prstGeom>
          <a:ln w="12700">
            <a:solidFill>
              <a:srgbClr val="6E8A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49834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FFFFFF"/>
                </a:solidFill>
                <a:latin typeface="Arial"/>
                <a:ea typeface="微软雅黑"/>
              </a:rPr>
              <a:t>面向异地子女的非接触式 AI 居家健康监测系统。毫米波雷达组网，无感采集老人在家的活动与生命体征，AI 识别异常、分级通知子女——从跌倒监测切入，做居家养老的健康基础设施。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3093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20">
                <a:solidFill>
                  <a:srgbClr val="D5DDF2"/>
                </a:solidFill>
                <a:latin typeface="Arial"/>
                <a:ea typeface="微软雅黑"/>
              </a:rPr>
              <a:t>天使轮 · 拟融资 800 万 / 18 个月跑道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309360"/>
            <a:ext cx="4370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20">
                <a:solidFill>
                  <a:srgbClr val="D5DDF2"/>
                </a:solidFill>
                <a:latin typeface="Arial"/>
                <a:ea typeface="微软雅黑"/>
              </a:rPr>
              <a:t>housafe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120">
                <a:solidFill>
                  <a:srgbClr val="737373"/>
                </a:solidFill>
                <a:latin typeface="Arial"/>
                <a:ea typeface="微软雅黑"/>
              </a:rPr>
              <a:t>Executive Summary · 机会速览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90895" y="329184"/>
            <a:ext cx="5897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 spc="120">
                <a:solidFill>
                  <a:srgbClr val="737373"/>
                </a:solidFill>
                <a:latin typeface="Arial"/>
                <a:ea typeface="微软雅黑"/>
              </a:rPr>
              <a:t>02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50">
                <a:solidFill>
                  <a:srgbClr val="002FA7"/>
                </a:solidFill>
                <a:latin typeface="Arial"/>
                <a:ea typeface="微软雅黑"/>
              </a:rPr>
              <a:t>THE OPPORTUNITY · 一页看懂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155680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700" b="0" i="0">
                <a:solidFill>
                  <a:srgbClr val="0A0A0A"/>
                </a:solidFill>
                <a:latin typeface="Arial"/>
                <a:ea typeface="微软雅黑"/>
              </a:rPr>
              <a:t>一页看懂家安 housafe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65960"/>
            <a:ext cx="3602736" cy="1993392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148840"/>
            <a:ext cx="3236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20">
                <a:solidFill>
                  <a:srgbClr val="737373"/>
                </a:solidFill>
                <a:latin typeface="Arial"/>
                <a:ea typeface="微软雅黑"/>
              </a:rPr>
              <a:t>01 痛点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44144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A0A0A"/>
                </a:solidFill>
                <a:latin typeface="Arial"/>
                <a:ea typeface="微软雅黑"/>
              </a:rPr>
              <a:t>2.2 亿老人的跌倒盲区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926080"/>
            <a:ext cx="3200400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04040"/>
                </a:solidFill>
                <a:latin typeface="Arial"/>
                <a:ea typeface="微软雅黑"/>
              </a:rPr>
              <a:t>跌倒是 65+ 伤害死亡首位原因，约 30% 每年至少跌倒一次、年逾 4000 万人；47% 摔倒后无法自行起身，而子女异地。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5112" y="1965960"/>
            <a:ext cx="3602736" cy="1993392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79" y="2148840"/>
            <a:ext cx="3236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20">
                <a:solidFill>
                  <a:srgbClr val="737373"/>
                </a:solidFill>
                <a:latin typeface="Arial"/>
                <a:ea typeface="微软雅黑"/>
              </a:rPr>
              <a:t>02 市场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244144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A0A0A"/>
                </a:solidFill>
                <a:latin typeface="Arial"/>
                <a:ea typeface="微软雅黑"/>
              </a:rPr>
              <a:t>万亿级银发经济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2926080"/>
            <a:ext cx="3200400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04040"/>
                </a:solidFill>
                <a:latin typeface="Arial"/>
                <a:ea typeface="微软雅黑"/>
              </a:rPr>
              <a:t>银发经济 2024 约 7 万亿 → 2035 约 30 万亿；智能养老设备 2025 约 1840 亿、年增约 20%；政策写进国办文件。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47304" y="1965960"/>
            <a:ext cx="3602736" cy="1993392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2148840"/>
            <a:ext cx="3236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20">
                <a:solidFill>
                  <a:srgbClr val="737373"/>
                </a:solidFill>
                <a:latin typeface="Arial"/>
                <a:ea typeface="微软雅黑"/>
              </a:rPr>
              <a:t>03 产品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244144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A0A0A"/>
                </a:solidFill>
                <a:latin typeface="Arial"/>
                <a:ea typeface="微软雅黑"/>
              </a:rPr>
              <a:t>全屋雷达无感组网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2" y="2926080"/>
            <a:ext cx="3200400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04040"/>
                </a:solidFill>
                <a:latin typeface="Arial"/>
                <a:ea typeface="微软雅黑"/>
              </a:rPr>
              <a:t>2–4 个毫米波雷达组网，不穿戴、不操作、无摄像头；AI 识别跌倒/静止/体征异常/模式偏离四类事件。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160520"/>
            <a:ext cx="3602736" cy="1993392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4343400"/>
            <a:ext cx="3236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20">
                <a:solidFill>
                  <a:srgbClr val="737373"/>
                </a:solidFill>
                <a:latin typeface="Arial"/>
                <a:ea typeface="微软雅黑"/>
              </a:rPr>
              <a:t>04 壁垒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463600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A0A0A"/>
                </a:solidFill>
                <a:latin typeface="Arial"/>
                <a:ea typeface="微软雅黑"/>
              </a:rPr>
              <a:t>自研点云 + 数据飞轮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5120640"/>
            <a:ext cx="3200400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04040"/>
                </a:solidFill>
                <a:latin typeface="Arial"/>
                <a:ea typeface="微软雅黑"/>
              </a:rPr>
              <a:t>不用厂商固件，直接从原始点云自研感知；多雷达聚合全屋画像；个人基线越用越准，形成时间锁。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25112" y="4160520"/>
            <a:ext cx="3602736" cy="1993392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79" y="4343400"/>
            <a:ext cx="3236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20">
                <a:solidFill>
                  <a:srgbClr val="737373"/>
                </a:solidFill>
                <a:latin typeface="Arial"/>
                <a:ea typeface="微软雅黑"/>
              </a:rPr>
              <a:t>05 模式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79" y="463600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A0A0A"/>
                </a:solidFill>
                <a:latin typeface="Arial"/>
                <a:ea typeface="微软雅黑"/>
              </a:rPr>
              <a:t>买断获客 + 订阅盈利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79" y="5120640"/>
            <a:ext cx="3200400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04040"/>
                </a:solidFill>
                <a:latin typeface="Arial"/>
                <a:ea typeface="微软雅黑"/>
              </a:rPr>
              <a:t>硬件 299–799 元一次买断（微利获客），高级健康服务 199 元/年（高毛利）；单位经济随降本从 0.77 转正到 2.19。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47304" y="4160520"/>
            <a:ext cx="3602736" cy="1993392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48472" y="4343400"/>
            <a:ext cx="3236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20">
                <a:solidFill>
                  <a:srgbClr val="FFFFFF"/>
                </a:solidFill>
                <a:latin typeface="Arial"/>
                <a:ea typeface="微软雅黑"/>
              </a:rPr>
              <a:t>06 融资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8472" y="463600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Arial"/>
                <a:ea typeface="微软雅黑"/>
              </a:rPr>
              <a:t>天使轮 800 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8472" y="5120640"/>
            <a:ext cx="3200400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CF0FB"/>
                </a:solidFill>
                <a:latin typeface="Arial"/>
                <a:ea typeface="微软雅黑"/>
              </a:rPr>
              <a:t>18 个月跑道，覆盖 MVP 验证到国产 SoC 降本样机，达成数千户商用与数据飞轮，为 A 轮铺路。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120">
                <a:solidFill>
                  <a:srgbClr val="FFFFFF"/>
                </a:solidFill>
                <a:latin typeface="Arial"/>
                <a:ea typeface="微软雅黑"/>
              </a:rPr>
              <a:t>The Problem · 需求痛点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90895" y="329184"/>
            <a:ext cx="5897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 spc="120">
                <a:solidFill>
                  <a:srgbClr val="FFFFFF"/>
                </a:solidFill>
                <a:latin typeface="Arial"/>
                <a:ea typeface="微软雅黑"/>
              </a:rPr>
              <a:t>03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50">
                <a:solidFill>
                  <a:srgbClr val="FFFFFF"/>
                </a:solidFill>
                <a:latin typeface="Arial"/>
                <a:ea typeface="微软雅黑"/>
              </a:rPr>
              <a:t>被忽视的高频高危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5029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3400" b="0" i="0">
                <a:solidFill>
                  <a:srgbClr val="FFFFFF"/>
                </a:solidFill>
                <a:latin typeface="Arial"/>
                <a:ea typeface="微软雅黑"/>
              </a:rPr>
              <a:t>每 3 位老人</a:t>
            </a:r>
          </a:p>
          <a:p>
            <a:pPr>
              <a:lnSpc>
                <a:spcPct val="108000"/>
              </a:lnSpc>
            </a:pPr>
            <a:r>
              <a:rPr sz="3400" b="0" i="0">
                <a:solidFill>
                  <a:srgbClr val="FFFFFF"/>
                </a:solidFill>
                <a:latin typeface="Arial"/>
                <a:ea typeface="微软雅黑"/>
              </a:rPr>
              <a:t>就有 1 人</a:t>
            </a:r>
          </a:p>
          <a:p>
            <a:pPr>
              <a:lnSpc>
                <a:spcPct val="108000"/>
              </a:lnSpc>
            </a:pPr>
            <a:r>
              <a:rPr sz="3400" b="0" i="1">
                <a:solidFill>
                  <a:srgbClr val="FFFFFF"/>
                </a:solidFill>
                <a:latin typeface="Arial"/>
                <a:ea typeface="微软雅黑"/>
              </a:rPr>
              <a:t>每年跌倒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43400"/>
            <a:ext cx="4937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C8C8C8"/>
                </a:solidFill>
                <a:latin typeface="Arial"/>
                <a:ea typeface="微软雅黑"/>
              </a:rPr>
              <a:t>我国 65+ 老人已达 2.2 亿（占 15.6%，2035 年约 3 亿），90% 居家养老。但父母在家过得好不好、有没有摔倒，对异地子女是一片盲区——空巢老人占比过半。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126480" y="1783080"/>
            <a:ext cx="5559552" cy="0"/>
          </a:xfrm>
          <a:prstGeom prst="bentConnector3">
            <a:avLst/>
          </a:prstGeom>
          <a:ln w="12700">
            <a:solidFill>
              <a:srgbClr val="5555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126480" y="1874519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120">
                <a:solidFill>
                  <a:srgbClr val="999999"/>
                </a:solidFill>
                <a:latin typeface="Arial"/>
                <a:ea typeface="微软雅黑"/>
              </a:rPr>
              <a:t>65+ 老人 · 年跌倒人数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084831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Arial"/>
                <a:ea typeface="微软雅黑"/>
              </a:rPr>
              <a:t>4000万+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880360"/>
            <a:ext cx="55595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C8C8C8"/>
                </a:solidFill>
                <a:latin typeface="Arial"/>
                <a:ea typeface="微软雅黑"/>
              </a:rPr>
              <a:t>约 30% 每年至少跌倒一次；跌倒是我国 65+ 老人伤害死亡首位原因、创伤性骨折首位原因。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0" y="3611880"/>
            <a:ext cx="5559552" cy="0"/>
          </a:xfrm>
          <a:prstGeom prst="bentConnector3">
            <a:avLst/>
          </a:prstGeom>
          <a:ln w="12700">
            <a:solidFill>
              <a:srgbClr val="5555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80" y="37033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120">
                <a:solidFill>
                  <a:srgbClr val="999999"/>
                </a:solidFill>
                <a:latin typeface="Arial"/>
                <a:ea typeface="微软雅黑"/>
              </a:rPr>
              <a:t>摔倒后无法自行起身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913632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Arial"/>
                <a:ea typeface="微软雅黑"/>
              </a:rPr>
              <a:t>47%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4709160"/>
            <a:ext cx="55595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C8C8C8"/>
                </a:solidFill>
                <a:latin typeface="Arial"/>
                <a:ea typeface="微软雅黑"/>
              </a:rPr>
              <a:t>20–30% 倒地超 1 小时；髋部骨折 1 年死亡率约 14–25%，人均住院约 1.98 万元。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126480" y="5394960"/>
            <a:ext cx="5559552" cy="0"/>
          </a:xfrm>
          <a:prstGeom prst="bentConnector3">
            <a:avLst/>
          </a:prstGeom>
          <a:ln w="12700">
            <a:solidFill>
              <a:srgbClr val="5555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126480" y="54864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CFCFCF"/>
                </a:solidFill>
                <a:latin typeface="Arial"/>
                <a:ea typeface="微软雅黑"/>
              </a:rPr>
              <a:t>摄像头：浴室不可装、隐私争议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54864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CFCFCF"/>
                </a:solidFill>
                <a:latin typeface="Arial"/>
                <a:ea typeface="微软雅黑"/>
              </a:rPr>
              <a:t>手环：依从性仅 30–50%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577900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CFCFCF"/>
                </a:solidFill>
                <a:latin typeface="Arial"/>
                <a:ea typeface="微软雅黑"/>
              </a:rPr>
              <a:t>按钮：摔倒够不到/昏迷无效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577900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CFCFCF"/>
                </a:solidFill>
                <a:latin typeface="Arial"/>
                <a:ea typeface="微软雅黑"/>
              </a:rPr>
              <a:t>现有雷达：单房间/误报高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327648"/>
            <a:ext cx="11183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FFFFFF"/>
                </a:solidFill>
                <a:latin typeface="Arial"/>
                <a:ea typeface="微软雅黑"/>
              </a:rPr>
              <a:t>来源：民政部《2024 国家老龄事业发展公报》· 中国 CDC《老年人跌倒干预技术指南》(2011)/《核心信息》(2021) · BMJ 跌倒 Long-lie 研究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120">
                <a:solidFill>
                  <a:srgbClr val="737373"/>
                </a:solidFill>
                <a:latin typeface="Arial"/>
                <a:ea typeface="微软雅黑"/>
              </a:rPr>
              <a:t>The Market · 市场规模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90895" y="329184"/>
            <a:ext cx="5897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 spc="120">
                <a:solidFill>
                  <a:srgbClr val="737373"/>
                </a:solidFill>
                <a:latin typeface="Arial"/>
                <a:ea typeface="微软雅黑"/>
              </a:rPr>
              <a:t>04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50">
                <a:solidFill>
                  <a:srgbClr val="002FA7"/>
                </a:solidFill>
                <a:latin typeface="Arial"/>
                <a:ea typeface="微软雅黑"/>
              </a:rPr>
              <a:t>WHY NOW · 万亿级赛道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1155680" cy="1120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500" b="0" i="0">
                <a:solidFill>
                  <a:srgbClr val="0A0A0A"/>
                </a:solidFill>
                <a:latin typeface="Arial"/>
                <a:ea typeface="微软雅黑"/>
              </a:rPr>
              <a:t>一个正在爆发的银发健康市场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2651760" cy="320040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03911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10">
                <a:solidFill>
                  <a:srgbClr val="FFFFFF"/>
                </a:solidFill>
                <a:latin typeface="Arial"/>
                <a:ea typeface="微软雅黑"/>
              </a:rPr>
              <a:t>TAM · 银发经济 2035E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33172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0" i="0">
                <a:solidFill>
                  <a:srgbClr val="FFFFFF"/>
                </a:solidFill>
                <a:latin typeface="Arial"/>
                <a:ea typeface="微软雅黑"/>
              </a:rPr>
              <a:t>30万亿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4507992"/>
            <a:ext cx="235915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E0E6F5"/>
                </a:solidFill>
                <a:latin typeface="Arial"/>
                <a:ea typeface="微软雅黑"/>
              </a:rPr>
              <a:t>2024 约 7 万亿 · CAGR≈15%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28415" y="3246120"/>
            <a:ext cx="2651760" cy="1828800"/>
          </a:xfrm>
          <a:prstGeom prst="rect">
            <a:avLst/>
          </a:prstGeom>
          <a:solidFill>
            <a:srgbClr val="FAFAF8"/>
          </a:solidFill>
          <a:ln w="12700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3008" y="341071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10">
                <a:solidFill>
                  <a:srgbClr val="737373"/>
                </a:solidFill>
                <a:latin typeface="Arial"/>
                <a:ea typeface="微软雅黑"/>
              </a:rPr>
              <a:t>SAM · 智能养老设备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370332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0" i="0">
                <a:solidFill>
                  <a:srgbClr val="0A0A0A"/>
                </a:solidFill>
                <a:latin typeface="Arial"/>
                <a:ea typeface="微软雅黑"/>
              </a:rPr>
              <a:t>≈2400亿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4507992"/>
            <a:ext cx="235915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37373"/>
                </a:solidFill>
                <a:latin typeface="Arial"/>
                <a:ea typeface="微软雅黑"/>
              </a:rPr>
              <a:t>设备 1840 亿 + 适老化 600 亿(2025)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53912" y="2606039"/>
            <a:ext cx="2651760" cy="2468880"/>
          </a:xfrm>
          <a:prstGeom prst="rect">
            <a:avLst/>
          </a:prstGeom>
          <a:solidFill>
            <a:srgbClr val="FAFAF8"/>
          </a:solidFill>
          <a:ln w="12700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3" y="277063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10">
                <a:solidFill>
                  <a:srgbClr val="737373"/>
                </a:solidFill>
                <a:latin typeface="Arial"/>
                <a:ea typeface="微软雅黑"/>
              </a:rPr>
              <a:t>刚需人群 · 年跌倒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3" y="3063239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0" i="0">
                <a:solidFill>
                  <a:srgbClr val="0A0A0A"/>
                </a:solidFill>
                <a:latin typeface="Arial"/>
                <a:ea typeface="微软雅黑"/>
              </a:rPr>
              <a:t>4000万+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8503" y="4507992"/>
            <a:ext cx="235915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37373"/>
                </a:solidFill>
                <a:latin typeface="Arial"/>
                <a:ea typeface="微软雅黑"/>
              </a:rPr>
              <a:t>65+ 老人跌倒人次 / 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79408" y="3794760"/>
            <a:ext cx="2651760" cy="1280160"/>
          </a:xfrm>
          <a:prstGeom prst="rect">
            <a:avLst/>
          </a:prstGeom>
          <a:solidFill>
            <a:srgbClr val="FAFAF8"/>
          </a:solidFill>
          <a:ln w="12700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395935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10">
                <a:solidFill>
                  <a:srgbClr val="737373"/>
                </a:solidFill>
                <a:latin typeface="Arial"/>
                <a:ea typeface="微软雅黑"/>
              </a:rPr>
              <a:t>需求信号 · 增速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425196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0" i="0">
                <a:solidFill>
                  <a:srgbClr val="0A0A0A"/>
                </a:solidFill>
                <a:latin typeface="Arial"/>
                <a:ea typeface="微软雅黑"/>
              </a:rPr>
              <a:t>+53.6%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4507992"/>
            <a:ext cx="235915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37373"/>
                </a:solidFill>
                <a:latin typeface="Arial"/>
                <a:ea typeface="微软雅黑"/>
              </a:rPr>
              <a:t>健康监测可穿戴 25H1 出货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02920" y="5349240"/>
            <a:ext cx="11183112" cy="0"/>
          </a:xfrm>
          <a:prstGeom prst="bentConnector3">
            <a:avLst/>
          </a:prstGeom>
          <a:ln w="12700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02920" y="54864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A0A0A"/>
                </a:solidFill>
                <a:latin typeface="Arial"/>
                <a:ea typeface="微软雅黑"/>
              </a:rPr>
              <a:t>① 老龄化拐点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7607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737373"/>
                </a:solidFill>
                <a:latin typeface="Arial"/>
                <a:ea typeface="微软雅黑"/>
              </a:rPr>
              <a:t>65+ 已 2.2 亿，深度老龄化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00984" y="54864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A0A0A"/>
                </a:solidFill>
                <a:latin typeface="Arial"/>
                <a:ea typeface="微软雅黑"/>
              </a:rPr>
              <a:t>② 雷达降本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00984" y="57607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737373"/>
                </a:solidFill>
                <a:latin typeface="Arial"/>
                <a:ea typeface="微软雅黑"/>
              </a:rPr>
              <a:t>60GHz SoC 走向百元内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9048" y="54864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A0A0A"/>
                </a:solidFill>
                <a:latin typeface="Arial"/>
                <a:ea typeface="微软雅黑"/>
              </a:rPr>
              <a:t>③ AI 成熟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9048" y="57607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737373"/>
                </a:solidFill>
                <a:latin typeface="Arial"/>
                <a:ea typeface="微软雅黑"/>
              </a:rPr>
              <a:t>云端点云深度模型可行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97112" y="54864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A0A0A"/>
                </a:solidFill>
                <a:latin typeface="Arial"/>
                <a:ea typeface="微软雅黑"/>
              </a:rPr>
              <a:t>④ 政策点名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7112" y="57607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737373"/>
                </a:solidFill>
                <a:latin typeface="Arial"/>
                <a:ea typeface="微软雅黑"/>
              </a:rPr>
              <a:t>国办发〔2024〕1 号写入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327648"/>
            <a:ext cx="11183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37373"/>
                </a:solidFill>
                <a:latin typeface="Arial"/>
                <a:ea typeface="微软雅黑"/>
              </a:rPr>
              <a:t>来源：《银发经济蓝皮书(2024)》社科文献出版社 · 中商产业研究院(2025) · IDC(2025H1)。市场金额为机构测算。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120">
                <a:solidFill>
                  <a:srgbClr val="737373"/>
                </a:solidFill>
                <a:latin typeface="Arial"/>
                <a:ea typeface="微软雅黑"/>
              </a:rPr>
              <a:t>The Product · 产品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90895" y="329184"/>
            <a:ext cx="5897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 spc="120">
                <a:solidFill>
                  <a:srgbClr val="737373"/>
                </a:solidFill>
                <a:latin typeface="Arial"/>
                <a:ea typeface="微软雅黑"/>
              </a:rPr>
              <a:t>05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50">
                <a:solidFill>
                  <a:srgbClr val="002FA7"/>
                </a:solidFill>
                <a:latin typeface="Arial"/>
                <a:ea typeface="微软雅黑"/>
              </a:rP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1155680" cy="1120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500" b="0" i="0">
                <a:solidFill>
                  <a:srgbClr val="0A0A0A"/>
                </a:solidFill>
                <a:latin typeface="Arial"/>
                <a:ea typeface="微软雅黑"/>
              </a:rPr>
              <a:t>全屋雷达组网，无感守护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404040"/>
                </a:solidFill>
                <a:latin typeface="Arial"/>
                <a:ea typeface="微软雅黑"/>
              </a:rPr>
              <a:t>子女带回家，一人操作、15 分钟装完、无需工具。雷达 7×24 采集，云端 AI 识别异常，异地子女第一时间知道；老人不穿戴、不操作、无感被守护。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2514600"/>
            <a:ext cx="2606040" cy="0"/>
          </a:xfrm>
          <a:prstGeom prst="bentConnector3">
            <a:avLst/>
          </a:prstGeom>
          <a:ln w="27940">
            <a:solidFill>
              <a:srgbClr val="002F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2920" y="2624328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60">
                <a:solidFill>
                  <a:srgbClr val="737373"/>
                </a:solidFill>
                <a:latin typeface="Arial"/>
                <a:ea typeface="微软雅黑"/>
              </a:rPr>
              <a:t>01 采集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98648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A0A0A"/>
                </a:solidFill>
                <a:latin typeface="Arial"/>
                <a:ea typeface="微软雅黑"/>
              </a:rPr>
              <a:t>毫米波雷达组网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355848"/>
            <a:ext cx="25603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444444"/>
                </a:solidFill>
                <a:latin typeface="Arial"/>
                <a:ea typeface="微软雅黑"/>
              </a:rPr>
              <a:t>Φ85mm 白色感应器，外观像烟雾探测器；天花板/墙壁磁吸，2.4G WiFi 直连云，功耗&lt;2W；采集姿态、活动、呼吸、心率。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46704" y="2514600"/>
            <a:ext cx="2606040" cy="0"/>
          </a:xfrm>
          <a:prstGeom prst="bentConnector3">
            <a:avLst/>
          </a:prstGeom>
          <a:ln w="27940">
            <a:solidFill>
              <a:srgbClr val="002F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46704" y="2624328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60">
                <a:solidFill>
                  <a:srgbClr val="737373"/>
                </a:solidFill>
                <a:latin typeface="Arial"/>
                <a:ea typeface="微软雅黑"/>
              </a:rPr>
              <a:t>02 感知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6704" y="2898648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A0A0A"/>
                </a:solidFill>
                <a:latin typeface="Arial"/>
                <a:ea typeface="微软雅黑"/>
              </a:rPr>
              <a:t>云端 AI 点云理解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6704" y="3355848"/>
            <a:ext cx="25603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444444"/>
                </a:solidFill>
                <a:latin typeface="Arial"/>
                <a:ea typeface="微软雅黑"/>
              </a:rPr>
              <a:t>原始点云上云，GPU 自研点云模型，识别跌倒、长时间静止、生命体征异常、日常模式偏离四类事件。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190488" y="2514600"/>
            <a:ext cx="2606040" cy="0"/>
          </a:xfrm>
          <a:prstGeom prst="bentConnector3">
            <a:avLst/>
          </a:prstGeom>
          <a:ln w="27940">
            <a:solidFill>
              <a:srgbClr val="002F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190488" y="2624328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60">
                <a:solidFill>
                  <a:srgbClr val="737373"/>
                </a:solidFill>
                <a:latin typeface="Arial"/>
                <a:ea typeface="微软雅黑"/>
              </a:rPr>
              <a:t>03 判决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0488" y="2898648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A0A0A"/>
                </a:solidFill>
                <a:latin typeface="Arial"/>
                <a:ea typeface="微软雅黑"/>
              </a:rPr>
              <a:t>延迟确认降误报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0488" y="3355848"/>
            <a:ext cx="25603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444444"/>
                </a:solidFill>
                <a:latin typeface="Arial"/>
                <a:ea typeface="微软雅黑"/>
              </a:rPr>
              <a:t>跌倒初判后等 3–5 秒观察后续行为 + 多雷达交叉 + 个人基线，区分真摔与快速坐下/蹲下。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034272" y="2514600"/>
            <a:ext cx="2606040" cy="0"/>
          </a:xfrm>
          <a:prstGeom prst="bentConnector3">
            <a:avLst/>
          </a:prstGeom>
          <a:ln w="27940">
            <a:solidFill>
              <a:srgbClr val="002F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034272" y="2624328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60">
                <a:solidFill>
                  <a:srgbClr val="737373"/>
                </a:solidFill>
                <a:latin typeface="Arial"/>
                <a:ea typeface="微软雅黑"/>
              </a:rPr>
              <a:t>04 通知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34272" y="2898648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A0A0A"/>
                </a:solidFill>
                <a:latin typeface="Arial"/>
                <a:ea typeface="微软雅黑"/>
              </a:rPr>
              <a:t>分级触达子女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34272" y="3355848"/>
            <a:ext cx="25603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444444"/>
                </a:solidFill>
                <a:latin typeface="Arial"/>
                <a:ea typeface="微软雅黑"/>
              </a:rPr>
              <a:t>不提 / 推送 / 强推+短信 / 电话四级；紧急事件（跌倒）同时短信与电话。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920" y="5257800"/>
            <a:ext cx="11183112" cy="0"/>
          </a:xfrm>
          <a:prstGeom prst="bentConnector3">
            <a:avLst/>
          </a:prstGeom>
          <a:ln w="12700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2920" y="539496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0A0A0A"/>
                </a:solidFill>
                <a:latin typeface="Arial"/>
                <a:ea typeface="微软雅黑"/>
              </a:rPr>
              <a:t>六大核心场景 ｜ S1 浴室跌倒强推 · S2 蹲下捡物不误报 · S3 卧室静止超时提醒 · S4 连续3天活动量&lt;基线50%建议关注 · S5 首页"昨夜睡眠7.2h、起床6:40" · S6 导出30天趋势PDF供医生参考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05332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737373"/>
                </a:solidFill>
                <a:latin typeface="Arial"/>
                <a:ea typeface="微软雅黑"/>
              </a:rPr>
              <a:t>硬边界 ｜ 无摄像头/无视频 · 不做医学诊断 · 不做 120 调度 · 不测血压/血氧/血糖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120">
                <a:solidFill>
                  <a:srgbClr val="FFFFFF"/>
                </a:solidFill>
                <a:latin typeface="Arial"/>
                <a:ea typeface="微软雅黑"/>
              </a:rPr>
              <a:t>The Core Tech · 自研点云感知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90895" y="329184"/>
            <a:ext cx="5897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 spc="120">
                <a:solidFill>
                  <a:srgbClr val="FFFFFF"/>
                </a:solidFill>
                <a:latin typeface="Arial"/>
                <a:ea typeface="微软雅黑"/>
              </a:rPr>
              <a:t>06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50">
                <a:solidFill>
                  <a:srgbClr val="5B7BFF"/>
                </a:solidFill>
                <a:latin typeface="Arial"/>
                <a:ea typeface="微软雅黑"/>
              </a:rPr>
              <a:t>THE CORE TECH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>
                <a:solidFill>
                  <a:srgbClr val="FFFFFF"/>
                </a:solidFill>
                <a:latin typeface="Arial"/>
                <a:ea typeface="微软雅黑"/>
              </a:rPr>
              <a:t>从点云到理解，全链路自研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CCCCCC"/>
                </a:solidFill>
                <a:latin typeface="Arial"/>
                <a:ea typeface="微软雅黑"/>
              </a:rPr>
              <a:t>成品雷达模块在固件里算完，只输出"跌倒/未跌倒"这类终点判断，把中间数据丢掉了。长期健康追踪要的恰恰是这些中间数据——我们不买"答案"，直接拿"原材料"。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514600"/>
            <a:ext cx="5486400" cy="137160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67004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20">
                <a:solidFill>
                  <a:srgbClr val="737373"/>
                </a:solidFill>
                <a:latin typeface="Arial"/>
                <a:ea typeface="微软雅黑"/>
              </a:rPr>
              <a:t>成品固件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971800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0A0A0A"/>
                </a:solidFill>
                <a:latin typeface="Arial"/>
                <a:ea typeface="微软雅黑"/>
              </a:rPr>
              <a:t>嵌入式 DSP · 输出终点判断 · 丢弃中间数据 · 受功耗约束 · 出厂即定型，精度停在出厂那天。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2514600"/>
            <a:ext cx="5486400" cy="137160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67004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20">
                <a:solidFill>
                  <a:srgbClr val="FFFFFF"/>
                </a:solidFill>
                <a:latin typeface="Arial"/>
                <a:ea typeface="微软雅黑"/>
              </a:rPr>
              <a:t>家安点云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971800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FFFFFF"/>
                </a:solidFill>
                <a:latin typeface="Arial"/>
                <a:ea typeface="微软雅黑"/>
              </a:rPr>
              <a:t>原始点云上云 · 云端 GPU 深度时序模型 · 保留全维度信号 · 算法容量不受限 · 随标注数据持续进化。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4160520"/>
            <a:ext cx="11183112" cy="0"/>
          </a:xfrm>
          <a:prstGeom prst="bentConnector3">
            <a:avLst/>
          </a:prstGeom>
          <a:ln w="12700">
            <a:solidFill>
              <a:srgbClr val="5555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2920" y="425196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120">
                <a:solidFill>
                  <a:srgbClr val="BBBBBB"/>
                </a:solidFill>
                <a:latin typeface="Arial"/>
                <a:ea typeface="微软雅黑"/>
              </a:rPr>
              <a:t>从同一条点云流提取 6 类信号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6177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  <a:ea typeface="微软雅黑"/>
              </a:rPr>
              <a:t>姿态序列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636007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AFAFAF"/>
                </a:solidFill>
                <a:latin typeface="Arial"/>
                <a:ea typeface="微软雅黑"/>
              </a:rPr>
              <a:t>← 空间分布 → 跌倒初判/基线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33672" y="46177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  <a:ea typeface="微软雅黑"/>
              </a:rPr>
              <a:t>速度分布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85231" y="4636007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AFAFAF"/>
                </a:solidFill>
                <a:latin typeface="Arial"/>
                <a:ea typeface="微软雅黑"/>
              </a:rPr>
              <a:t>← 径向速度 → 精细活动量化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64424" y="46177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  <a:ea typeface="微软雅黑"/>
              </a:rPr>
              <a:t>点云形变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5984" y="4636007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AFAFAF"/>
                </a:solidFill>
                <a:latin typeface="Arial"/>
                <a:ea typeface="微软雅黑"/>
              </a:rPr>
              <a:t>← PCA/质心 → 真摔 vs 坐下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1846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  <a:ea typeface="微软雅黑"/>
              </a:rPr>
              <a:t>微多普勒谱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20293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AFAFAF"/>
                </a:solidFill>
                <a:latin typeface="Arial"/>
                <a:ea typeface="微软雅黑"/>
              </a:rPr>
              <a:t>← 相位时频 → 步态参数(P2)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33672" y="51846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  <a:ea typeface="微软雅黑"/>
              </a:rPr>
              <a:t>生命体征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5231" y="520293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AFAFAF"/>
                </a:solidFill>
                <a:latin typeface="Arial"/>
                <a:ea typeface="微软雅黑"/>
              </a:rPr>
              <a:t>← 胸腔微动 → 呼吸/心率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64424" y="51846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  <a:ea typeface="微软雅黑"/>
              </a:rPr>
              <a:t>活动片段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15984" y="520293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AFAFAF"/>
                </a:solidFill>
                <a:latin typeface="Arial"/>
                <a:ea typeface="微软雅黑"/>
              </a:rPr>
              <a:t>← 时序聚类 → 基线时间分布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327648"/>
            <a:ext cx="11183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FFFFFF"/>
                </a:solidFill>
                <a:latin typeface="Arial"/>
                <a:ea typeface="微软雅黑"/>
              </a:rPr>
              <a:t>技术门槛：点云极稀疏(每帧 10–50 点)、多径鬼影、微多普勒模糊、无纹理——现有 3D 深度学习不能直接搬，需雷达信号处理 + 点云深度学习跨学科团队。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120">
                <a:solidFill>
                  <a:srgbClr val="737373"/>
                </a:solidFill>
                <a:latin typeface="Arial"/>
                <a:ea typeface="微软雅黑"/>
              </a:rPr>
              <a:t>Algorithms &amp; Feasibility · 算法与可行性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90895" y="329184"/>
            <a:ext cx="5897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 spc="120">
                <a:solidFill>
                  <a:srgbClr val="737373"/>
                </a:solidFill>
                <a:latin typeface="Arial"/>
                <a:ea typeface="微软雅黑"/>
              </a:rPr>
              <a:t>07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50">
                <a:solidFill>
                  <a:srgbClr val="002FA7"/>
                </a:solidFill>
                <a:latin typeface="Arial"/>
                <a:ea typeface="微软雅黑"/>
              </a:rPr>
              <a:t>ALGORITHMS &amp; FEASIBILITY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>
                <a:solidFill>
                  <a:srgbClr val="0A0A0A"/>
                </a:solidFill>
                <a:latin typeface="Arial"/>
                <a:ea typeface="微软雅黑"/>
              </a:rPr>
              <a:t>七个算法，站在已验证的能力上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2651760" cy="786384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892807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80">
                <a:solidFill>
                  <a:srgbClr val="002FA7"/>
                </a:solidFill>
                <a:latin typeface="Arial"/>
                <a:ea typeface="微软雅黑"/>
              </a:rPr>
              <a:t>ALG-0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16712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A0A0A"/>
                </a:solidFill>
                <a:latin typeface="Arial"/>
                <a:ea typeface="微软雅黑"/>
              </a:rPr>
              <a:t>点云→人体状态理解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28415" y="1783080"/>
            <a:ext cx="2651760" cy="786384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892807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80">
                <a:solidFill>
                  <a:srgbClr val="002FA7"/>
                </a:solidFill>
                <a:latin typeface="Arial"/>
                <a:ea typeface="微软雅黑"/>
              </a:rPr>
              <a:t>ALG-1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6712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A0A0A"/>
                </a:solidFill>
                <a:latin typeface="Arial"/>
                <a:ea typeface="微软雅黑"/>
              </a:rPr>
              <a:t>多雷达对齐+空间拓扑聚合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3912" y="1783080"/>
            <a:ext cx="2651760" cy="786384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216" y="1892807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80">
                <a:solidFill>
                  <a:srgbClr val="002FA7"/>
                </a:solidFill>
                <a:latin typeface="Arial"/>
                <a:ea typeface="微软雅黑"/>
              </a:rPr>
              <a:t>ALG-2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216" y="216712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A0A0A"/>
                </a:solidFill>
                <a:latin typeface="Arial"/>
                <a:ea typeface="微软雅黑"/>
              </a:rPr>
              <a:t>跌倒延迟确认（降误报）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79408" y="1783080"/>
            <a:ext cx="2651760" cy="786384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25712" y="1892807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80">
                <a:solidFill>
                  <a:srgbClr val="002FA7"/>
                </a:solidFill>
                <a:latin typeface="Arial"/>
                <a:ea typeface="微软雅黑"/>
              </a:rPr>
              <a:t>ALG-3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5712" y="216712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A0A0A"/>
                </a:solidFill>
                <a:latin typeface="Arial"/>
                <a:ea typeface="微软雅黑"/>
              </a:rPr>
              <a:t>个人基线建模（14天）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734056"/>
            <a:ext cx="2651760" cy="786384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" y="284378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80">
                <a:solidFill>
                  <a:srgbClr val="002FA7"/>
                </a:solidFill>
                <a:latin typeface="Arial"/>
                <a:ea typeface="微软雅黑"/>
              </a:rPr>
              <a:t>ALG-4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" y="3118104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A0A0A"/>
                </a:solidFill>
                <a:latin typeface="Arial"/>
                <a:ea typeface="微软雅黑"/>
              </a:rPr>
              <a:t>异常偏离检测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28415" y="2734056"/>
            <a:ext cx="2651760" cy="786384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284378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80">
                <a:solidFill>
                  <a:srgbClr val="002FA7"/>
                </a:solidFill>
                <a:latin typeface="Arial"/>
                <a:ea typeface="微软雅黑"/>
              </a:rPr>
              <a:t>ALG-5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118104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A0A0A"/>
                </a:solidFill>
                <a:latin typeface="Arial"/>
                <a:ea typeface="微软雅黑"/>
              </a:rPr>
              <a:t>多信号贝叶斯融合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53912" y="2734056"/>
            <a:ext cx="2651760" cy="786384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0216" y="284378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80">
                <a:solidFill>
                  <a:srgbClr val="002FA7"/>
                </a:solidFill>
                <a:latin typeface="Arial"/>
                <a:ea typeface="微软雅黑"/>
              </a:rPr>
              <a:t>ALG-6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0216" y="3118104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A0A0A"/>
                </a:solidFill>
                <a:latin typeface="Arial"/>
                <a:ea typeface="微软雅黑"/>
              </a:rPr>
              <a:t>分级通知决策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79408" y="2734056"/>
            <a:ext cx="2651760" cy="786384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25712" y="284378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80">
                <a:solidFill>
                  <a:srgbClr val="FFFFFF"/>
                </a:solidFill>
                <a:latin typeface="Arial"/>
                <a:ea typeface="微软雅黑"/>
              </a:rPr>
              <a:t>ALG-7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5712" y="3118104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Arial"/>
                <a:ea typeface="微软雅黑"/>
              </a:rPr>
              <a:t>步态提取+跌倒预测(P2)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02920" y="3703320"/>
            <a:ext cx="11183112" cy="0"/>
          </a:xfrm>
          <a:prstGeom prst="bentConnector3">
            <a:avLst/>
          </a:prstGeom>
          <a:ln w="12700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02920" y="3886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110">
                <a:solidFill>
                  <a:srgbClr val="737373"/>
                </a:solidFill>
                <a:latin typeface="Arial"/>
                <a:ea typeface="微软雅黑"/>
              </a:rPr>
              <a:t>跌倒检测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160520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0A0A0A"/>
                </a:solidFill>
                <a:latin typeface="Arial"/>
                <a:ea typeface="微软雅黑"/>
              </a:rPr>
              <a:t>92%+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892040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737373"/>
                </a:solidFill>
                <a:latin typeface="Arial"/>
                <a:ea typeface="微软雅黑"/>
              </a:rPr>
              <a:t>误报&lt;3%（TI IWR6843 参考设计，20㎡）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33672" y="3886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110">
                <a:solidFill>
                  <a:srgbClr val="737373"/>
                </a:solidFill>
                <a:latin typeface="Arial"/>
                <a:ea typeface="微软雅黑"/>
              </a:rPr>
              <a:t>呼吸/心率误差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33672" y="4160520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0A0A0A"/>
                </a:solidFill>
                <a:latin typeface="Arial"/>
                <a:ea typeface="微软雅黑"/>
              </a:rPr>
              <a:t>±0.4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33672" y="4892040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737373"/>
                </a:solidFill>
                <a:latin typeface="Arial"/>
                <a:ea typeface="微软雅黑"/>
              </a:rPr>
              <a:t>心率 ±1.0 次/分（安静睡眠，西京学院2026）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64424" y="3886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110">
                <a:solidFill>
                  <a:srgbClr val="737373"/>
                </a:solidFill>
                <a:latin typeface="Arial"/>
                <a:ea typeface="微软雅黑"/>
              </a:rPr>
              <a:t>步态预测跌倒风险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64424" y="4160520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0A0A0A"/>
                </a:solidFill>
                <a:latin typeface="Arial"/>
                <a:ea typeface="微软雅黑"/>
              </a:rPr>
              <a:t>已验证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64424" y="4892040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737373"/>
                </a:solidFill>
                <a:latin typeface="Arial"/>
                <a:ea typeface="微软雅黑"/>
              </a:rPr>
              <a:t>Nature Sci Rep 2025 / Frontiers 2024，学术阶段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172200"/>
            <a:ext cx="11183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37373"/>
                </a:solidFill>
                <a:latin typeface="Arial"/>
                <a:ea typeface="微软雅黑"/>
              </a:rPr>
              <a:t>硬件演进（看点云质量+SDK开放度）：IWR6843 开发板 → TI 模组 ~200 元 → 自研一体板 ~100 元 → 国产 60GHz SoC ~60 元（加特兰）。上述精度为行业参考设计/学术验证，非产品实测；自研管线精度是 MVP 待验证核心。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120">
                <a:solidFill>
                  <a:srgbClr val="FFFFFF"/>
                </a:solidFill>
                <a:latin typeface="Arial"/>
                <a:ea typeface="微软雅黑"/>
              </a:rPr>
              <a:t>The Moat · 为什么难复制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90895" y="329184"/>
            <a:ext cx="5897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 spc="120">
                <a:solidFill>
                  <a:srgbClr val="FFFFFF"/>
                </a:solidFill>
                <a:latin typeface="Arial"/>
                <a:ea typeface="微软雅黑"/>
              </a:rPr>
              <a:t>08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50">
                <a:solidFill>
                  <a:srgbClr val="5B7BFF"/>
                </a:solidFill>
                <a:latin typeface="Arial"/>
                <a:ea typeface="微软雅黑"/>
              </a:rPr>
              <a:t>WHY 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1155680" cy="1120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500" b="0" i="0">
                <a:solidFill>
                  <a:srgbClr val="FFFFFF"/>
                </a:solidFill>
                <a:latin typeface="Arial"/>
                <a:ea typeface="微软雅黑"/>
              </a:rPr>
              <a:t>壁垒：自研的三层软件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65960"/>
            <a:ext cx="3602736" cy="320040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167128"/>
            <a:ext cx="3236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10">
                <a:solidFill>
                  <a:srgbClr val="FFFFFF"/>
                </a:solidFill>
                <a:latin typeface="Arial"/>
                <a:ea typeface="微软雅黑"/>
              </a:rPr>
              <a:t>LAYER 01 · 感知层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53288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  <a:ea typeface="微软雅黑"/>
              </a:rPr>
              <a:t>自研点云→跌倒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3108960"/>
            <a:ext cx="3200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ECF0FB"/>
                </a:solidFill>
                <a:latin typeface="Arial"/>
                <a:ea typeface="微软雅黑"/>
              </a:rPr>
              <a:t>真正的算法壁垒。门槛不在姿态分类，而在积累跨场景、跨时长的点云标注数据 + 跨学科团队——这两样花钱短期难复制。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4088" y="4709160"/>
            <a:ext cx="3145536" cy="0"/>
          </a:xfrm>
          <a:prstGeom prst="bentConnector3">
            <a:avLst/>
          </a:prstGeom>
          <a:ln w="12700">
            <a:solidFill>
              <a:srgbClr val="88A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04088" y="480060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00">
                <a:solidFill>
                  <a:srgbClr val="FFFFFF"/>
                </a:solidFill>
                <a:latin typeface="Arial"/>
                <a:ea typeface="微软雅黑"/>
              </a:rPr>
              <a:t>算法壁垒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5112" y="1965960"/>
            <a:ext cx="3602736" cy="320040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79" y="2167128"/>
            <a:ext cx="3236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10">
                <a:solidFill>
                  <a:srgbClr val="737373"/>
                </a:solidFill>
                <a:latin typeface="Arial"/>
                <a:ea typeface="微软雅黑"/>
              </a:rPr>
              <a:t>LAYER 02 · 聚合层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253288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0A0A0A"/>
                </a:solidFill>
                <a:latin typeface="Arial"/>
                <a:ea typeface="微软雅黑"/>
              </a:rPr>
              <a:t>多雷达数据聚合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79" y="3108960"/>
            <a:ext cx="3200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444444"/>
                </a:solidFill>
                <a:latin typeface="Arial"/>
                <a:ea typeface="微软雅黑"/>
              </a:rPr>
              <a:t>产品/架构壁垒。把 N 条独立时间线拼成同一老人的全屋行为序列、空间拓扑自学习、跨房间追踪；独立模块架构不支持跨设备关联。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26279" y="4709160"/>
            <a:ext cx="3145536" cy="0"/>
          </a:xfrm>
          <a:prstGeom prst="bentConnector3">
            <a:avLst/>
          </a:prstGeom>
          <a:ln w="12700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26279" y="480060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00">
                <a:solidFill>
                  <a:srgbClr val="737373"/>
                </a:solidFill>
                <a:latin typeface="Arial"/>
                <a:ea typeface="微软雅黑"/>
              </a:rPr>
              <a:t>架构壁垒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7304" y="1965960"/>
            <a:ext cx="3602736" cy="320040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8472" y="2167128"/>
            <a:ext cx="3236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10">
                <a:solidFill>
                  <a:srgbClr val="737373"/>
                </a:solidFill>
                <a:latin typeface="Arial"/>
                <a:ea typeface="微软雅黑"/>
              </a:rPr>
              <a:t>LAYER 03 · 分析层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2" y="253288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0A0A0A"/>
                </a:solidFill>
                <a:latin typeface="Arial"/>
                <a:ea typeface="微软雅黑"/>
              </a:rPr>
              <a:t>个人基线 + 融合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3108960"/>
            <a:ext cx="3200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444444"/>
                </a:solidFill>
                <a:latin typeface="Arial"/>
                <a:ea typeface="微软雅黑"/>
              </a:rPr>
              <a:t>时间壁垒。14 天学出个人常态，以偏离自身基线判断；新进入者上线前 14 天无基线可用，用得越久切换成本越高。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348472" y="4709160"/>
            <a:ext cx="3145536" cy="0"/>
          </a:xfrm>
          <a:prstGeom prst="bentConnector3">
            <a:avLst/>
          </a:prstGeom>
          <a:ln w="12700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348472" y="480060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00">
                <a:solidFill>
                  <a:srgbClr val="737373"/>
                </a:solidFill>
                <a:latin typeface="Arial"/>
                <a:ea typeface="微软雅黑"/>
              </a:rPr>
              <a:t>时间壁垒 · 越用越准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486400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C8C8C8"/>
                </a:solidFill>
                <a:latin typeface="Arial"/>
                <a:ea typeface="微软雅黑"/>
              </a:rPr>
              <a:t>数据飞轮：用户越多、用得越久 → 标注数据与个人基线越丰富 → 模型越准 → 体验越好 → 用户越多。壁垒随使用复利加深，而固件方案停在出厂那天。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120">
                <a:solidFill>
                  <a:srgbClr val="737373"/>
                </a:solidFill>
                <a:latin typeface="Arial"/>
                <a:ea typeface="微软雅黑"/>
              </a:rPr>
              <a:t>Business Model · 商业模式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90895" y="329184"/>
            <a:ext cx="5897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 spc="120">
                <a:solidFill>
                  <a:srgbClr val="737373"/>
                </a:solidFill>
                <a:latin typeface="Arial"/>
                <a:ea typeface="微软雅黑"/>
              </a:rPr>
              <a:t>09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50">
                <a:solidFill>
                  <a:srgbClr val="002FA7"/>
                </a:solidFill>
                <a:latin typeface="Arial"/>
                <a:ea typeface="微软雅黑"/>
              </a:rPr>
              <a:t>HOW WE MAKE MONEY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1155680" cy="1120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500" b="0" i="0">
                <a:solidFill>
                  <a:srgbClr val="0A0A0A"/>
                </a:solidFill>
                <a:latin typeface="Arial"/>
                <a:ea typeface="微软雅黑"/>
              </a:rPr>
              <a:t>硬件获客 · 服务盈利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659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80">
                <a:solidFill>
                  <a:srgbClr val="737373"/>
                </a:solidFill>
                <a:latin typeface="Arial"/>
                <a:ea typeface="微软雅黑"/>
              </a:rPr>
              <a:t>01 硬件层 · 买断获客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86000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0" i="0">
                <a:solidFill>
                  <a:srgbClr val="0A0A0A"/>
                </a:solidFill>
                <a:latin typeface="微软雅黑"/>
                <a:ea typeface="微软雅黑"/>
              </a:rPr>
              <a:t>一次买断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00400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404040"/>
                </a:solidFill>
                <a:latin typeface="Arial"/>
                <a:ea typeface="微软雅黑"/>
              </a:rPr>
              <a:t>299 / 499 / 799 元三档，用户永久拥有；加权 ASP 599 / BOM 425 / 毛利 174 元（29%）。定位微利把设备装进家。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4251960"/>
            <a:ext cx="5120639" cy="0"/>
          </a:xfrm>
          <a:prstGeom prst="bentConnector3">
            <a:avLst/>
          </a:prstGeom>
          <a:ln w="12700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4361688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333333"/>
                </a:solidFill>
                <a:latin typeface="Arial"/>
                <a:ea typeface="微软雅黑"/>
              </a:rPr>
              <a:t>— 尝鲜 299 · 全屋 S 499 · 全屋 L 799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69087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333333"/>
                </a:solidFill>
                <a:latin typeface="Arial"/>
                <a:ea typeface="微软雅黑"/>
              </a:rPr>
              <a:t>— 硬件不指望赚钱，是获客入口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020055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333333"/>
                </a:solidFill>
                <a:latin typeface="Arial"/>
                <a:ea typeface="微软雅黑"/>
              </a:rPr>
              <a:t>— 低成本渠道把 CAC 压到 300 以内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53328" y="1965960"/>
            <a:ext cx="10972" cy="310896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659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80">
                <a:solidFill>
                  <a:srgbClr val="002FA7"/>
                </a:solidFill>
                <a:latin typeface="Arial"/>
                <a:ea typeface="微软雅黑"/>
              </a:rPr>
              <a:t>02 服务层 · 订阅盈利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286000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0" i="0">
                <a:solidFill>
                  <a:srgbClr val="002FA7"/>
                </a:solidFill>
                <a:latin typeface="微软雅黑"/>
                <a:ea typeface="微软雅黑"/>
              </a:rPr>
              <a:t>199 元/年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200400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404040"/>
                </a:solidFill>
                <a:latin typeface="Arial"/>
                <a:ea typeface="微软雅黑"/>
              </a:rPr>
              <a:t>基础服务（实时告警、周报）永久免费；高级服务（月报PDF、长期趋势、就医参考）订阅，毛利约 90%。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46520" y="4251960"/>
            <a:ext cx="5120639" cy="0"/>
          </a:xfrm>
          <a:prstGeom prst="bentConnector3">
            <a:avLst/>
          </a:prstGeom>
          <a:ln w="12700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46520" y="4361688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333333"/>
                </a:solidFill>
                <a:latin typeface="Arial"/>
                <a:ea typeface="微软雅黑"/>
              </a:rPr>
              <a:t>— 免费层轻云、付费层承担重云成本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69087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333333"/>
                </a:solidFill>
                <a:latin typeface="Arial"/>
                <a:ea typeface="微软雅黑"/>
              </a:rPr>
              <a:t>— 转化率保守取 15%（子女买单）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5020055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333333"/>
                </a:solidFill>
                <a:latin typeface="Arial"/>
                <a:ea typeface="微软雅黑"/>
              </a:rPr>
              <a:t>— 越用越准 → 越不可替代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2920" y="5440680"/>
            <a:ext cx="11183112" cy="0"/>
          </a:xfrm>
          <a:prstGeom prst="bentConnector3">
            <a:avLst/>
          </a:prstGeom>
          <a:ln w="12700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2920" y="55778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100" b="1" i="0">
                <a:solidFill>
                  <a:srgbClr val="0A0A0A"/>
                </a:solidFill>
                <a:latin typeface="Arial"/>
                <a:ea typeface="微软雅黑"/>
              </a:rPr>
              <a:t>单位经济：</a:t>
            </a:r>
            <a:r>
              <a:rPr sz="1100" b="0" i="0">
                <a:solidFill>
                  <a:srgbClr val="404040"/>
                </a:solidFill>
                <a:latin typeface="Arial"/>
                <a:ea typeface="微软雅黑"/>
              </a:rPr>
              <a:t>早期(BOM425) LTV 232 / CAC 300 = 0.77 承压 → 国产SoC降本后(BOM110) LTV 547 / CAC 250 = </a:t>
            </a:r>
            <a:r>
              <a:rPr sz="1100" b="1" i="0">
                <a:solidFill>
                  <a:srgbClr val="002FA7"/>
                </a:solidFill>
                <a:latin typeface="Arial"/>
                <a:ea typeface="微软雅黑"/>
              </a:rPr>
              <a:t>2.19 转正</a:t>
            </a:r>
            <a:r>
              <a:rPr sz="1100" b="0" i="0">
                <a:solidFill>
                  <a:srgbClr val="404040"/>
                </a:solidFill>
                <a:latin typeface="Arial"/>
                <a:ea typeface="微软雅黑"/>
              </a:rPr>
              <a:t>。第二曲线：数据向保险/养老机构/医疗 B 端变现。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120">
                <a:solidFill>
                  <a:srgbClr val="737373"/>
                </a:solidFill>
                <a:latin typeface="Arial"/>
                <a:ea typeface="微软雅黑"/>
              </a:rPr>
              <a:t>Financials · 财务预测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90895" y="329184"/>
            <a:ext cx="5897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 spc="120">
                <a:solidFill>
                  <a:srgbClr val="737373"/>
                </a:solidFill>
                <a:latin typeface="Arial"/>
                <a:ea typeface="微软雅黑"/>
              </a:rPr>
              <a:t>10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50">
                <a:solidFill>
                  <a:srgbClr val="002FA7"/>
                </a:solidFill>
                <a:latin typeface="Arial"/>
                <a:ea typeface="微软雅黑"/>
              </a:rPr>
              <a:t>FINANCIALS · 中性务实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>
                <a:solidFill>
                  <a:srgbClr val="0A0A0A"/>
                </a:solidFill>
                <a:latin typeface="Arial"/>
                <a:ea typeface="微软雅黑"/>
              </a:rPr>
              <a:t>三年财务预测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828800"/>
            <a:ext cx="11183112" cy="0"/>
          </a:xfrm>
          <a:prstGeom prst="bentConnector3">
            <a:avLst/>
          </a:prstGeom>
          <a:ln w="12700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19659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00">
                <a:solidFill>
                  <a:srgbClr val="737373"/>
                </a:solidFill>
                <a:latin typeface="Arial"/>
                <a:ea typeface="微软雅黑"/>
              </a:rPr>
              <a:t>Y3 年末装机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0A0A0A"/>
                </a:solidFill>
                <a:latin typeface="Arial"/>
                <a:ea typeface="微软雅黑"/>
              </a:rPr>
              <a:t>1.5万户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7180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37373"/>
                </a:solidFill>
                <a:latin typeface="Arial"/>
                <a:ea typeface="微软雅黑"/>
              </a:rPr>
              <a:t>Y1 1k→Y2 5k→Y3 15k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5264" y="1920240"/>
            <a:ext cx="7315" cy="118872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00984" y="19659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00">
                <a:solidFill>
                  <a:srgbClr val="737373"/>
                </a:solidFill>
                <a:latin typeface="Arial"/>
                <a:ea typeface="微软雅黑"/>
              </a:rPr>
              <a:t>Y3 总收入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00984" y="224028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0A0A0A"/>
                </a:solidFill>
                <a:latin typeface="Arial"/>
                <a:ea typeface="微软雅黑"/>
              </a:rPr>
              <a:t>637万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00984" y="297180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37373"/>
                </a:solidFill>
                <a:latin typeface="Arial"/>
                <a:ea typeface="微软雅黑"/>
              </a:rPr>
              <a:t>3 年累计约 953 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53328" y="1920240"/>
            <a:ext cx="7315" cy="118872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8" y="19659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00">
                <a:solidFill>
                  <a:srgbClr val="737373"/>
                </a:solidFill>
                <a:latin typeface="Arial"/>
                <a:ea typeface="微软雅黑"/>
              </a:rPr>
              <a:t>毛利率（稳定）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48" y="224028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0A0A0A"/>
                </a:solidFill>
                <a:latin typeface="Arial"/>
                <a:ea typeface="微软雅黑"/>
              </a:rPr>
              <a:t>30%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9048" y="297180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37373"/>
                </a:solidFill>
                <a:latin typeface="Arial"/>
                <a:ea typeface="微软雅黑"/>
              </a:rPr>
              <a:t>硬件 + 订阅加权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51392" y="1920240"/>
            <a:ext cx="7315" cy="118872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97112" y="19659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00">
                <a:solidFill>
                  <a:srgbClr val="737373"/>
                </a:solidFill>
                <a:latin typeface="Arial"/>
                <a:ea typeface="微软雅黑"/>
              </a:rPr>
              <a:t>降本后单位经济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97112" y="224028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0A0A0A"/>
                </a:solidFill>
                <a:latin typeface="Arial"/>
                <a:ea typeface="微软雅黑"/>
              </a:rPr>
              <a:t>2.19x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7112" y="297180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37373"/>
                </a:solidFill>
                <a:latin typeface="Arial"/>
                <a:ea typeface="微软雅黑"/>
              </a:rPr>
              <a:t>LTV/CAC · 国产 SoC 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59359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A0A0A"/>
                </a:solidFill>
                <a:latin typeface="Arial"/>
                <a:ea typeface="微软雅黑"/>
              </a:rPr>
              <a:t>Y1 收入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74519" y="3611880"/>
            <a:ext cx="7498079" cy="237744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74519" y="3611880"/>
            <a:ext cx="742309" cy="237744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64040" y="356616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A0A0A"/>
                </a:solidFill>
                <a:latin typeface="Arial"/>
                <a:ea typeface="微软雅黑"/>
              </a:rPr>
              <a:t>62.9万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160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A0A0A"/>
                </a:solidFill>
                <a:latin typeface="Arial"/>
                <a:ea typeface="微软雅黑"/>
              </a:rPr>
              <a:t>Y2 收入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74519" y="4178808"/>
            <a:ext cx="7498079" cy="237744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874519" y="4178808"/>
            <a:ext cx="2976737" cy="237744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64040" y="4133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A0A0A"/>
                </a:solidFill>
                <a:latin typeface="Arial"/>
                <a:ea typeface="微软雅黑"/>
              </a:rPr>
              <a:t>253万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72744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A0A0A"/>
                </a:solidFill>
                <a:latin typeface="Arial"/>
                <a:ea typeface="微软雅黑"/>
              </a:rPr>
              <a:t>Y3 收入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74519" y="4745736"/>
            <a:ext cx="7498079" cy="237744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874519" y="4745736"/>
            <a:ext cx="7498079" cy="237744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64040" y="47000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A0A0A"/>
                </a:solidFill>
                <a:latin typeface="Arial"/>
                <a:ea typeface="微软雅黑"/>
              </a:rPr>
              <a:t>637万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02920" y="5440680"/>
            <a:ext cx="11183112" cy="0"/>
          </a:xfrm>
          <a:prstGeom prst="bentConnector3">
            <a:avLst/>
          </a:prstGeom>
          <a:ln w="12700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02920" y="55778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404040"/>
                </a:solidFill>
                <a:latin typeface="Arial"/>
                <a:ea typeface="微软雅黑"/>
              </a:rPr>
              <a:t>前 3 年是投入期，净利 −206 / −355 / −532 万——不是单位经济问题，是规模不足：硬件毛利薄(174元)而早期 CAC(300元)高，靠融资补贴获客、占领 C 端空白、积累数据。盈亏平衡出现在①国产 SoC 降本(BOM425→110，硬件毛利抬到489元)②装机与订阅规模起来之后(约第4年)。天使轮资金正是覆盖到降本转正拐点。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120">
                <a:solidFill>
                  <a:srgbClr val="FFFFFF"/>
                </a:solidFill>
                <a:latin typeface="Arial"/>
                <a:ea typeface="微软雅黑"/>
              </a:rPr>
              <a:t>Competition · 竞争格局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90895" y="329184"/>
            <a:ext cx="5897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 spc="120">
                <a:solidFill>
                  <a:srgbClr val="FFFFFF"/>
                </a:solidFill>
                <a:latin typeface="Arial"/>
                <a:ea typeface="微软雅黑"/>
              </a:rPr>
              <a:t>11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50">
                <a:solidFill>
                  <a:srgbClr val="5B7BFF"/>
                </a:solidFill>
                <a:latin typeface="Arial"/>
                <a:ea typeface="微软雅黑"/>
              </a:rPr>
              <a:t>THE WHITE 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>
                <a:solidFill>
                  <a:srgbClr val="FFFFFF"/>
                </a:solidFill>
                <a:latin typeface="Arial"/>
                <a:ea typeface="微软雅黑"/>
              </a:rPr>
              <a:t>C 端全屋买断，是一片空白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CCCCCC"/>
                </a:solidFill>
                <a:latin typeface="Arial"/>
                <a:ea typeface="微软雅黑"/>
              </a:rPr>
              <a:t>价格与形态是最强差异点：子女买给父母、15 分钟自装的 C 端全屋雷达套装几乎没有对手；雷达厂商走 B 端项目制，小米做智能家居非康养，华为绑装修，萤石以摄像头为主。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514600"/>
            <a:ext cx="3602736" cy="246888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715768"/>
            <a:ext cx="3236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110">
                <a:solidFill>
                  <a:srgbClr val="737373"/>
                </a:solidFill>
                <a:latin typeface="Arial"/>
                <a:ea typeface="微软雅黑"/>
              </a:rPr>
              <a:t>现有玩家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306324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0A0A0A"/>
                </a:solidFill>
                <a:latin typeface="Arial"/>
                <a:ea typeface="微软雅黑"/>
              </a:rPr>
              <a:t>固件 · 出厂即定型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3566160"/>
            <a:ext cx="3200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444444"/>
                </a:solidFill>
                <a:latin typeface="Arial"/>
                <a:ea typeface="微软雅黑"/>
              </a:rPr>
              <a:t>萤石/点可/森思泰克用雷达厂商固件，嵌入式 DSP 精度停在出厂那天，用户反馈"误报多、后来就不看了"。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5112" y="2514600"/>
            <a:ext cx="3602736" cy="246888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79" y="2715768"/>
            <a:ext cx="3236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110">
                <a:solidFill>
                  <a:srgbClr val="737373"/>
                </a:solidFill>
                <a:latin typeface="Arial"/>
                <a:ea typeface="微软雅黑"/>
              </a:rPr>
              <a:t>渠道错位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306324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0A0A0A"/>
                </a:solidFill>
                <a:latin typeface="Arial"/>
                <a:ea typeface="微软雅黑"/>
              </a:rPr>
              <a:t>B 端项目 / 绑装修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3566160"/>
            <a:ext cx="3200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444444"/>
                </a:solidFill>
                <a:latin typeface="Arial"/>
                <a:ea typeface="微软雅黑"/>
              </a:rPr>
              <a:t>多为机构项目制或高端全屋，缺一个消费级、子女能自己装的产品。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47304" y="2514600"/>
            <a:ext cx="3602736" cy="246888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2" y="2715768"/>
            <a:ext cx="3236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110">
                <a:solidFill>
                  <a:srgbClr val="FFFFFF"/>
                </a:solidFill>
                <a:latin typeface="Arial"/>
                <a:ea typeface="微软雅黑"/>
              </a:rPr>
              <a:t>家安差异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2" y="306324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rial"/>
                <a:ea typeface="微软雅黑"/>
              </a:rPr>
              <a:t>自研点云 · 越用越准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2" y="3566160"/>
            <a:ext cx="3200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ECF0FB"/>
                </a:solidFill>
                <a:latin typeface="Arial"/>
                <a:ea typeface="微软雅黑"/>
              </a:rPr>
              <a:t>云端深度模型持续进化 + 个人基线 + C 端买断零售，三点同时补缺口。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327648"/>
            <a:ext cx="11183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FFFFFF"/>
                </a:solidFill>
                <a:latin typeface="Arial"/>
                <a:ea typeface="微软雅黑"/>
              </a:rPr>
              <a:t>海外对标均为"硬件+月费+B 端"（Vayyar Care $250+$20/月、估值约 $1B；CarePredict $169+$30/月；SafelyYou 纯 B 端）；Apple Watch 纯 C 端但 65+ 佩戴率低、夜间/洗澡失效——室内无感覆盖仍是雷达独占。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120">
                <a:solidFill>
                  <a:srgbClr val="737373"/>
                </a:solidFill>
                <a:latin typeface="Arial"/>
                <a:ea typeface="微软雅黑"/>
              </a:rPr>
              <a:t>Roadmap · 落地路径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90895" y="329184"/>
            <a:ext cx="5897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 spc="120">
                <a:solidFill>
                  <a:srgbClr val="737373"/>
                </a:solidFill>
                <a:latin typeface="Arial"/>
                <a:ea typeface="微软雅黑"/>
              </a:rPr>
              <a:t>12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50">
                <a:solidFill>
                  <a:srgbClr val="002FA7"/>
                </a:solidFill>
                <a:latin typeface="Arial"/>
                <a:ea typeface="微软雅黑"/>
              </a:rPr>
              <a:t>ROADMAP · 落地与里程碑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>
                <a:solidFill>
                  <a:srgbClr val="0A0A0A"/>
                </a:solidFill>
                <a:latin typeface="Arial"/>
                <a:ea typeface="微软雅黑"/>
              </a:rPr>
              <a:t>落地路径与里程碑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3657600"/>
            <a:ext cx="11183112" cy="0"/>
          </a:xfrm>
          <a:prstGeom prst="bentConnector3">
            <a:avLst/>
          </a:prstGeom>
          <a:ln w="12700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499616" y="3602736"/>
            <a:ext cx="109728" cy="109728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42316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 spc="60">
                <a:solidFill>
                  <a:srgbClr val="002FA7"/>
                </a:solidFill>
                <a:latin typeface="Arial"/>
                <a:ea typeface="微软雅黑"/>
              </a:rPr>
              <a:t>M0–6 · MVP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9748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002FA7"/>
                </a:solidFill>
                <a:latin typeface="Arial"/>
                <a:ea typeface="微软雅黑"/>
              </a:rPr>
              <a:t>验证核心壁垒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9067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 i="0">
                <a:solidFill>
                  <a:srgbClr val="737373"/>
                </a:solidFill>
                <a:latin typeface="Arial"/>
                <a:ea typeface="微软雅黑"/>
              </a:rPr>
              <a:t>2雷达·跌倒≥90%·误报&lt;2次/周·内测5–8户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39896" y="3602736"/>
            <a:ext cx="109728" cy="10972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385876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 spc="60">
                <a:solidFill>
                  <a:srgbClr val="737373"/>
                </a:solidFill>
                <a:latin typeface="Arial"/>
                <a:ea typeface="微软雅黑"/>
              </a:rPr>
              <a:t>M6–12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133087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0A0A0A"/>
                </a:solidFill>
                <a:latin typeface="Arial"/>
                <a:ea typeface="微软雅黑"/>
              </a:rPr>
              <a:t>商用启动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452628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 i="0">
                <a:solidFill>
                  <a:srgbClr val="737373"/>
                </a:solidFill>
                <a:latin typeface="Arial"/>
                <a:ea typeface="微软雅黑"/>
              </a:rPr>
              <a:t>全屋套上线·1000户·高级订阅·iOS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0176" y="3602736"/>
            <a:ext cx="109728" cy="10972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83480" y="242316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 spc="60">
                <a:solidFill>
                  <a:srgbClr val="737373"/>
                </a:solidFill>
                <a:latin typeface="Arial"/>
                <a:ea typeface="微软雅黑"/>
              </a:rPr>
              <a:t>M12–18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269748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0A0A0A"/>
                </a:solidFill>
                <a:latin typeface="Arial"/>
                <a:ea typeface="微软雅黑"/>
              </a:rPr>
              <a:t>规模化+降本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09067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 i="0">
                <a:solidFill>
                  <a:srgbClr val="737373"/>
                </a:solidFill>
                <a:latin typeface="Arial"/>
                <a:ea typeface="微软雅黑"/>
              </a:rPr>
              <a:t>5000户·国产SoC样机·步态预测·启动A轮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0456" y="3602736"/>
            <a:ext cx="109728" cy="109728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385876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 spc="60">
                <a:solidFill>
                  <a:srgbClr val="002FA7"/>
                </a:solidFill>
                <a:latin typeface="Arial"/>
                <a:ea typeface="微软雅黑"/>
              </a:rPr>
              <a:t>Phase 3 · 18M+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133087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002FA7"/>
                </a:solidFill>
                <a:latin typeface="Arial"/>
                <a:ea typeface="微软雅黑"/>
              </a:rPr>
              <a:t>单位经济转正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452628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 i="0">
                <a:solidFill>
                  <a:srgbClr val="737373"/>
                </a:solidFill>
                <a:latin typeface="Arial"/>
                <a:ea typeface="微软雅黑"/>
              </a:rPr>
              <a:t>BOM425→110·LTV/CAC→2.19·B端数据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460736" y="3602736"/>
            <a:ext cx="109728" cy="10972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4040" y="242316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 spc="60">
                <a:solidFill>
                  <a:srgbClr val="737373"/>
                </a:solidFill>
                <a:latin typeface="Arial"/>
                <a:ea typeface="微软雅黑"/>
              </a:rPr>
              <a:t>获客渠道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269748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0A0A0A"/>
                </a:solidFill>
                <a:latin typeface="Arial"/>
                <a:ea typeface="微软雅黑"/>
              </a:rPr>
              <a:t>低成本组合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309067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 i="0">
                <a:solidFill>
                  <a:srgbClr val="737373"/>
                </a:solidFill>
                <a:latin typeface="Arial"/>
                <a:ea typeface="微软雅黑"/>
              </a:rPr>
              <a:t>子女社群·适老化补贴·机构分销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327648"/>
            <a:ext cx="11183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37373"/>
                </a:solidFill>
                <a:latin typeface="Arial"/>
                <a:ea typeface="微软雅黑"/>
              </a:rPr>
              <a:t>MVP 6 个月预算约 100 万（人力 90 万 + 设备/云 10 万），对应本轮融资第一阶段。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120">
                <a:solidFill>
                  <a:srgbClr val="737373"/>
                </a:solidFill>
                <a:latin typeface="Arial"/>
                <a:ea typeface="微软雅黑"/>
              </a:rPr>
              <a:t>Team · 团队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90895" y="329184"/>
            <a:ext cx="5897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 spc="120">
                <a:solidFill>
                  <a:srgbClr val="737373"/>
                </a:solidFill>
                <a:latin typeface="Arial"/>
                <a:ea typeface="微软雅黑"/>
              </a:rPr>
              <a:t>13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50">
                <a:solidFill>
                  <a:srgbClr val="002FA7"/>
                </a:solidFill>
                <a:latin typeface="Arial"/>
                <a:ea typeface="微软雅黑"/>
              </a:rPr>
              <a:t>WHY THIS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1155680" cy="1120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500" b="0" i="0">
                <a:solidFill>
                  <a:srgbClr val="0A0A0A"/>
                </a:solidFill>
                <a:latin typeface="Arial"/>
                <a:ea typeface="微软雅黑"/>
              </a:rPr>
              <a:t>跨学科，是核心门槛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04040"/>
                </a:solidFill>
                <a:latin typeface="Arial"/>
                <a:ea typeface="微软雅黑"/>
              </a:rPr>
              <a:t>壁垒的核心不在算法本身（算法可复现），而在标注数据积累 + 三种能力的团队组合——花钱短期难复制。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468880"/>
            <a:ext cx="3602736" cy="237744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688336"/>
            <a:ext cx="323697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002FA7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352044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A0A0A"/>
                </a:solidFill>
                <a:latin typeface="Arial"/>
                <a:ea typeface="微软雅黑"/>
              </a:rPr>
              <a:t>雷达信号处理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3977639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444444"/>
                </a:solidFill>
                <a:latin typeface="Arial"/>
                <a:ea typeface="微软雅黑"/>
              </a:rPr>
              <a:t>从稀疏点云稳定提取多维特征，理解毫米波雷达物理、噪声模型与多径鬼影。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5112" y="2468880"/>
            <a:ext cx="3602736" cy="237744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79" y="2688336"/>
            <a:ext cx="323697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002FA7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352044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A0A0A"/>
                </a:solidFill>
                <a:latin typeface="Arial"/>
                <a:ea typeface="微软雅黑"/>
              </a:rPr>
              <a:t>点云深度学习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3977639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444444"/>
                </a:solidFill>
                <a:latin typeface="Arial"/>
                <a:ea typeface="微软雅黑"/>
              </a:rPr>
              <a:t>稀疏点云时序表示学习、端到端跌倒检测、微多普勒步态建模，云端 GPU 深度模型。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47304" y="2468880"/>
            <a:ext cx="3602736" cy="237744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2" y="2688336"/>
            <a:ext cx="323697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002FA7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2" y="352044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A0A0A"/>
                </a:solidFill>
                <a:latin typeface="Arial"/>
                <a:ea typeface="微软雅黑"/>
              </a:rPr>
              <a:t>老年医学认知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2" y="3977639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444444"/>
                </a:solidFill>
                <a:latin typeface="Arial"/>
                <a:ea typeface="微软雅黑"/>
              </a:rPr>
              <a:t>把呼吸/心率/活动/如厕指标翻译成"建议就医/关注"的临床关联，守住不做诊断的合规边界。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5120640"/>
            <a:ext cx="11183112" cy="0"/>
          </a:xfrm>
          <a:prstGeom prst="bentConnector3">
            <a:avLst/>
          </a:prstGeom>
          <a:ln w="12700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525780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0A0A0A"/>
                </a:solidFill>
                <a:latin typeface="Arial"/>
                <a:ea typeface="微软雅黑"/>
              </a:rPr>
              <a:t>MVP 团队 5 人 ｜ 产品+架构（创始人）· 嵌入式/边缘 · 后端（Python/时序库）· AI/ML · iOS；6 个月人力约 90 万，第 2/3 年扩至 8/12 人。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120">
                <a:solidFill>
                  <a:srgbClr val="FFFFFF"/>
                </a:solidFill>
                <a:latin typeface="Arial"/>
                <a:ea typeface="微软雅黑"/>
              </a:rPr>
              <a:t>The Ask · 融资计划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90895" y="329184"/>
            <a:ext cx="5897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 spc="120">
                <a:solidFill>
                  <a:srgbClr val="FFFFFF"/>
                </a:solidFill>
                <a:latin typeface="Arial"/>
                <a:ea typeface="微软雅黑"/>
              </a:rPr>
              <a:t>14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50">
                <a:solidFill>
                  <a:srgbClr val="5B7BFF"/>
                </a:solidFill>
                <a:latin typeface="Arial"/>
                <a:ea typeface="微软雅黑"/>
              </a:rPr>
              <a:t>SEED 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1155680" cy="1120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500" b="0" i="0">
                <a:solidFill>
                  <a:srgbClr val="FFFFFF"/>
                </a:solidFill>
                <a:latin typeface="Arial"/>
                <a:ea typeface="微软雅黑"/>
              </a:rPr>
              <a:t>融资计划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65960"/>
            <a:ext cx="2651760" cy="274320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40279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10">
                <a:solidFill>
                  <a:srgbClr val="FFFFFF"/>
                </a:solidFill>
                <a:latin typeface="Arial"/>
                <a:ea typeface="微软雅黑"/>
              </a:rPr>
              <a:t>融资额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8892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Arial"/>
                <a:ea typeface="微软雅黑"/>
              </a:rPr>
              <a:t>800万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0332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ECF0FB"/>
                </a:solidFill>
                <a:latin typeface="Arial"/>
                <a:ea typeface="微软雅黑"/>
              </a:rPr>
              <a:t>人民币 · 出让约 15–20%（投前估值约 3200–4500 万）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28415" y="1965960"/>
            <a:ext cx="2651760" cy="274320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11296" y="2240279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10">
                <a:solidFill>
                  <a:srgbClr val="737373"/>
                </a:solidFill>
                <a:latin typeface="Arial"/>
                <a:ea typeface="微软雅黑"/>
              </a:rPr>
              <a:t>跑道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1296" y="278892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A0A0A"/>
                </a:solidFill>
                <a:latin typeface="Arial"/>
                <a:ea typeface="微软雅黑"/>
              </a:rPr>
              <a:t>18个月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1296" y="370332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444444"/>
                </a:solidFill>
                <a:latin typeface="Arial"/>
                <a:ea typeface="微软雅黑"/>
              </a:rPr>
              <a:t>覆盖 MVP 验证到国产 SoC 降本拐点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53912" y="1965960"/>
            <a:ext cx="2651760" cy="274320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2240279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10">
                <a:solidFill>
                  <a:srgbClr val="737373"/>
                </a:solidFill>
                <a:latin typeface="Arial"/>
                <a:ea typeface="微软雅黑"/>
              </a:rPr>
              <a:t>资金用途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2697480"/>
            <a:ext cx="22860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0A0A0A"/>
                </a:solidFill>
                <a:latin typeface="Arial"/>
                <a:ea typeface="微软雅黑"/>
              </a:rPr>
              <a:t>研发/团队 50%
供应链 / 流片 20%
获客 20%
云 · 数据 · 其他 10%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79408" y="1965960"/>
            <a:ext cx="2651760" cy="274320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62288" y="2240279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10">
                <a:solidFill>
                  <a:srgbClr val="737373"/>
                </a:solidFill>
                <a:latin typeface="Arial"/>
                <a:ea typeface="微软雅黑"/>
              </a:rPr>
              <a:t>关键里程碑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2288" y="2697480"/>
            <a:ext cx="22860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0A0A0A"/>
                </a:solidFill>
                <a:latin typeface="Arial"/>
                <a:ea typeface="微软雅黑"/>
              </a:rPr>
              <a:t>5000 户装机
国产 SoC 降本样机
误报&lt;2次/周/户
启动 A 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327648"/>
            <a:ext cx="11183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FFFFFF"/>
                </a:solidFill>
                <a:latin typeface="Arial"/>
                <a:ea typeface="微软雅黑"/>
              </a:rPr>
              <a:t>政策背书：国办发〔2024〕1 号明确"家庭配备智能安全监护设备"；毫米波雷达跌倒/生命体征监测已入工信部/民政部/卫健委《智慧健康养老产品及服务推广目录》——产品即国家鼓励品类，可争取申报入选。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304" y="0"/>
            <a:ext cx="6095390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120">
                <a:solidFill>
                  <a:srgbClr val="FFFFFF"/>
                </a:solidFill>
                <a:latin typeface="Arial"/>
                <a:ea typeface="微软雅黑"/>
              </a:rPr>
              <a:t>Vision · 愿景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50">
                <a:solidFill>
                  <a:srgbClr val="FFFFFF"/>
                </a:solidFill>
                <a:latin typeface="Arial"/>
                <a:ea typeface="微软雅黑"/>
              </a:rPr>
              <a:t>TEN-YEAR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4937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700" b="0" i="0">
                <a:solidFill>
                  <a:srgbClr val="FFFFFF"/>
                </a:solidFill>
                <a:latin typeface="Arial"/>
                <a:ea typeface="微软雅黑"/>
              </a:rPr>
              <a:t>从跌倒监测切入，</a:t>
            </a:r>
          </a:p>
          <a:p>
            <a:pPr>
              <a:lnSpc>
                <a:spcPct val="110000"/>
              </a:lnSpc>
            </a:pPr>
            <a:r>
              <a:rPr sz="2700" b="0" i="0">
                <a:solidFill>
                  <a:srgbClr val="FFFFFF"/>
                </a:solidFill>
                <a:latin typeface="Arial"/>
                <a:ea typeface="微软雅黑"/>
              </a:rPr>
              <a:t>做居家养老的</a:t>
            </a:r>
          </a:p>
          <a:p>
            <a:pPr>
              <a:lnSpc>
                <a:spcPct val="110000"/>
              </a:lnSpc>
            </a:pPr>
            <a:r>
              <a:rPr sz="2700" b="0" i="1">
                <a:solidFill>
                  <a:srgbClr val="FFFFFF"/>
                </a:solidFill>
                <a:latin typeface="Arial"/>
                <a:ea typeface="微软雅黑"/>
              </a:rPr>
              <a:t>健康基础设施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23360"/>
            <a:ext cx="4937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DDE4F5"/>
                </a:solidFill>
                <a:latin typeface="Arial"/>
                <a:ea typeface="微软雅黑"/>
              </a:rPr>
              <a:t>中国正进入深度老龄化，未来二十年数以亿计的老人在家养老，他们的健康对子女、对医疗养老体系长期是盲区。家安用持续、连续的居家健康数据把盲区补上。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9436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  <a:ea typeface="微软雅黑"/>
              </a:rPr>
              <a:t>让每个在家变老的人，被持续看见、被及时守护。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32918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120">
                <a:solidFill>
                  <a:srgbClr val="737373"/>
                </a:solidFill>
                <a:latin typeface="Arial"/>
                <a:ea typeface="微软雅黑"/>
              </a:rPr>
              <a:t>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4630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00">
                <a:solidFill>
                  <a:srgbClr val="002FA7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75564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A0A0A"/>
                </a:solidFill>
                <a:latin typeface="Arial"/>
                <a:ea typeface="微软雅黑"/>
              </a:rPr>
              <a:t>切入点足够痛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17627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444444"/>
                </a:solidFill>
                <a:latin typeface="Arial"/>
                <a:ea typeface="微软雅黑"/>
              </a:rPr>
              <a:t>2.2 亿老人、跌倒首位死因、现有方案全失效。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8346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00">
                <a:solidFill>
                  <a:srgbClr val="002FA7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12724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A0A0A"/>
                </a:solidFill>
                <a:latin typeface="Arial"/>
                <a:ea typeface="微软雅黑"/>
              </a:rPr>
              <a:t>壁垒足够深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54787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444444"/>
                </a:solidFill>
                <a:latin typeface="Arial"/>
                <a:ea typeface="微软雅黑"/>
              </a:rPr>
              <a:t>自研点云 + 数据飞轮，越用越准、短期难复制。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2062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00">
                <a:solidFill>
                  <a:srgbClr val="002FA7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449884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A0A0A"/>
                </a:solidFill>
                <a:latin typeface="Arial"/>
                <a:ea typeface="微软雅黑"/>
              </a:rPr>
              <a:t>路径足够清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491947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444444"/>
                </a:solidFill>
                <a:latin typeface="Arial"/>
                <a:ea typeface="微软雅黑"/>
              </a:rPr>
              <a:t>买断获客 → 降本转正 → 数据变现，自洽可信。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630936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100">
                <a:solidFill>
                  <a:srgbClr val="737373"/>
                </a:solidFill>
                <a:latin typeface="Arial"/>
                <a:ea typeface="微软雅黑"/>
              </a:rPr>
              <a:t>家安 housafe · 天使轮 800 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