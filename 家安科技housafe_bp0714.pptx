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2"/>
  </p:handoutMasterIdLst>
  <p:sldIdLst>
    <p:sldId id="256" r:id="rId3"/>
    <p:sldId id="258" r:id="rId4"/>
    <p:sldId id="257" r:id="rId5"/>
    <p:sldId id="271" r:id="rId6"/>
    <p:sldId id="259" r:id="rId7"/>
    <p:sldId id="260" r:id="rId8"/>
    <p:sldId id="261" r:id="rId9"/>
    <p:sldId id="262" r:id="rId10"/>
    <p:sldId id="263" r:id="rId11"/>
    <p:sldId id="275" r:id="rId12"/>
    <p:sldId id="276" r:id="rId13"/>
    <p:sldId id="266" r:id="rId14"/>
    <p:sldId id="268" r:id="rId15"/>
    <p:sldId id="264" r:id="rId16"/>
    <p:sldId id="265" r:id="rId17"/>
    <p:sldId id="267" r:id="rId18"/>
    <p:sldId id="274" r:id="rId20"/>
    <p:sldId id="270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67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Helvetica Neue" panose="02000503000000020004" charset="0"/>
                <a:ea typeface="苹方-简" panose="020B0400000000000000" charset="-122"/>
              </a:rPr>
            </a:fld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Helvetica Neue" panose="02000503000000020004" charset="0"/>
                <a:ea typeface="苹方-简" panose="020B0400000000000000" charset="-122"/>
              </a:rPr>
            </a:fld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charset="0"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charset="0"/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</a:t>
            </a:r>
            <a:r>
              <a:rPr lang="zh-CN" sz="12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科技</a:t>
            </a:r>
            <a:r>
              <a:rPr sz="12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· 商业计划书</a:t>
            </a:r>
            <a:endParaRPr sz="1200" b="0" i="0" spc="12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82296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HOUSAFE · </a:t>
            </a:r>
            <a:r>
              <a:rPr lang="zh-CN"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基于世界模型构建的</a:t>
            </a:r>
            <a:r>
              <a:rPr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养老</a:t>
            </a:r>
            <a:r>
              <a:rPr lang="zh-CN"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监测</a:t>
            </a:r>
            <a:r>
              <a:rPr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AI </a:t>
            </a:r>
            <a:r>
              <a:rPr lang="zh-CN"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产品</a:t>
            </a:r>
            <a:endParaRPr lang="zh-CN" b="1" i="0" spc="15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955165"/>
            <a:ext cx="11548872" cy="1196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让每一位独居老人</a:t>
            </a:r>
            <a:r>
              <a:rPr lang="zh-CN"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的健康</a:t>
            </a: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endParaRPr sz="3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被持续</a:t>
            </a:r>
            <a:r>
              <a:rPr lang="zh-CN"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关注</a:t>
            </a:r>
            <a:endParaRPr lang="zh-CN" sz="3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3555365"/>
            <a:ext cx="11548872" cy="0"/>
          </a:xfrm>
          <a:prstGeom prst="bentConnector3">
            <a:avLst/>
          </a:prstGeom>
          <a:ln w="12700">
            <a:solidFill>
              <a:srgbClr val="6E8A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3738245"/>
            <a:ext cx="11548872" cy="639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毫米波雷达组网，</a:t>
            </a:r>
            <a:r>
              <a:rPr 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上传世界模型底座进行计算</a:t>
            </a:r>
            <a:r>
              <a:rPr lang="en-US" alt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zh-CN" altLang="en-US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持续</a:t>
            </a:r>
            <a:r>
              <a:rPr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感知老人在家状态，</a:t>
            </a:r>
            <a:r>
              <a:rPr 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关注</a:t>
            </a:r>
            <a:r>
              <a:rPr 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微小的异常</a:t>
            </a:r>
            <a:r>
              <a:rPr lang="en-US" alt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分级通知异地子女。从跌倒监测切入，做居家养老的健康基础设施。</a:t>
            </a:r>
            <a:endParaRPr sz="1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5277358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天使轮 · 拟融资</a:t>
            </a:r>
            <a:r>
              <a:rPr lang="en-US"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 3</a:t>
            </a:r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00 万人民币 / </a:t>
            </a:r>
            <a:r>
              <a:rPr lang="en-US"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12</a:t>
            </a:r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 个月 · 出让约 1</a:t>
            </a:r>
            <a:r>
              <a:rPr lang="en-US"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%</a:t>
            </a:r>
            <a:endParaRPr sz="1200" b="0" i="0" spc="110">
              <a:solidFill>
                <a:srgbClr val="D5DDF2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6315455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1200" b="0" i="0" spc="11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家安科技</a:t>
            </a:r>
            <a:r>
              <a:rPr lang="en-US" altLang="zh-CN" sz="1200" b="0" i="0" spc="11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HOUSAFE</a:t>
            </a:r>
            <a:r>
              <a:rPr sz="1200" b="0" i="0" spc="11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· 2026</a:t>
            </a:r>
            <a:endParaRPr sz="1200" b="0" i="0" spc="11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822960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被忽视的高频高危</a:t>
            </a:r>
            <a:endParaRPr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3958590" cy="2131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每 3 位老人</a:t>
            </a:r>
            <a:endParaRPr sz="4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5000"/>
              </a:lnSpc>
            </a:pPr>
            <a:r>
              <a:rPr sz="4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就有 1 人</a:t>
            </a:r>
            <a:endParaRPr sz="4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5000"/>
              </a:lnSpc>
            </a:pPr>
            <a:r>
              <a:rPr sz="4400" b="0" i="1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每年跌倒</a:t>
            </a:r>
            <a:endParaRPr sz="4400" b="0" i="1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3581400"/>
            <a:ext cx="4572000" cy="2153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2.2 亿 65+ 老人（占 15.6%，2035 年约 3 亿）。90% 居家养老。独居/空巢约 1.2 亿</a:t>
            </a:r>
            <a:r>
              <a:rPr 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异地子女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难以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知晓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父母真实状态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。跌倒是 65+ 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老人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伤害死亡首位、创伤性骨折首位。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更根本的盲区：现有方案只能出事后告警。日常的、微小的偏离</a:t>
            </a:r>
            <a:r>
              <a:rPr lang="en-US" alt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如活动量连续下降、睡眠逐渐恶化、呼吸频率变化等没人关注。这些</a:t>
            </a:r>
            <a:r>
              <a:rPr lang="zh-CN" alt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才是大问题的前兆。</a:t>
            </a:r>
            <a:endParaRPr lang="zh-CN" altLang="en-US"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0" y="823595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942340"/>
            <a:ext cx="638251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年跌倒人数</a:t>
            </a:r>
            <a:endParaRPr sz="16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1167257"/>
            <a:ext cx="6382512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4000万+</a:t>
            </a:r>
            <a:endParaRPr sz="44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0" y="1776730"/>
            <a:ext cx="6382512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约 30% 每年至少跌倒一次。跌倒是伤害死亡首位、创伤性骨折首位。</a:t>
            </a:r>
            <a:endParaRPr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2563495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0" y="2641600"/>
            <a:ext cx="638251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摔倒后无法自行起身</a:t>
            </a:r>
            <a:endParaRPr sz="16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2959862"/>
            <a:ext cx="6382512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47%</a:t>
            </a:r>
            <a:endParaRPr sz="44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0" y="3669030"/>
            <a:ext cx="6382512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20–30% 倒地超 1 小时。髋部骨折 1 年死亡率 14–25%，人均住院约 1.98 万元。</a:t>
            </a:r>
            <a:endParaRPr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4475480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0" y="4603115"/>
            <a:ext cx="638251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现有方案</a:t>
            </a:r>
            <a:r>
              <a:rPr lang="zh-CN"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痛点</a:t>
            </a:r>
            <a:endParaRPr lang="zh-CN" sz="16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1375" y="4918710"/>
            <a:ext cx="4177665" cy="3530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浴室卧室不可装，隐私争议大，老人抵触强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91375" y="5263515"/>
            <a:ext cx="4803775" cy="3378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依从性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低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，忘戴、洗澡取下、充电时失效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91375" y="5593080"/>
            <a:ext cx="4803775" cy="3378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摔倒后够不到，意识丧失时完全无效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91375" y="5946775"/>
            <a:ext cx="4803775" cy="3378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单房间覆盖、误报率高、精度出厂定型、无长期趋势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6492240"/>
            <a:ext cx="11548872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来源：民政部《2024 国家老龄事业发展公报》· CDC《老年人跌倒干预技术指南》(2011)/《核心信息》(2021) · BMJ Long-lie 研究(2023)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14010" y="4918710"/>
            <a:ext cx="8788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摄像头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14010" y="5255260"/>
            <a:ext cx="11576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手环/手表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14010" y="5588000"/>
            <a:ext cx="11569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紧急按钮 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14010" y="5944235"/>
            <a:ext cx="1186815" cy="3371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sz="1600">
                <a:latin typeface="Arial" panose="020B0604020202090204"/>
                <a:ea typeface="苹方-简" panose="020B0400000000000000" charset="-122"/>
                <a:sym typeface="+mn-ea"/>
              </a:rPr>
              <a:t>单</a:t>
            </a:r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雷达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6497320" y="6106160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6497320" y="5085715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6497320" y="5417820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497320" y="5749925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6334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产品综述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家安 housafe</a:t>
            </a:r>
            <a:r>
              <a:rPr 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是什么</a:t>
            </a:r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？</a:t>
            </a:r>
            <a:endParaRPr lang="en-US" altLang="zh-CN"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40" cy="20777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52043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01 痛点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347472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2.2 亿独居/空巢老人的跌倒检测盲区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3474720" cy="1049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跌倒是 65+ 伤害死亡首位原因。约 30% 每年至少跌倒一次、年逾 4000 万人。47% 摔倒后无法自行起身，20–30% 倒地超 1 小时。异地子女无从知晓。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06240" y="1325880"/>
            <a:ext cx="3749040" cy="20777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4343400" y="1417320"/>
            <a:ext cx="352043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02 市场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1618488"/>
            <a:ext cx="347472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银发经济 7 万亿 → 30 万亿（2035E）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43400" y="1984248"/>
            <a:ext cx="3474720" cy="1049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智能养老设备 2025 约 1840 亿、年增约 20%。健康监测可穿戴 25H1 出货 +53.6%。国办发〔2024〕1 号明确写入"家庭配备智能安全监护设备"。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749040" cy="20777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52043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03 产品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1618488"/>
            <a:ext cx="347472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全屋毫米波雷达组网，无感守护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1984248"/>
            <a:ext cx="3474720" cy="1049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2–4 个雷达组网，Φ85mm 像烟雾探测器，15 分钟自装。不穿戴、不操作、无摄像头。AI 识别跌倒/静止/体征异常/模式偏离四类事件，分级通知子女。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3726815"/>
            <a:ext cx="3749040" cy="20777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457200" y="3818127"/>
            <a:ext cx="352043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04 壁垒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019295"/>
            <a:ext cx="347472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ELPD 统一隐空间世界模型 + 数据飞轮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4385055"/>
            <a:ext cx="3474720" cy="1049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自研 Encoder 从原始点云提取全维度信号，云端 GPU 深度时序模型，自监督持续进化。多雷达聚合全屋画像，14 天个人基线，越用越准。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06240" y="3726815"/>
            <a:ext cx="3749040" cy="20777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8127"/>
            <a:ext cx="352043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05 模式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43400" y="4019295"/>
            <a:ext cx="347472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硬件买断获客 + 订阅服务盈利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43400" y="4385055"/>
            <a:ext cx="3474720" cy="1049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硬件 299–799 元一次买断（微利），高级健康服务 199 元/年（高毛利，约 90%）。早期 LTV/CAC=0.77，国产 SoC 降本后转正到 2.19。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92440" y="3726815"/>
            <a:ext cx="3749040" cy="20777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8127"/>
            <a:ext cx="352043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06 融资</a:t>
            </a:r>
            <a:endParaRPr sz="1400" b="1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4019295"/>
            <a:ext cx="347472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天使轮 </a:t>
            </a:r>
            <a:r>
              <a:rPr lang="en-US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00 万 · 1</a:t>
            </a:r>
            <a:r>
              <a:rPr lang="en-US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2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个月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4385055"/>
            <a:ext cx="3474720" cy="786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覆盖 MVP 验证到国产 SoC 降本样机。达成数千户商用与数据飞轮，为 A 轮铺路。出让约 1</a:t>
            </a:r>
            <a:r>
              <a:rPr 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–</a:t>
            </a:r>
            <a:r>
              <a:rPr 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15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%，</a:t>
            </a:r>
            <a:r>
              <a:rPr 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首轮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投前估值约 3</a:t>
            </a:r>
            <a:r>
              <a:rPr 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00 万。</a:t>
            </a:r>
            <a:endParaRPr sz="14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" y="6327648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数据来源：民政部《2024 国家老龄事业发展公报</a:t>
            </a:r>
            <a:r>
              <a:rPr 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》</a:t>
            </a:r>
            <a:r>
              <a:rPr 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CDC《老年人跌倒干预技术指南》</a:t>
            </a:r>
            <a:r>
              <a:rPr 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《银发经济蓝皮书(2024)》</a:t>
            </a:r>
            <a:r>
              <a:rPr 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中商产业研究院(2025) </a:t>
            </a:r>
            <a:r>
              <a:rPr 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IDC(2025H1)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7210"/>
            <a:ext cx="12191365" cy="632015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320040" y="36334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</a:t>
            </a:r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系统简图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7762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市场分析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455" y="642620"/>
            <a:ext cx="11548745" cy="387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一个正在爆发的银发健康市场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069975"/>
            <a:ext cx="11548872" cy="538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银发经济 2024 约 7 万亿 → 2035 约 30 万亿（CAGR≈15%）。我们切入具体刚需：独居老人室内无感监测。需求、供给、政策三端同时在 2024–2025 年到位。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102485"/>
            <a:ext cx="2788920" cy="210375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429768" y="2225039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TAM · 银发经济 2035E</a:t>
            </a:r>
            <a:endParaRPr sz="1050" b="0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453639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30 万亿</a:t>
            </a:r>
            <a:endParaRPr sz="32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DE4F5"/>
                </a:solidFill>
                <a:latin typeface="Arial" panose="020B0604020202090204"/>
                <a:ea typeface="苹方-简" panose="020B0400000000000000" charset="-122"/>
              </a:rPr>
              <a:t>2024 约 7 万亿，CAGR≈15%
占 GDP 6%→10%</a:t>
            </a:r>
            <a:endParaRPr sz="1200" b="0" i="0">
              <a:solidFill>
                <a:srgbClr val="DDE4F5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18688" y="2560320"/>
            <a:ext cx="278892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328416" y="2651760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SAM · 智能养老设备</a:t>
            </a:r>
            <a:endParaRPr sz="105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8416" y="2880360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≈2400 亿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28416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设备 1840 亿 + 适老化
≈600 亿（2025），年增≈20%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17336" y="2194559"/>
            <a:ext cx="2788920" cy="201168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227064" y="2285999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刚需人群 · 年跌倒人次</a:t>
            </a:r>
            <a:endParaRPr sz="105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27064" y="2514599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4000 万+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27064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65+ 老人跌倒/年
居家场景最刚性需求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15730" y="2614930"/>
            <a:ext cx="2788920" cy="159131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137776" y="2755265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需求信号 · 出货增速</a:t>
            </a:r>
            <a:endParaRPr sz="105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8411" y="2999740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+53.6%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25711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健康监测可穿戴 25H1 出货
</a:t>
            </a:r>
            <a:r>
              <a:rPr 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用户心智成熟</a:t>
            </a:r>
            <a:endParaRPr lang="zh-CN"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20040" y="443484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4220" y="4690745"/>
            <a:ext cx="3400425" cy="515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① 雷达降本：60GHz SoC 从千元级走向百元内，消费级定价成为可能。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7850" y="4688205"/>
            <a:ext cx="3620770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② AI 成熟：云端深度模型处理稀疏点云可行，GPU 推理成本降至可接受范围。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4220" y="5522595"/>
            <a:ext cx="338137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③ 老龄化拐点：65+ 已 2.2 亿（15.6%），深度老龄化社会，独居/空巢超半数。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8485" y="5534660"/>
            <a:ext cx="3606165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④ 政策明确：国办发〔2024〕1 号写入"家庭配备智能安全监护设备"。毫米波雷达已入工信部/民政部/卫健委《推广目录》。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" y="6400800"/>
            <a:ext cx="11548872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来源：《银发经济蓝皮书(2024)》社科文献出版社 · 中商产业研究院(2025) · IDC(2025H1) · 国办发〔2024〕1 号。市场金额为机构测算。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392420" y="5017770"/>
            <a:ext cx="1441450" cy="851535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>
                <a:solidFill>
                  <a:schemeClr val="tx1"/>
                </a:solidFill>
              </a:rPr>
              <a:t>四个核心驱动力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肘形连接符 30"/>
          <p:cNvCxnSpPr>
            <a:endCxn id="26" idx="3"/>
          </p:cNvCxnSpPr>
          <p:nvPr/>
        </p:nvCxnSpPr>
        <p:spPr>
          <a:xfrm rot="10800000">
            <a:off x="4144645" y="4948555"/>
            <a:ext cx="1245870" cy="257810"/>
          </a:xfrm>
          <a:prstGeom prst="bentConnector3">
            <a:avLst>
              <a:gd name="adj1" fmla="val 50000"/>
            </a:avLst>
          </a:prstGeom>
          <a:ln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endCxn id="28" idx="3"/>
          </p:cNvCxnSpPr>
          <p:nvPr/>
        </p:nvCxnSpPr>
        <p:spPr>
          <a:xfrm rot="10800000" flipV="1">
            <a:off x="4124960" y="5570220"/>
            <a:ext cx="1265555" cy="210185"/>
          </a:xfrm>
          <a:prstGeom prst="bentConnector3">
            <a:avLst>
              <a:gd name="adj1" fmla="val 49975"/>
            </a:avLst>
          </a:prstGeom>
          <a:ln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flipV="1">
            <a:off x="6833870" y="4948555"/>
            <a:ext cx="1205865" cy="255905"/>
          </a:xfrm>
          <a:prstGeom prst="bentConnector3">
            <a:avLst>
              <a:gd name="adj1" fmla="val 50026"/>
            </a:avLst>
          </a:prstGeom>
          <a:ln w="25400" cap="flat" cmpd="sng">
            <a:solidFill>
              <a:schemeClr val="accent1"/>
            </a:solidFill>
            <a:prstDash val="solid"/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肘形连接符 33"/>
          <p:cNvCxnSpPr/>
          <p:nvPr/>
        </p:nvCxnSpPr>
        <p:spPr>
          <a:xfrm>
            <a:off x="6833870" y="5570220"/>
            <a:ext cx="1205865" cy="351790"/>
          </a:xfrm>
          <a:prstGeom prst="bentConnector3">
            <a:avLst>
              <a:gd name="adj1" fmla="val 50026"/>
            </a:avLst>
          </a:prstGeom>
          <a:ln w="25400" cap="flat" cmpd="sng">
            <a:solidFill>
              <a:schemeClr val="accent1"/>
            </a:solidFill>
            <a:prstDash val="solid"/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2491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产品形态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74675"/>
            <a:ext cx="11548745" cy="367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全屋雷达组网，无感守护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969645"/>
            <a:ext cx="11548872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子女带回家，一人操作、15 分钟装完、无需工具。雷达 7×24 采集，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上传云端世界模型底座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云端 AI 识别异常。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0040" y="1529080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820" y="1574800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01 采集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1574800"/>
            <a:ext cx="56692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毫米波雷达组网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3080" y="1821688"/>
            <a:ext cx="5669280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Φ85mm 白色感应器，烟雾探测器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形态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。天花板/墙壁 3M 磁吸安装，2.4G WiFi 直连云，USB-C 供电 &lt; 2W，全年电费 &lt; 40 元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（4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雷达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）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。采集姿态、活动、呼吸、心率。安装配件包含底座、线卡、定位卡纸。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20040" y="2783840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820" y="2830195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02 感知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2829560"/>
            <a:ext cx="56692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云端 AI 点云理解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83080" y="3076448"/>
            <a:ext cx="5669280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原始点云通过 WiFi 直传云端，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Encoder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压缩为统一隐空间表征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Predictor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学习老人行为动力学、预测下一时刻状态。同一隐空间同时产出六类信号，识别跌倒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长时间静止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生命体征异常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日常模式偏离四类事件。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20040" y="4038600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820" y="4085590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03 判决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83080" y="4084320"/>
            <a:ext cx="56692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延迟确认降误报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83080" y="4331208"/>
            <a:ext cx="5669280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跌倒初判后等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3–5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秒观察后续行为，多雷达交叉验证。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Predictor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对比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预测状态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与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真实状态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"——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预测偏差即异常信号，结合个人基线区分真摔与快速坐下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蹲下。厂商固件没有隐空间表征，无法做预测对比。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20040" y="5293360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820" y="5340985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04 通知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83080" y="5339080"/>
            <a:ext cx="56692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分级触达子女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83080" y="5585968"/>
            <a:ext cx="5669280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不提 / App 推送 / 强推+短信 / 电话四级。紧急事件（跌倒）同时短信+电话。日常模式偏离（活动量连续下降、睡眠恶化）以周报形式呈现，不实时骚扰。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18120" y="1783080"/>
            <a:ext cx="4050665" cy="2794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7927848" y="1874519"/>
            <a:ext cx="383133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六大核心场景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27848" y="2248408"/>
            <a:ext cx="3831335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S1 浴室跌倒 → 强推+短信+电话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27848" y="2595879"/>
            <a:ext cx="3831335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S2 蹲下捡物 → 3–5 秒延迟确认，不误报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27848" y="2943352"/>
            <a:ext cx="3831335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S3 卧室静止超时 → 推送提醒子女查看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27848" y="3290824"/>
            <a:ext cx="3831335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S4 连续 3 天活动量 &lt; 基线 50% → 建议关注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27848" y="3638296"/>
            <a:ext cx="3831335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S5 首页卡片：昨夜睡眠 7.2h，起床 6:40，正常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27848" y="3985133"/>
            <a:ext cx="3831335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S6 导出 30 天趋势 PDF 供就医参考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818120" y="4892040"/>
            <a:ext cx="4050665" cy="15824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7927848" y="4956048"/>
            <a:ext cx="383133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硬边界</a:t>
            </a:r>
            <a:endParaRPr sz="1400" b="1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26578" y="5345303"/>
            <a:ext cx="3831335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CCCCC"/>
                </a:solidFill>
                <a:latin typeface="Arial" panose="020B0604020202090204"/>
                <a:ea typeface="苹方-简" panose="020B0400000000000000" charset="-122"/>
              </a:rPr>
              <a:t>无摄像头 / 无视频 </a:t>
            </a:r>
            <a:endParaRPr sz="1400" b="0" i="0">
              <a:solidFill>
                <a:srgbClr val="CCCCCC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CCCCC"/>
                </a:solidFill>
                <a:latin typeface="Arial" panose="020B0604020202090204"/>
                <a:ea typeface="苹方-简" panose="020B0400000000000000" charset="-122"/>
              </a:rPr>
              <a:t>不做医学诊断</a:t>
            </a:r>
            <a:r>
              <a:rPr lang="en-US" sz="1400" b="0" i="0">
                <a:solidFill>
                  <a:srgbClr val="CCCCCC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400" b="0" i="0">
                <a:solidFill>
                  <a:srgbClr val="CCCCCC"/>
                </a:solidFill>
                <a:latin typeface="Arial" panose="020B0604020202090204"/>
                <a:ea typeface="苹方-简" panose="020B0400000000000000" charset="-122"/>
              </a:rPr>
              <a:t>不做 120 调度
不测血压 / 血氧 / 血糖</a:t>
            </a:r>
            <a:endParaRPr sz="1400" b="0" i="0">
              <a:solidFill>
                <a:srgbClr val="CCCCCC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310515" y="1520190"/>
            <a:ext cx="0" cy="4893945"/>
          </a:xfrm>
          <a:prstGeom prst="straightConnector1">
            <a:avLst/>
          </a:prstGeom>
          <a:ln>
            <a:solidFill>
              <a:srgbClr val="002FA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4429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THE CORE TECH</a:t>
            </a:r>
            <a:r>
              <a:rPr 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lang="zh-CN" alt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统一隐空间世界模型</a:t>
            </a:r>
            <a:endParaRPr lang="zh-CN" altLang="en-US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ELPD 架构：Encoder → Latent Space → Predictor → Decoders</a:t>
            </a:r>
            <a:endParaRPr sz="200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988060"/>
            <a:ext cx="8064500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成品雷达模块在固件里算完，只输出"跌倒/未跌倒"，中间数据全部丢弃。家安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收集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原始点云跑自研深度模型。ELPD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架构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用隐空间统一表征所有信号，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全部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任务从同一隐空间读取，信息零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损失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887220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1673225"/>
            <a:ext cx="174434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Encoder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873250"/>
            <a:ext cx="1461135" cy="168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编码器</a:t>
            </a:r>
            <a:endParaRPr sz="1200" b="0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895" y="2130425"/>
            <a:ext cx="1745615" cy="12325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PointNet++ 变体
</a:t>
            </a:r>
            <a:r>
              <a:rPr 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因果空洞卷积</a:t>
            </a:r>
            <a:r>
              <a:rPr lang="en-US" alt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TCN</a:t>
            </a:r>
            <a:endParaRPr lang="en-US" altLang="zh-CN"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多雷达 Cross-Attention
时间编码注入
体征信号旁路
→ 输出 S_t + Σ_t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5400" y="1600200"/>
            <a:ext cx="1744980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6840" y="1673225"/>
            <a:ext cx="16129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Latent Space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56840" y="1857375"/>
                <a:ext cx="1612900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200" b="0" i="0" spc="8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隐空间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</m:oMath>
                </a14:m>
                <a:endParaRPr sz="1200" b="0" i="0" spc="8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40" y="1857375"/>
                <a:ext cx="1612900" cy="184150"/>
              </a:xfrm>
              <a:prstGeom prst="rect">
                <a:avLst/>
              </a:prstGeom>
              <a:blipFill rotWithShape="1">
                <a:blip r:embed="rId1"/>
                <a:stretch>
                  <a:fillRect t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656840" y="2130425"/>
                <a:ext cx="1612900" cy="1071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图结构：空间拓扑
向量：人状态
全局上下文
不确定性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1200" b="0" i="1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b="0" i="1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
个人基线流形</a:t>
                </a:r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40" y="2130425"/>
                <a:ext cx="1612900" cy="10712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683760" y="1600200"/>
            <a:ext cx="1745615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75200" y="1673225"/>
            <a:ext cx="161353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Predictor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75200" y="1857375"/>
            <a:ext cx="161353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预测器</a:t>
            </a:r>
            <a:endParaRPr sz="1200" b="0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775200" y="2130425"/>
                <a:ext cx="1613535" cy="113347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Causal Transformer</a:t>
                </a:r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sz="1200" i="1" spc="80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苹方-简" panose="020B0400000000000000" charset="-122"/>
                          <a:cs typeface="DejaVu Math TeX Gyre" panose="02000503000000000000" charset="0"/>
                        </a:rPr>
                        <m:t>→</m:t>
                      </m:r>
                      <m:sSub>
                        <m:sSubPr>
                          <m:ctrlP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𝑡</m:t>
                          </m:r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+</m:t>
                          </m:r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pc="80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苹方-简" panose="020B0400000000000000" charset="-122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sz="1200" b="0" i="0" spc="8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多尺度预测</a:t>
                </a:r>
                <a:r>
                  <a:rPr lang="en-US"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 </a:t>
                </a: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(1s/10s/60s/3600s)
自监督训练</a:t>
                </a:r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00" y="2130425"/>
                <a:ext cx="1613535" cy="11334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802120" y="1600200"/>
            <a:ext cx="1612900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93560" y="1673225"/>
            <a:ext cx="14909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Decoders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93560" y="1857375"/>
            <a:ext cx="14909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解码器</a:t>
            </a:r>
            <a:endParaRPr sz="1200" b="0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93560" y="2130425"/>
            <a:ext cx="1490980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Anomaly 异常检测
Notification 通知
Report 健康报告
Tracking 轨迹追踪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4" name="Connector 23"/>
          <p:cNvCxnSpPr>
            <a:stCxn id="8" idx="3"/>
            <a:endCxn id="12" idx="1"/>
          </p:cNvCxnSpPr>
          <p:nvPr/>
        </p:nvCxnSpPr>
        <p:spPr>
          <a:xfrm>
            <a:off x="2207260" y="2432050"/>
            <a:ext cx="358140" cy="3175"/>
          </a:xfrm>
          <a:prstGeom prst="bentConnector2">
            <a:avLst/>
          </a:prstGeom>
          <a:ln w="19050">
            <a:solidFill>
              <a:srgbClr val="5B7BF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2" idx="3"/>
            <a:endCxn id="16" idx="1"/>
          </p:cNvCxnSpPr>
          <p:nvPr/>
        </p:nvCxnSpPr>
        <p:spPr>
          <a:xfrm>
            <a:off x="4310380" y="2432050"/>
            <a:ext cx="373380" cy="3175"/>
          </a:xfrm>
          <a:prstGeom prst="bentConnector2">
            <a:avLst/>
          </a:prstGeom>
          <a:ln w="19050">
            <a:solidFill>
              <a:srgbClr val="5B7BF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6" idx="3"/>
            <a:endCxn id="20" idx="1"/>
          </p:cNvCxnSpPr>
          <p:nvPr/>
        </p:nvCxnSpPr>
        <p:spPr>
          <a:xfrm>
            <a:off x="6429375" y="2432050"/>
            <a:ext cx="372745" cy="3175"/>
          </a:xfrm>
          <a:prstGeom prst="bentConnector2">
            <a:avLst/>
          </a:prstGeom>
          <a:ln w="19050">
            <a:solidFill>
              <a:srgbClr val="5B7BF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0040" y="3350895"/>
            <a:ext cx="7291705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自监督学习回环：Predicted vs Encoder → gradient update  |  </a:t>
            </a:r>
            <a:r>
              <a:rPr lang="zh-CN"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自生成</a:t>
            </a:r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训练数据，零标注</a:t>
            </a:r>
            <a:endParaRPr sz="1200" b="1" i="0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" y="3647440"/>
            <a:ext cx="3839845" cy="1055370"/>
          </a:xfrm>
          <a:prstGeom prst="rect">
            <a:avLst/>
          </a:prstGeom>
          <a:solidFill>
            <a:srgbClr val="F5F5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895" y="3702050"/>
            <a:ext cx="2699385" cy="210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传统管道（竞品）</a:t>
            </a:r>
            <a:endParaRPr sz="1200" b="1" i="0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29895" y="3912235"/>
            <a:ext cx="3683635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各模块输出离散标签，硬决策丢信息，无空间上下文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规则冲突无法自修复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无法自进化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新功能=新模块+新数据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48480" y="3647440"/>
            <a:ext cx="3990340" cy="1055370"/>
          </a:xfrm>
          <a:prstGeom prst="rect">
            <a:avLst/>
          </a:prstGeom>
          <a:solidFill>
            <a:srgbClr val="002FA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58335" y="3702050"/>
            <a:ext cx="2154555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ELPD 核心差异</a:t>
            </a:r>
            <a:endParaRPr sz="1200" b="1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58335" y="3912235"/>
            <a:ext cx="390779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单一真相源：任务从同一隐空间读取，在同一向量空间 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预测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=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异常：系统觉察"现实与预期不符"  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新任务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=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新Decoder：零额外标注，从现有隐空间读取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320040" y="4978908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0040" y="5112766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从同一条点云流提取 6 类信号</a:t>
            </a:r>
            <a:endParaRPr sz="12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" y="538010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姿态序列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空间分布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跌倒初判/基线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60520" y="538010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速度分布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径向速度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精细活动量化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001000" y="538010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点云形变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PCA/质心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真摔vs坐下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0040" y="565442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微多普勒谱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相位时频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步态参数(P2)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60520" y="565442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生命体征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胸腔微动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呼吸/心率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01000" y="565442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活动片段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时序聚类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基线时间分布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320040" y="5959475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20040" y="6082538"/>
            <a:ext cx="11548872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技术可行性（行业验证/参考设计）：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跌倒检测 92%+ 准确率、误报&lt;3%（TI IWR6843 参考设计）| 呼吸 ±0.4、心率 ±1.0 次/分（安静睡眠，西京学院 2026）| 步态预测跌倒风险（Nature 2025/Frontiers 2024，学术阶段）
</a:t>
            </a:r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硬件演进：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IWR6843ISK 开发板 → TI 模组~200元 → 自研一体板~100元(量&gt;5000) → 国产60GHz SoC~60元(量&gt;5万，首选加特兰)。选型标准：点云质量+SDK开放度。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pic>
        <p:nvPicPr>
          <p:cNvPr id="2" name="图片 1" descr="Gemini_Generated_Image_rsnygxrsnygxrs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76555"/>
            <a:ext cx="3365500" cy="4507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8397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核心算法与可行性</a:t>
            </a:r>
            <a:endParaRPr lang="zh-CN" altLang="en-US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82422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七个核心算法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30300"/>
            <a:ext cx="2788920" cy="101790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411479" y="1185164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ALG-0  点云→</a:t>
            </a:r>
            <a:r>
              <a:rPr lang="zh-CN"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隐空间表征</a:t>
            </a:r>
            <a:endParaRPr lang="zh-CN"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79" y="1477772"/>
            <a:ext cx="2624327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PointNet++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变体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TCN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，从原始点云输出连续向量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不确定性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，取代厂商固件的离散姿态标签。</a:t>
            </a:r>
            <a:endParaRPr lang="zh-CN" altLang="en-US"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18815" y="1130300"/>
            <a:ext cx="2788920" cy="101790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3310128" y="1185164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ALG-1  多雷达时序对齐+空间拓扑</a:t>
            </a:r>
            <a:endParaRPr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0128" y="1477772"/>
            <a:ext cx="2624327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多雷达时序对齐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+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空间拓扑：云端对齐多雷达时间线，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Cross-Attention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自学习空间拓扑，零人工标注平面图。</a:t>
            </a:r>
            <a:endParaRPr lang="zh-CN" altLang="en-US"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17590" y="1130300"/>
            <a:ext cx="2788920" cy="101790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6208775" y="1185164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ALG-2  跌倒延迟确认</a:t>
            </a:r>
            <a:endParaRPr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08775" y="1477772"/>
            <a:ext cx="2624327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Predictor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对比预测状态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vs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真实状态，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3–5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秒观察窗口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多雷达交叉验证，降误报核心。</a:t>
            </a:r>
            <a:endParaRPr lang="zh-CN" altLang="en-US"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15730" y="1130300"/>
            <a:ext cx="2788920" cy="101790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9107424" y="1185164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ALG-3  个人基线建模（14天）</a:t>
            </a:r>
            <a:endParaRPr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07424" y="1477772"/>
            <a:ext cx="2624327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隐空间流形上拟合个人常态密度分布，时序聚类提取典型日模式。</a:t>
            </a:r>
            <a:endParaRPr lang="zh-CN" altLang="en-US"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2275205"/>
            <a:ext cx="2788920" cy="9550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411479" y="2330196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ALG-4  异常偏离检测</a:t>
            </a:r>
            <a:endParaRPr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79" y="2622804"/>
            <a:ext cx="2624327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实时连续向量与基线流形的马氏距离</a:t>
            </a:r>
            <a:r>
              <a:rPr lang="en-US" altLang="zh-CN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多维度联合偏离评分</a:t>
            </a:r>
            <a:endParaRPr lang="zh-CN" altLang="en-US"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18815" y="2275205"/>
            <a:ext cx="2788920" cy="9550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3310128" y="2330196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ALG-5  多信号贝叶斯置信度融合</a:t>
            </a:r>
            <a:endParaRPr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10128" y="2622804"/>
            <a:ext cx="2624327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活动量↓+睡眠↓+心率↑ 同时出现时置信度指数叠加</a:t>
            </a:r>
            <a:endParaRPr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17590" y="2275205"/>
            <a:ext cx="2788920" cy="9550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6208775" y="2330196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ALG-6  分级通知决策</a:t>
            </a:r>
            <a:endParaRPr sz="12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08775" y="2622804"/>
            <a:ext cx="2624327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异常分+持续性+紧急性→通知等级（不提/推送/强推/电话）</a:t>
            </a:r>
            <a:endParaRPr sz="12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015730" y="2275205"/>
            <a:ext cx="2788920" cy="9550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9107424" y="2330196"/>
            <a:ext cx="2624327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ALG-7  步态提取+跌倒风险预测</a:t>
            </a:r>
            <a:endParaRPr sz="1200" b="1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07424" y="2622804"/>
            <a:ext cx="2624327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微多普勒谱</a:t>
            </a:r>
            <a:r>
              <a:rPr lang="en-US" altLang="zh-CN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步态参数（步速</a:t>
            </a:r>
            <a:r>
              <a:rPr lang="en-US" altLang="zh-CN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步幅</a:t>
            </a:r>
            <a:r>
              <a:rPr lang="en-US" altLang="zh-CN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对称性）</a:t>
            </a:r>
            <a:r>
              <a:rPr lang="en-US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ML </a:t>
            </a:r>
            <a:r>
              <a:rPr lang="zh-CN" altLang="en-US" sz="1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预测跌倒风险。</a:t>
            </a:r>
            <a:endParaRPr lang="zh-CN" altLang="en-US" sz="12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40" y="334264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技术可行性（行业已验证/参考设计，非产品实测）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0040" y="3635248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跌倒检测 92%+ 准确率、误报&lt;3%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040" y="3891280"/>
            <a:ext cx="3657600" cy="47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TI IWR6843 参考设计，20㎡；Application Note ZHCAA43</a:t>
            </a:r>
            <a:endParaRPr sz="14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60520" y="3635248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呼吸 ±0.4 次/分、心率 ±1.0 次/分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60520" y="3891280"/>
            <a:ext cx="36576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安静睡眠状态；西京学院 2026，n=20</a:t>
            </a:r>
            <a:endParaRPr sz="14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01000" y="3635248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步态参数预测跌倒风险</a:t>
            </a:r>
            <a:endParaRPr sz="1400"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01000" y="3891280"/>
            <a:ext cx="3657600" cy="47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Nature Sci Rep 2025 / Frontiers in AI 2024，学术验证阶段</a:t>
            </a:r>
            <a:endParaRPr sz="14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0040" y="459359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硬件演进路线（选型</a:t>
            </a:r>
            <a:r>
              <a:rPr 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方向</a:t>
            </a:r>
            <a:r>
              <a:rPr lang="en-US" alt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点云质量+SDK开放度）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0040" y="4822189"/>
            <a:ext cx="11548872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IWR6843ISK 开发板（$149，USB 直出点云，深度模型训练数据源）→ TI IWR6843 模组 ~200 元（MVP 产品）→ 自研一体板 ~100 元（量 &gt; 5,000，TI 同款芯片，单 PCB 集成 WiFi+电源）→ 国产 60GHz SoC ~60 元（量 &gt; 5 万，首选加特兰 Alps 系列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）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
国产替代候选：加特兰（支持级联 4D 成像）&gt; 矽典微（超低功耗 AiP）&gt; 岸达（成本最低）。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040" y="5725160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MVP 技术风险与缓释</a:t>
            </a:r>
            <a:endParaRPr sz="1200" b="1" i="0" spc="10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" y="5930900"/>
            <a:ext cx="11548872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① 合成数据→真实点云 domain gap 导致 Encoder 精度不达预期（高风险）：合成数据仅做基础预训练（"什么是人形"），真实数据自监督 fine-tune。</a:t>
            </a:r>
            <a:endParaRPr sz="1200" b="0" i="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② 隐空间坍缩——大量"无人"帧导致模型只预测"人不在了"（高风险）：loss 加权非空帧/变化帧，curriculum learning 先学有人的片段。</a:t>
            </a:r>
            <a:endParaRPr sz="1200" b="0" i="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0040" y="6400800"/>
            <a:ext cx="11548872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上述精度为行业参考设计</a:t>
            </a:r>
            <a:r>
              <a:rPr 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学术验证。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8684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产品优势与竞争力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三层壁垒：范式</a:t>
            </a:r>
            <a:r>
              <a:rPr 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算法 </a:t>
            </a:r>
            <a:r>
              <a:rPr 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 </a:t>
            </a:r>
            <a:r>
              <a:rPr lang="zh-CN" alt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</a:t>
            </a:r>
            <a:endParaRPr lang="zh-CN" altLang="en-US"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142365"/>
            <a:ext cx="11548872" cy="262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壁垒在三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个维度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的叠加：架构范式的代际差异、跨学科的稀缺性、随时间复利加深的数据资产。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769745"/>
            <a:ext cx="3749040" cy="291655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192836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LAYER 01 · 范式壁垒</a:t>
            </a:r>
            <a:endParaRPr sz="1400" b="1" i="0" spc="10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265680"/>
            <a:ext cx="352958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统一隐空间世界模型</a:t>
            </a:r>
            <a:endParaRPr sz="14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2839720"/>
            <a:ext cx="3529583" cy="150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传统养老监测是管道架构——传感器→规则→事件→通知，每层做硬决策、丢信息。ELPD 用一个隐空间统一表征所有信号，多维度偏离在隐空间中自动耦合，不需外部融合。</a:t>
            </a:r>
            <a:endParaRPr sz="14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4869053"/>
            <a:ext cx="3529583" cy="24574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l"/>
            <a:r>
              <a:rPr sz="1600" b="1" i="1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范式壁垒 · 架构代际差异</a:t>
            </a:r>
            <a:endParaRPr sz="1600" b="1" i="1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97350" y="1769745"/>
            <a:ext cx="3749040" cy="291655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06823" y="192836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LAYER 02 · 算法壁垒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06823" y="2265680"/>
            <a:ext cx="352958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自研点云 Encoder</a:t>
            </a:r>
            <a:endParaRPr sz="1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06823" y="2839720"/>
            <a:ext cx="3529583" cy="1205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毫米波雷达点云极稀疏（每帧 10–50 点，LiDAR 数万点）、噪声特殊（多径鬼影、微多普勒模糊）、无颜色纹理。需要雷达信号处理 + 点云深度学习 + 自监督表示学习。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6823" y="4869053"/>
            <a:ext cx="3529583" cy="24574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l"/>
            <a:r>
              <a:rPr sz="1600" b="1" i="1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算法壁垒 · 跨学科稀缺</a:t>
            </a:r>
            <a:endParaRPr sz="1600" b="1" i="1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74025" y="1769745"/>
            <a:ext cx="3749040" cy="291655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83879" y="192836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LAYER 03 · 时间壁垒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3879" y="2265680"/>
            <a:ext cx="352958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数据飞轮 + 个人基线</a:t>
            </a:r>
            <a:endParaRPr sz="1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83879" y="2839720"/>
            <a:ext cx="3529583" cy="1205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自监督学习零标注成本。14 天建立个人基线，用得越久切换成本越高：个人基线是用户的数据资产，换品牌意味着重新学习 14 天。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让用户在养老领域也做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时间的朋友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79" y="4869053"/>
            <a:ext cx="3529583" cy="24574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l"/>
            <a:r>
              <a:rPr sz="1600" b="1" i="1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时间壁垒 · 越用越准</a:t>
            </a:r>
            <a:endParaRPr sz="1600" b="1" i="1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040" y="5430520"/>
            <a:ext cx="11548872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用户越多 → 数据越丰富 → 模型越强 → 产品越好 → 用户更多。每户每天产生 1–2GB 点云流，全部可作为自监督训练信号。</a:t>
            </a:r>
            <a:r>
              <a:rPr lang="zh-CN"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市场竞品采用</a:t>
            </a: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管道架构</a:t>
            </a:r>
            <a:r>
              <a:rPr lang="en-US"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精度与</a:t>
            </a:r>
            <a:r>
              <a:rPr lang="zh-CN"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用户体验自始固定</a:t>
            </a: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502920" y="304800"/>
            <a:ext cx="6058535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训练结论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24840"/>
            <a:ext cx="694944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模型</a:t>
            </a:r>
            <a:r>
              <a:rPr 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跑通</a:t>
            </a:r>
            <a:r>
              <a:rPr lang="en-US" alt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小样本即能用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89660"/>
            <a:ext cx="6949440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仅需 7 人采集数据即可建立高精度人体状态模型，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无需预设规则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无需学习摔倒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样本</a:t>
            </a:r>
            <a:endParaRPr lang="zh-CN" altLang="en-US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1490" y="1441958"/>
            <a:ext cx="1298448" cy="804672"/>
          </a:xfrm>
          <a:prstGeom prst="rect">
            <a:avLst/>
          </a:prstGeom>
          <a:solidFill>
            <a:schemeClr val="bg1">
              <a:lumMod val="85000"/>
            </a:schemeClr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2930" y="1498219"/>
            <a:ext cx="1115568" cy="692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毫米波点云
稀疏 10-50 点/帧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81810" y="1441958"/>
            <a:ext cx="1298448" cy="804672"/>
          </a:xfrm>
          <a:prstGeom prst="rect">
            <a:avLst/>
          </a:prstGeom>
          <a:solidFill>
            <a:srgbClr val="002FA7"/>
          </a:solidFill>
          <a:ln w="15240">
            <a:solidFill>
              <a:srgbClr val="5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3250" y="1498219"/>
            <a:ext cx="1115568" cy="692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Encoder
PointNet++
+ TCN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80384" y="1441958"/>
            <a:ext cx="1298448" cy="804672"/>
          </a:xfrm>
          <a:prstGeom prst="rect">
            <a:avLst/>
          </a:prstGeom>
          <a:solidFill>
            <a:schemeClr val="bg1">
              <a:lumMod val="85000"/>
            </a:schemeClr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1824" y="1613472"/>
            <a:ext cx="1115568" cy="4616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隐状态 S_t
256-d 向量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78960" y="1441958"/>
            <a:ext cx="1298448" cy="804672"/>
          </a:xfrm>
          <a:prstGeom prst="rect">
            <a:avLst/>
          </a:prstGeom>
          <a:solidFill>
            <a:srgbClr val="002FA7"/>
          </a:solidFill>
          <a:ln w="15240">
            <a:solidFill>
              <a:srgbClr val="5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470400" y="1524571"/>
                <a:ext cx="1115568" cy="6394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Predictor
Causal TF
预测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𝑡</m:t>
                        </m:r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sz="1200" b="0" i="1" spc="80">
                        <a:solidFill>
                          <a:schemeClr val="bg1"/>
                        </a:solidFill>
                        <a:latin typeface="DejaVu Math TeX Gyre" panose="02000503000000000000" charset="0"/>
                        <a:ea typeface="苹方-简" panose="020B0400000000000000" charset="-122"/>
                        <a:cs typeface="DejaVu Math TeX Gyre" panose="02000503000000000000" charset="0"/>
                      </a:rPr>
                      <m:t> </m:t>
                    </m:r>
                  </m:oMath>
                </a14:m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00" y="1524571"/>
                <a:ext cx="1115568" cy="639445"/>
              </a:xfrm>
              <a:prstGeom prst="rect">
                <a:avLst/>
              </a:prstGeom>
              <a:blipFill rotWithShape="1">
                <a:blip r:embed="rId1"/>
                <a:stretch>
                  <a:fillRect t="-89" r="46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5677534" y="1441958"/>
            <a:ext cx="1298448" cy="804672"/>
          </a:xfrm>
          <a:prstGeom prst="rect">
            <a:avLst/>
          </a:prstGeom>
          <a:solidFill>
            <a:schemeClr val="bg1">
              <a:lumMod val="85000"/>
            </a:schemeClr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8974" y="1613472"/>
            <a:ext cx="1115568" cy="4616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预测偏差
Ŝ ≠ S → 异常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2555240"/>
            <a:ext cx="1609090" cy="26238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648" y="2692400"/>
            <a:ext cx="1389888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H1</a:t>
            </a:r>
            <a:endParaRPr sz="12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" y="2939288"/>
            <a:ext cx="13898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可编码</a:t>
            </a:r>
            <a:endParaRPr sz="10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" y="3109468"/>
            <a:ext cx="1389888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99.84</a:t>
            </a:r>
            <a:r>
              <a:rPr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%</a:t>
            </a:r>
            <a:endParaRPr sz="2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" y="3553968"/>
            <a:ext cx="1389888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线性分类
12 动作准确率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0284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119880"/>
            <a:ext cx="1389888" cy="692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稀疏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点云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包含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信息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远超预期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单雷达即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可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"看懂"人在干什么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21865" y="2555240"/>
            <a:ext cx="1609090" cy="26238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31720" y="2692400"/>
            <a:ext cx="1389888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H2</a:t>
            </a:r>
            <a:endParaRPr sz="12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31720" y="2939288"/>
            <a:ext cx="13898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连续性</a:t>
            </a:r>
            <a:endParaRPr sz="10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31720" y="3143885"/>
            <a:ext cx="1390015" cy="3644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95.82%</a:t>
            </a:r>
            <a:endParaRPr lang="en-US" sz="2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31720" y="3553968"/>
            <a:ext cx="1389888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隐空间连续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
余弦相似度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40284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31720" y="4119880"/>
            <a:ext cx="1389888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"站→坐"是连续渐变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模型不给动作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打标签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
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世界模型能捕捉“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慢慢变差”</a:t>
            </a:r>
            <a:endParaRPr lang="zh-CN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940810" y="2555240"/>
            <a:ext cx="1609090" cy="26238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050791" y="2692400"/>
            <a:ext cx="1389888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H3</a:t>
            </a:r>
            <a:endParaRPr sz="12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50791" y="2939288"/>
            <a:ext cx="13898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0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正常行为可</a:t>
            </a:r>
            <a:r>
              <a:rPr sz="10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预测</a:t>
            </a:r>
            <a:endParaRPr sz="10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050791" y="3139440"/>
            <a:ext cx="1389888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91.30</a:t>
            </a:r>
            <a:r>
              <a:rPr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%</a:t>
            </a:r>
            <a:endParaRPr sz="2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50791" y="3553968"/>
            <a:ext cx="1389888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预测精度
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下一帧预测准确率</a:t>
            </a:r>
            <a:endParaRPr lang="zh-CN" altLang="en-US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050791" y="40284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22725" y="4119880"/>
            <a:ext cx="1430655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正常生活可预测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系统能预测下一步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应有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状态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准确率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90%+，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比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baseline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提升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47%</a:t>
            </a:r>
            <a:endParaRPr lang="en-US" altLang="zh-CN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60390" y="2555240"/>
            <a:ext cx="1609090" cy="2623820"/>
          </a:xfrm>
          <a:prstGeom prst="rect">
            <a:avLst/>
          </a:prstGeom>
          <a:solidFill>
            <a:srgbClr val="002FA7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69864" y="2692400"/>
            <a:ext cx="1389888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H4</a:t>
            </a:r>
            <a:endParaRPr sz="1200" b="1" i="0" spc="10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69864" y="2939288"/>
            <a:ext cx="1389888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0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秒级</a:t>
            </a:r>
            <a:r>
              <a:rPr sz="10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异常检测</a:t>
            </a:r>
            <a:endParaRPr sz="10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69610" y="3139440"/>
            <a:ext cx="1390015" cy="3689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94.33%</a:t>
            </a:r>
            <a:endParaRPr lang="en-US" sz="24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69864" y="3553968"/>
            <a:ext cx="1389888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跌倒 vs 正常
AUC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769864" y="4028440"/>
            <a:ext cx="1389888" cy="0"/>
          </a:xfrm>
          <a:prstGeom prst="bentConnector3">
            <a:avLst/>
          </a:prstGeom>
          <a:ln w="6350">
            <a:solidFill>
              <a:srgbClr val="5575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69864" y="4119880"/>
            <a:ext cx="1389888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0.8</a:t>
            </a:r>
            <a:r>
              <a:rPr lang="zh-CN" alt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秒内发现异常</a:t>
            </a:r>
            <a:r>
              <a:rPr lang="en-US" alt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不需要定义危险</a:t>
            </a:r>
            <a:r>
              <a:rPr lang="en-US" alt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只需要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发现"这不像</a:t>
            </a:r>
            <a:r>
              <a:rPr 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正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常行为"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77281" y="2371090"/>
            <a:ext cx="160934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spc="80">
                <a:latin typeface="Arial" panose="020B0604020202090204"/>
                <a:ea typeface="苹方-简" panose="020B0400000000000000" charset="-122"/>
                <a:sym typeface="+mn-ea"/>
              </a:rPr>
              <a:t>★</a:t>
            </a:r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最终判决假设</a:t>
            </a:r>
            <a:endParaRPr sz="1200" b="1" i="0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91490" y="5285105"/>
            <a:ext cx="6766560" cy="1224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本次训练集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只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有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正常动作，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不包含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但跌倒发生时，Predictor 预测误差显著高于正常（t-test p &lt; 0.01，effect size &gt; 2×）。这证明了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"预测偏差 = 异常"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机制成立。规则引擎靠"写死跌倒长什么样"来检测，世界模型靠"发现不对劲"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后者能捕获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更多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规则没写过的危险模式。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18730" y="624840"/>
            <a:ext cx="38404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数据效率对比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618730" y="963295"/>
            <a:ext cx="38404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家安世界模型 vs 典型大模型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618730" y="4329430"/>
            <a:ext cx="426974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毫米波点云维度极低（10–50 点/帧 vs 视觉的数万像素），信息密度反而更高——每帧已经是物理空间的稀疏摘要。加上自监督对比学习，每个正常帧都是免费标签。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619365" y="5175885"/>
            <a:ext cx="4269105" cy="13563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世界模型</a:t>
            </a:r>
            <a:r>
              <a:rPr lang="zh-CN" sz="1400" b="1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技术</a:t>
            </a:r>
            <a:r>
              <a:rPr sz="1400" b="1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路线成立。</a:t>
            </a:r>
            <a:r>
              <a:rPr sz="14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"预测偏差 = 异常"机制在公开数据集上验证通过</a:t>
            </a:r>
            <a:r>
              <a:rPr lang="en-US" sz="14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：</a:t>
            </a:r>
            <a:r>
              <a:rPr sz="14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系统从正常行为中学出"什么是正常"，识别未见过的危险。Encoder + Predictor &lt; 30MB，CPU 推理 &lt; 100ms</a:t>
            </a:r>
            <a:r>
              <a:rPr lang="en-US" sz="14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。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2920" y="6509385"/>
            <a:ext cx="6677025" cy="221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ClrTx/>
              <a:buSzTx/>
              <a:buFontTx/>
            </a:pPr>
            <a:r>
              <a:rPr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数据集：mmWave-3DPCHM-1.0（TI IWR1443-ISK + Vayyar vBlu，实验室环境）</a:t>
            </a:r>
            <a:endParaRPr sz="105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89" name="表格 88"/>
          <p:cNvGraphicFramePr/>
          <p:nvPr>
            <p:custDataLst>
              <p:tags r:id="rId2"/>
            </p:custDataLst>
          </p:nvPr>
        </p:nvGraphicFramePr>
        <p:xfrm>
          <a:off x="7618730" y="1300480"/>
          <a:ext cx="4271645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05"/>
                <a:gridCol w="1791335"/>
                <a:gridCol w="1424305"/>
              </a:tblGrid>
              <a:tr h="328930">
                <a:tc>
                  <a:txBody>
                    <a:bodyPr/>
                    <a:p>
                      <a:pPr algn="ctr"/>
                      <a:r>
                        <a:rPr sz="1200" b="0" spc="8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维度</a:t>
                      </a:r>
                      <a:endParaRPr lang="zh-CN" altLang="en-US" sz="1200" b="0" spc="8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8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家安★</a:t>
                      </a:r>
                      <a:endParaRPr lang="zh-CN" altLang="en-US" sz="1200" spc="8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b="0" spc="8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典型大模型</a:t>
                      </a:r>
                      <a:endParaRPr lang="zh-CN" altLang="en-US" sz="1200" b="0" spc="8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训练样本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44 万帧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百万～亿级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被试数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7 人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千～万人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检测范围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i="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</a:rPr>
                        <a:t>所有偏离正常的</a:t>
                      </a:r>
                      <a:r>
                        <a:rPr lang="zh-CN" altLang="en-US" sz="1200" b="1" i="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</a:rPr>
                        <a:t>情况</a:t>
                      </a:r>
                      <a:endParaRPr lang="zh-CN" altLang="en-US" sz="1200" b="1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编码的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危险模式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冷启动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&lt; 14 天</a:t>
                      </a:r>
                      <a:endParaRPr lang="zh-CN" altLang="en-US" sz="1200" b="1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不可用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模型大小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&lt; 30MB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GB 级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推理硬件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CPU &lt; 100ms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GPU 集群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增量学习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自监督，每天</a:t>
                      </a:r>
                      <a:r>
                        <a:rPr lang="zh-CN"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校准</a:t>
                      </a:r>
                      <a:endParaRPr lang="zh-CN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需重新训练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个人基线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14 天建立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不支持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502920" y="304800"/>
            <a:ext cx="6058535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训练结论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24840"/>
            <a:ext cx="694944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模型</a:t>
            </a:r>
            <a:r>
              <a:rPr 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跑通</a:t>
            </a:r>
            <a:r>
              <a:rPr lang="en-US" alt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小样本即能用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89660"/>
            <a:ext cx="6949440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仅需 7 人采集数据即可建立高精度人体状态模型，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无需预设规则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无需学习摔倒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样本</a:t>
            </a:r>
            <a:endParaRPr lang="zh-CN" altLang="en-US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2920" y="6509385"/>
            <a:ext cx="6677025" cy="221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ClrTx/>
              <a:buSzTx/>
              <a:buFontTx/>
            </a:pPr>
            <a:r>
              <a:rPr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数据集：mmWave-3DPCHM-1.0（TI IWR1443-ISK + Vayyar vBlu，实验室环境）</a:t>
            </a:r>
            <a:endParaRPr sz="105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pic>
        <p:nvPicPr>
          <p:cNvPr id="2" name="图片 1" descr="fig1_hypothes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090" y="3869690"/>
            <a:ext cx="3931920" cy="2426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 descr="fig2_error_d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4310"/>
            <a:ext cx="5613400" cy="2426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 descr="fig3_window_au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025" y="3759200"/>
            <a:ext cx="4117340" cy="26073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 descr="fig4_predi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49655"/>
            <a:ext cx="4116705" cy="2607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 descr="fig5_efficienc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" y="4344035"/>
            <a:ext cx="4108450" cy="26073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6"/>
          <p:cNvSpPr txBox="1"/>
          <p:nvPr/>
        </p:nvSpPr>
        <p:spPr>
          <a:xfrm>
            <a:off x="502920" y="3917950"/>
            <a:ext cx="5222240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图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 </a:t>
            </a:r>
            <a:endParaRPr lang="en-US" altLang="zh-CN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Competition · 竞争格局</a:t>
            </a:r>
            <a:endParaRPr sz="800" b="0" i="0" spc="12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27063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产品差异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85597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C 端全屋买断是空白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009650"/>
            <a:ext cx="11548872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雷达跌倒检测已有厂商在做——点可、清雷、森思泰克、兆观。但都走 B 端项目制（养老院、医院）或卖模块给集成商。小米智能家居（非康养），华为全屋装修，萤石核心是摄像头（雷达仅配件）。299–799 元、子女买给父母、15 分钟自装的 C 端全屋雷达套装品类目前是空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白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49040" cy="296227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193852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现有玩家</a:t>
            </a:r>
            <a:endParaRPr sz="140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218690"/>
            <a:ext cx="352958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固件</a:t>
            </a:r>
            <a:r>
              <a:rPr lang="zh-CN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形式</a:t>
            </a:r>
            <a:r>
              <a:rPr lang="en-US" altLang="zh-CN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出厂即定型</a:t>
            </a:r>
            <a:endParaRPr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2514600"/>
            <a:ext cx="3529583" cy="152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萤石/点可/森思泰克用雷达厂商固件，嵌入式 DSP 精度停在出厂那天。
误报多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产品体验没到位。
固件方案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出货数量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不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影响产品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。定价 500–2000+ 元，多需专业人员安装。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97350" y="1828800"/>
            <a:ext cx="3749040" cy="296227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06823" y="193852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渠道错位</a:t>
            </a:r>
            <a:endParaRPr sz="140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6823" y="2218690"/>
            <a:ext cx="352958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B 端项目 / 绑装修</a:t>
            </a:r>
            <a:endParaRPr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06823" y="2514600"/>
            <a:ext cx="3529583" cy="183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机构项目制针对养老院和医院，高端全屋方案走装修公司渠道。
缺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少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消费级的、子女回家自己就能装的——15 分钟、无需工具、价格在 500 元以内。
价格带（299–799 vs 竞品 500–2000+）和安装门槛（自装 vs 上门）是核心差异点。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74025" y="1828800"/>
            <a:ext cx="3749040" cy="296227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193852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家安差异</a:t>
            </a:r>
            <a:endParaRPr sz="1400" b="0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83879" y="2218690"/>
            <a:ext cx="352958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ELPD 世界模型</a:t>
            </a:r>
            <a:r>
              <a:rPr lang="en-US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越用越准</a:t>
            </a:r>
            <a:endParaRPr b="1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83879" y="2514600"/>
            <a:ext cx="3529583" cy="183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云端深度模型持续进化，自监督学习让模型随数据积累变强</a:t>
            </a:r>
            <a:r>
              <a:rPr 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超越纯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固件</a:t>
            </a:r>
            <a:r>
              <a:rPr 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形态能力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。
14 天个人基线，用得越久越准。C 端买断零售 + 消费级安装体验。
三点同时补空白：自研感知 + 全屋组网 + 订阅服务。</a:t>
            </a:r>
            <a:endParaRPr sz="14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" y="511556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海外对标</a:t>
            </a:r>
            <a:endParaRPr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5472557"/>
            <a:ext cx="11548872" cy="786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Vayyar Care（以色列）：$250/台 + $20/月订阅，估值约 $1B。CarePredict（美国）：$169/台 + $30/月。SafelyYou（美国）：纯 B 端，养老机构。三家模式均为"硬件+月费+B 端"。Apple Watch 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等可穿戴设备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跌倒检测纯 C 端买断，但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老人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佩戴率低、夜间充电/洗澡取下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室内无感覆盖仍是雷达独占场景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国内暂无可比 C 端消费级雷达套装品牌。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6400800"/>
            <a:ext cx="11548872" cy="16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价格和形态是最强差异化武器。品牌壁垒形成后，新进入者需同时追上自研模型精度+数据飞轮规模+消费级渠道——三项同时从零开始。</a:t>
            </a:r>
            <a:endParaRPr sz="95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1508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团队</a:t>
            </a:r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搭建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663702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跨学科</a:t>
            </a:r>
            <a:r>
              <a:rPr 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团队构建竞争壁垒</a:t>
            </a:r>
            <a:endParaRPr lang="zh-CN"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085215"/>
            <a:ext cx="1154887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家安团队的</a:t>
            </a: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技术门槛</a:t>
            </a:r>
            <a:r>
              <a:rPr 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在于高度复合性</a:t>
            </a:r>
            <a:r>
              <a:rPr lang="en-US" alt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在跨领域</a:t>
            </a:r>
            <a:r>
              <a:rPr 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的</a:t>
            </a: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雷达信号处理、点云深度学习、老年医学认知</a:t>
            </a:r>
            <a:r>
              <a:rPr 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三个维度</a:t>
            </a:r>
            <a:r>
              <a:rPr lang="en-US" alt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这也是未来构建团队的大方向</a:t>
            </a:r>
            <a:r>
              <a:rPr lang="en-US" altLang="zh-CN"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altLang="zh-CN"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907540"/>
            <a:ext cx="3749040" cy="30067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429768" y="2061718"/>
            <a:ext cx="3566159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01 雷达信号处理</a:t>
            </a:r>
            <a:endParaRPr sz="2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548890"/>
            <a:ext cx="3529583" cy="150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从稀疏点云稳定提取多维特征，理解毫米波雷达物理模型、FMCW 信号链、噪声特性与多径鬼影剔除。关键能力：CFAR 检测、DoA 估计、微多普勒分析、点云聚类——将原始 ADC 数据转化为高质量点云流。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387850"/>
            <a:ext cx="3529583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4578858"/>
            <a:ext cx="3529583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核心技能：雷达信号链 · 嵌入式 · 点云预处理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97350" y="1907540"/>
            <a:ext cx="3749040" cy="30067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4306823" y="2061718"/>
            <a:ext cx="3566159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02 点云深度学习</a:t>
            </a:r>
            <a:endParaRPr sz="2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06823" y="2548890"/>
            <a:ext cx="3529583" cy="150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稀疏点云时序表示学习、端到端跌倒检测、微多普勒步态建模。云端 GPU 训练+推理。关键挑战：雷达点云极稀疏（10–50 点）、无纹理、噪声模型完全不同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需自研适合雷达点云的 Encoder 架构。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306823" y="438785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06823" y="4578858"/>
            <a:ext cx="3529583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核心技能：3D 深度学习 · 自监督学习 · 时序建模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74025" y="1907540"/>
            <a:ext cx="3749040" cy="30067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8183879" y="2061718"/>
            <a:ext cx="3566159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03 老年医学认知</a:t>
            </a:r>
            <a:endParaRPr sz="2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79" y="2548890"/>
            <a:ext cx="3529583" cy="150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把呼吸/心率/活动/如厕/睡眠等居家数据翻译成"建议就医/关注"的临床关联，同时守住不做诊断的合规边界。关键能力：理解老年常见慢病（心衰/COPD/糖尿病/认知障碍）的居家可观测指标及其临床意义。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183879" y="438785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83879" y="4578858"/>
            <a:ext cx="3529583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核心技能：老年医学 · 临床研究 · 医疗合规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0040" y="508127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" y="526669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MVP 团队配置 &amp; 扩张计划</a:t>
            </a:r>
            <a:endParaRPr sz="1400" b="1" i="0" spc="8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040" y="5585460"/>
            <a:ext cx="11548872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Y1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（5 人）：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全栈工程师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（创始人）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 CMO 1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人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 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嵌入式/边缘 1 人 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AI/ML 1 人 · iOS 1 人。6 个月人力约 90 万。
Y2（8 人）：+ 安卓 1 人 + AI/ML 1 人  + 运营/客户成功 1 人。年人力约 280 万。
Y3（12 人）：+ 硬件工程师 1 人（自研一体板）+ 后端 1 人  + 商务拓展 1 人 + 医疗顾问 1 人（兼职）。年人力约 420 万。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7635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商业模式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86105"/>
            <a:ext cx="11548745" cy="366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硬件获客 </a:t>
            </a:r>
            <a:r>
              <a:rPr 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+</a:t>
            </a: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订阅</a:t>
            </a: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盈利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049020"/>
            <a:ext cx="5437505" cy="30175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0460"/>
            <a:ext cx="5029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01 硬件层 · 买断获客</a:t>
            </a:r>
            <a:endParaRPr sz="1200" b="1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4147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一次买断</a:t>
            </a:r>
            <a:endParaRPr sz="2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1980"/>
            <a:ext cx="5029200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299 / 499 / 799 元三档，用户永久拥有。
加权 ASP 599 元 / BOM 425 元 / 硬件毛利 174 元（29%）。
硬件微利——目的是把设备装进家，利润从服务来。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57200" y="2840990"/>
            <a:ext cx="5029200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932430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尝鲜版 299 元 — 1 雷达（仅浴室，尝鲜入口）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206749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全屋套 S 499 元 — 2 雷达（2室1厅，主推入门）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481069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全屋套 L 799 元 — 4 雷达（3室2厅，完整覆盖）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755389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硬件是获客入口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89320" y="1049020"/>
            <a:ext cx="5559552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140460"/>
            <a:ext cx="528523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8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02 服务层 · 订阅盈利</a:t>
            </a:r>
            <a:endParaRPr sz="1200" b="1" i="0" spc="8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1414780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199 元/年</a:t>
            </a:r>
            <a:endParaRPr sz="22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1871980"/>
            <a:ext cx="5285232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基础服务（实时告警、周报）永久免费。
高级健康服务（月报 PDF、长期趋势、就医参考）按年订阅。
毛利约 90%，免费层走轻量云、付费层承担重云成本。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840990"/>
            <a:ext cx="5285232" cy="0"/>
          </a:xfrm>
          <a:prstGeom prst="bentConnector3">
            <a:avLst/>
          </a:prstGeom>
          <a:ln w="12700">
            <a:solidFill>
              <a:srgbClr val="88A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2932430"/>
            <a:ext cx="5285232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— 转化率取 </a:t>
            </a:r>
            <a:r>
              <a:rPr lang="en-US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20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% 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3206749"/>
            <a:ext cx="5285232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— 免费层走轻量云、付费层承担重云成本 — 订阅收入覆盖云成本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3481069"/>
            <a:ext cx="5285232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— 越用越准 → 不可替代</a:t>
            </a:r>
            <a:r>
              <a:rPr lang="zh-CN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性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→ 续费</a:t>
            </a:r>
            <a:r>
              <a:rPr lang="zh-CN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倾向</a:t>
            </a:r>
            <a:endParaRPr lang="zh-CN"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0040" y="423672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" y="4465320"/>
            <a:ext cx="4951730" cy="2457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单位经济</a:t>
            </a:r>
            <a:r>
              <a:rPr lang="en-US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（</a:t>
            </a:r>
            <a:r>
              <a:rPr lang="zh-CN" altLang="en-US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早期与第二曲线</a:t>
            </a:r>
            <a:r>
              <a:rPr lang="en-US" altLang="zh-CN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）</a:t>
            </a:r>
            <a:endParaRPr lang="en-US" altLang="zh-CN" sz="1600" b="1" i="0" spc="8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" y="4801870"/>
            <a:ext cx="5821045" cy="1573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早期：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LTV 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261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CAC 300 = 0.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87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，承压。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降本后（</a:t>
            </a:r>
            <a:r>
              <a:rPr 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Y2 </a:t>
            </a:r>
            <a:r>
              <a:rPr lang="zh-CN" alt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自研一体板</a:t>
            </a:r>
            <a:r>
              <a:rPr lang="en-US" altLang="zh-CN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BOM 1</a:t>
            </a:r>
            <a:r>
              <a:rPr 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00</a:t>
            </a: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）：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LTV 5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87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CAC 250 = 2.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35</a:t>
            </a:r>
            <a:endParaRPr 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r>
              <a:rPr lang="zh-CN" alt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国产</a:t>
            </a:r>
            <a:r>
              <a:rPr lang="en-US" altLang="zh-CN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SoC（Y3 BOM 60）：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LTV 627 / CAC 250 = 2.51</a:t>
            </a:r>
            <a:endParaRPr lang="en-US" altLang="zh-CN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endParaRPr sz="1400" b="1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第二曲线：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沉淀的居家健康数据向保险/养老机构/医疗 B 端变现。已积累的个人基线数据和标注数据是 B 端服务的核心资产。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400165" y="4343400"/>
            <a:ext cx="5125720" cy="2153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4165" y="4465320"/>
            <a:ext cx="4480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单位经济（单用户加权平均）</a:t>
            </a:r>
            <a:endParaRPr sz="1600" b="1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654165" y="484492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17205" y="48449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早期 BOM 425</a:t>
            </a:r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763125" y="48449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降本后 BOM </a:t>
            </a:r>
            <a:r>
              <a:rPr lang="en-US"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54165" y="515480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硬件 ASP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17205" y="51548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599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763125" y="51548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599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654165" y="533768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硬件毛利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17205" y="533768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174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63125" y="533768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539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54165" y="552056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订阅 ARPU（年）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117205" y="552056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4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0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763125" y="552056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40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54165" y="570344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3年 LTV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117205" y="570344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</a:t>
            </a:r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61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763125" y="570344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62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7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654165" y="588632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CAC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17205" y="58863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300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763125" y="58863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250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54165" y="606920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LTV / CAC</a:t>
            </a:r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117205" y="60692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0.</a:t>
            </a:r>
            <a:r>
              <a:rPr lang="en-US"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87</a:t>
            </a:r>
            <a:endParaRPr lang="en-US" sz="1200" b="1" spc="5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763125" y="60692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2.</a:t>
            </a:r>
            <a:r>
              <a:rPr lang="en-US"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51</a:t>
            </a:r>
            <a:endParaRPr lang="en-US" sz="1200" b="1" spc="5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7063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盈利模型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20700"/>
            <a:ext cx="11548745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三年财务预测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941705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033145"/>
            <a:ext cx="2743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年末装机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216025"/>
            <a:ext cx="27432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1.5 万户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1700657"/>
            <a:ext cx="265176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Y1 1,000 → Y2 5,000 → Y3 15,000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17290" y="1033145"/>
            <a:ext cx="184467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总收入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17290" y="1216025"/>
            <a:ext cx="18446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lang="en-US"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51.9</a:t>
            </a:r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万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7290" y="1700530"/>
            <a:ext cx="1783715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3 年累计约 953 万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3175" y="1033145"/>
            <a:ext cx="18034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毛利率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3810" y="1274445"/>
            <a:ext cx="301561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30% </a:t>
            </a:r>
            <a:r>
              <a:rPr lang="en-US" alt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81% </a:t>
            </a:r>
            <a:r>
              <a:rPr lang="en-US" alt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87%</a:t>
            </a:r>
            <a:endParaRPr lang="en-US" altLang="zh-CN"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3175" y="1700530"/>
            <a:ext cx="174371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硬件+订阅加权平均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50425" y="1033145"/>
            <a:ext cx="190881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降本后 LTV/CAC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50425" y="1216025"/>
            <a:ext cx="190881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2.</a:t>
            </a:r>
            <a:r>
              <a:rPr lang="en-US" sz="32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35 </a:t>
            </a:r>
            <a:r>
              <a:rPr sz="32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x</a:t>
            </a:r>
            <a:endParaRPr sz="32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50425" y="1700530"/>
            <a:ext cx="184531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国产 SoC 后转正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00025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" y="215900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8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三年收入</a:t>
            </a:r>
            <a:endParaRPr sz="1400" b="1" i="0" spc="8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040" y="2458720"/>
            <a:ext cx="1188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Y1 收入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828800" y="247700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ectangle 26"/>
          <p:cNvSpPr/>
          <p:nvPr/>
        </p:nvSpPr>
        <p:spPr>
          <a:xfrm>
            <a:off x="1828800" y="2477008"/>
            <a:ext cx="859993" cy="1828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10588752" y="2449576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lang="en-US"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.9 万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" y="2743200"/>
            <a:ext cx="1188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Y2 收入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828800" y="276148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Rectangle 30"/>
          <p:cNvSpPr/>
          <p:nvPr/>
        </p:nvSpPr>
        <p:spPr>
          <a:xfrm>
            <a:off x="1828800" y="2761488"/>
            <a:ext cx="3457346" cy="1828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10588752" y="2734056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25</a:t>
            </a:r>
            <a:r>
              <a:rPr lang="en-US"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8</a:t>
            </a:r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.3 万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0040" y="3027680"/>
            <a:ext cx="1188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Y3 收入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828800" y="304596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Rectangle 34"/>
          <p:cNvSpPr/>
          <p:nvPr/>
        </p:nvSpPr>
        <p:spPr>
          <a:xfrm>
            <a:off x="1828800" y="3045968"/>
            <a:ext cx="8686800" cy="1828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10588752" y="3018536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lang="en-US"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51.9</a:t>
            </a:r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万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" y="3461385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8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投入期</a:t>
            </a:r>
            <a:r>
              <a:rPr sz="1400" b="1" i="0" spc="8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利润简表（万元）</a:t>
            </a:r>
            <a:endParaRPr lang="en-US" sz="1400" b="1" i="0" spc="8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20040" y="6249670"/>
            <a:ext cx="1108075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Y2 BOM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从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425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降至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100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（自研一体板），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降至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60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（国产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SoC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），毛利率从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30%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跃升至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87%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距盈亏平衡仅差约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60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万</a:t>
            </a:r>
            <a:r>
              <a:rPr lang="zh-CN" altLang="en-US"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，确定性高，业绩拐点兑现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。降本路径基于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BP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中已论证的硬件演进路线（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TI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模组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自研一体板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国产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SoC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），非外推假设。</a:t>
            </a:r>
            <a:endParaRPr lang="zh-CN" altLang="en-US"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71" name="表格 70"/>
          <p:cNvGraphicFramePr/>
          <p:nvPr>
            <p:custDataLst>
              <p:tags r:id="rId1"/>
            </p:custDataLst>
          </p:nvPr>
        </p:nvGraphicFramePr>
        <p:xfrm>
          <a:off x="767080" y="3871595"/>
          <a:ext cx="10657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/>
                <a:gridCol w="2760556"/>
                <a:gridCol w="2760556"/>
                <a:gridCol w="2760556"/>
              </a:tblGrid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指标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（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单位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：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万元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）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Y1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Y2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Y3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硬件收入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59.9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239.6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599.0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订阅收入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.0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1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.7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52.9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总收入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63.9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258.3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651.9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总成本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44.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49.1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86.8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毛利（率）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1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9.5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 (30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.5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%)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209.2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 (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81.0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%)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565.1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 (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86.7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%)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cs typeface="PingFang SC Regular" panose="020B0400000000000000" charset="-122"/>
                          <a:sym typeface="+mn-ea"/>
                        </a:rPr>
                        <a:t>总费用（人力+CAC+行政）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cs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217.6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387.6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601.4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净利</a:t>
                      </a:r>
                      <a:endParaRPr lang="zh-CN" alt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-198</a:t>
                      </a:r>
                      <a:endParaRPr 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-178</a:t>
                      </a:r>
                      <a:endParaRPr 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-36</a:t>
                      </a:r>
                      <a:endParaRPr 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2047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ROADMAP</a:t>
            </a:r>
            <a:r>
              <a:rPr 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落地与里程碑</a:t>
            </a:r>
            <a:endParaRPr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22097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落地路径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3164840"/>
            <a:ext cx="11548872" cy="0"/>
          </a:xfrm>
          <a:prstGeom prst="bentConnector3">
            <a:avLst/>
          </a:prstGeom>
          <a:ln>
            <a:solidFill>
              <a:srgbClr val="002FA7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91056" y="3109976"/>
            <a:ext cx="109728" cy="109728"/>
          </a:xfrm>
          <a:prstGeom prst="ellipse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3271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spc="6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M0–6 · MVP</a:t>
            </a:r>
            <a:endParaRPr sz="1600" b="0" i="0" spc="6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验证核心壁垒</a:t>
            </a:r>
            <a:endParaRPr sz="16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291715"/>
            <a:ext cx="219456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2 雷达起步（浴室+卧室）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跌倒≥90%·误报&lt;2次/周/户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内测5–8户攒标注数据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22141" y="3108706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59" y="163271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737373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M6–12</a:t>
            </a:r>
            <a:endParaRPr sz="1600" b="1" i="0" spc="60">
              <a:solidFill>
                <a:srgbClr val="737373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59" y="192024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商用启动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88970" y="2287270"/>
            <a:ext cx="181102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全屋套 S/L 上线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1000 户·高级订阅上线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iOS 全功能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54496" y="3109976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63271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737373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M12–18</a:t>
            </a:r>
            <a:endParaRPr sz="1600" b="1" i="0" spc="60">
              <a:solidFill>
                <a:srgbClr val="737373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79" y="192024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规模化+降本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99100" y="2321560"/>
            <a:ext cx="163449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5000 户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自研一体板量产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步态预测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85580" y="3109341"/>
            <a:ext cx="109728" cy="109728"/>
          </a:xfrm>
          <a:prstGeom prst="ellipse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6970" y="163271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002FA7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18M+</a:t>
            </a:r>
            <a:endParaRPr sz="1600" b="1" i="0" spc="60">
              <a:solidFill>
                <a:srgbClr val="002FA7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43800" y="192024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单位经济转正</a:t>
            </a:r>
            <a:endParaRPr sz="16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30820" y="2312035"/>
            <a:ext cx="163449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BOM 425→110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LTV/CAC→2.19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B 端数据合作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917936" y="3109976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630" y="163271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spc="6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获客渠道</a:t>
            </a:r>
            <a:endParaRPr sz="1600" b="0" i="0" spc="6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6630" y="192024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低成本组合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53650" y="2308860"/>
            <a:ext cx="1634490" cy="636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异地子女社群口碑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适老化改造政府补贴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养老机构/社区分销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" y="3791585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MVP 阶段预算明细（M0–6，共约 </a:t>
            </a:r>
            <a:r>
              <a:rPr lang="en-US" sz="14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1</a:t>
            </a:r>
            <a:r>
              <a:rPr sz="14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00 万）</a:t>
            </a:r>
            <a:endParaRPr sz="1400" b="1" i="0" spc="8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" y="4045712"/>
            <a:ext cx="11548872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人力 90 万：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产品+架构（创始人）· 嵌入式/边缘 1 人 · 后端 Python/时序库 1 人 · AI/ML 1 人 · iOS 1 人。5 人团队，月均约 15 万，6 个月。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" y="4320032"/>
            <a:ext cx="11548872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设备/云 10 万：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IWR6843ISK 开发板 ×5、海凌科 LD6002 原型模组 ×10、云端 GPU 实例（训练+推理）、TimescaleDB 云实例。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40" y="4738497"/>
            <a:ext cx="11548872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M1：传感器到货，数据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管线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跑通（雷达→云）。M2：L1 实时判别上线，App v0.1。M3：L2 基线学习训练完成，App 周报页。M4：内测 5–8 户，收集标注数据。M5：迭代降误报，扩展到 15–20 户。M6：效果评估、NPS 问卷。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74340" y="621665"/>
            <a:ext cx="7730490" cy="287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MVP 6 个月预算约 100 万，对应本轮融资第一阶段。关键验证指标：跌倒检测准确率≥90%、误报&lt;2 次/周/户、NPS≥30。</a:t>
            </a:r>
            <a:endParaRPr sz="105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8005" y="1223645"/>
            <a:ext cx="6858635" cy="2333625"/>
          </a:xfrm>
          <a:prstGeom prst="roundRect">
            <a:avLst>
              <a:gd name="adj" fmla="val 8720"/>
            </a:avLst>
          </a:prstGeom>
          <a:noFill/>
          <a:ln w="38100">
            <a:solidFill>
              <a:srgbClr val="002FA7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FA7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974340" y="1029970"/>
            <a:ext cx="1778635" cy="48387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天使轮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4" name="Rectangle 26"/>
          <p:cNvSpPr/>
          <p:nvPr/>
        </p:nvSpPr>
        <p:spPr>
          <a:xfrm>
            <a:off x="1737360" y="5339080"/>
            <a:ext cx="2097405" cy="3149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9" name="TextBox 27"/>
          <p:cNvSpPr txBox="1"/>
          <p:nvPr/>
        </p:nvSpPr>
        <p:spPr>
          <a:xfrm>
            <a:off x="1932305" y="5408930"/>
            <a:ext cx="1694815" cy="28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⚙️ 地基系统</a:t>
            </a:r>
            <a:endParaRPr sz="1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0" name="TextBox 28"/>
          <p:cNvSpPr txBox="1"/>
          <p:nvPr/>
        </p:nvSpPr>
        <p:spPr>
          <a:xfrm>
            <a:off x="1932305" y="5654040"/>
            <a:ext cx="2180590" cy="1061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✓  Django + DRF 后端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事件契约包（Tier-1 感知事件）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TimescaleDB 时序存储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WebSocket 实时通道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设备绑定/列表/重命名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1" name="Rectangle 35"/>
          <p:cNvSpPr/>
          <p:nvPr/>
        </p:nvSpPr>
        <p:spPr>
          <a:xfrm>
            <a:off x="4838065" y="5354320"/>
            <a:ext cx="2098040" cy="3149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36"/>
          <p:cNvSpPr txBox="1"/>
          <p:nvPr/>
        </p:nvSpPr>
        <p:spPr>
          <a:xfrm>
            <a:off x="5002530" y="5408930"/>
            <a:ext cx="16941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🧠 AI 引擎</a:t>
            </a:r>
            <a:endParaRPr sz="1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TextBox 37"/>
          <p:cNvSpPr txBox="1"/>
          <p:nvPr/>
        </p:nvSpPr>
        <p:spPr>
          <a:xfrm>
            <a:off x="5027930" y="5654040"/>
            <a:ext cx="2606040" cy="1061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✓  世界模型共享类型定义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Redis Stream 消费端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Typed Frame 解析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FallbackEngine（3 条确定性规则）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ELPD Encoder/Decoder 架构就绪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4" name="Rectangle 42"/>
          <p:cNvSpPr/>
          <p:nvPr/>
        </p:nvSpPr>
        <p:spPr>
          <a:xfrm>
            <a:off x="8177530" y="5354320"/>
            <a:ext cx="2097405" cy="3149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TextBox 43"/>
          <p:cNvSpPr txBox="1"/>
          <p:nvPr/>
        </p:nvSpPr>
        <p:spPr>
          <a:xfrm>
            <a:off x="8342630" y="5408930"/>
            <a:ext cx="2052320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📱 前端 App</a:t>
            </a:r>
            <a:endParaRPr sz="1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44"/>
          <p:cNvSpPr txBox="1"/>
          <p:nvPr/>
        </p:nvSpPr>
        <p:spPr>
          <a:xfrm>
            <a:off x="8342630" y="5654040"/>
            <a:ext cx="2097405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✓  Expo 项目框架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登录/注册流程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实时 Today 首页</a:t>
            </a:r>
            <a:endParaRPr sz="1200">
              <a:solidFill>
                <a:srgbClr val="737373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✓  家庭/老人管理界面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TextBox 21"/>
          <p:cNvSpPr txBox="1"/>
          <p:nvPr/>
        </p:nvSpPr>
        <p:spPr>
          <a:xfrm>
            <a:off x="320040" y="5339080"/>
            <a:ext cx="3974465" cy="2279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altLang="en-US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已完成工作</a:t>
            </a:r>
            <a:endParaRPr lang="zh-CN" altLang="en-US"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61950"/>
            <a:ext cx="275399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天使轮融资计划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713105"/>
            <a:ext cx="2882900" cy="354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融资计划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1"/>
            </p:custDataLst>
          </p:nvPr>
        </p:nvGraphicFramePr>
        <p:xfrm>
          <a:off x="302260" y="1322070"/>
          <a:ext cx="3819525" cy="235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2041525"/>
              </a:tblGrid>
              <a:tr h="334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项目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详情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轮次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天使轮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融资额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300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万元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周期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个月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出让比例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0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P/S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5-8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倍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本轮投前估值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3000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万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/>
          <p:nvPr>
            <p:custDataLst>
              <p:tags r:id="rId2"/>
            </p:custDataLst>
          </p:nvPr>
        </p:nvGraphicFramePr>
        <p:xfrm>
          <a:off x="293370" y="3882390"/>
          <a:ext cx="3820160" cy="849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215"/>
                <a:gridCol w="938530"/>
                <a:gridCol w="898525"/>
                <a:gridCol w="897890"/>
              </a:tblGrid>
              <a:tr h="283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Y3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指标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保守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spc="60">
                          <a:solidFill>
                            <a:srgbClr val="002FA7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中性</a:t>
                      </a:r>
                      <a:endParaRPr lang="zh-CN" sz="1200" spc="60">
                        <a:solidFill>
                          <a:srgbClr val="002FA7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乐观</a:t>
                      </a:r>
                      <a:endParaRPr lang="zh-CN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83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P/S</a:t>
                      </a:r>
                      <a:endParaRPr lang="en-US" altLang="zh-CN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6×</a:t>
                      </a:r>
                      <a:endParaRPr lang="en-US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spc="60">
                          <a:solidFill>
                            <a:srgbClr val="002FA7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8×</a:t>
                      </a:r>
                      <a:endParaRPr lang="en-US" altLang="en-US" sz="1200" spc="60">
                        <a:solidFill>
                          <a:srgbClr val="002FA7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10×</a:t>
                      </a:r>
                      <a:endParaRPr lang="en-US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83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投后估值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3,822</a:t>
                      </a:r>
                      <a:endParaRPr lang="en-US" altLang="zh-CN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spc="60">
                          <a:solidFill>
                            <a:srgbClr val="002FA7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5,096</a:t>
                      </a:r>
                      <a:endParaRPr lang="en-US" altLang="zh-CN" sz="1200" spc="60">
                        <a:solidFill>
                          <a:srgbClr val="002FA7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6,371</a:t>
                      </a:r>
                      <a:endParaRPr lang="en-US" altLang="zh-CN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</a:tbl>
          </a:graphicData>
        </a:graphic>
      </p:graphicFrame>
      <p:sp>
        <p:nvSpPr>
          <p:cNvPr id="39" name="Rectangle 6"/>
          <p:cNvSpPr/>
          <p:nvPr/>
        </p:nvSpPr>
        <p:spPr>
          <a:xfrm>
            <a:off x="4840605" y="958215"/>
            <a:ext cx="2992120" cy="17221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0" name="TextBox 7"/>
          <p:cNvSpPr txBox="1"/>
          <p:nvPr/>
        </p:nvSpPr>
        <p:spPr>
          <a:xfrm>
            <a:off x="4950460" y="1095375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融资额</a:t>
            </a:r>
            <a:endParaRPr sz="1200" b="1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4950460" y="1369695"/>
            <a:ext cx="260604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2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00 万</a:t>
            </a:r>
            <a:endParaRPr sz="2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2" name="TextBox 9"/>
          <p:cNvSpPr txBox="1"/>
          <p:nvPr/>
        </p:nvSpPr>
        <p:spPr>
          <a:xfrm>
            <a:off x="4950460" y="1754505"/>
            <a:ext cx="2606040" cy="5251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出让约 1</a:t>
            </a:r>
            <a:r>
              <a:rPr lang="en-US"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r>
              <a:rPr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–</a:t>
            </a:r>
            <a:r>
              <a:rPr lang="en-US"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15</a:t>
            </a:r>
            <a:r>
              <a:rPr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%
投前估值约 </a:t>
            </a:r>
            <a:r>
              <a:rPr lang="en-US"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20</a:t>
            </a:r>
            <a:r>
              <a:rPr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00–</a:t>
            </a:r>
            <a:r>
              <a:rPr lang="en-US"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30</a:t>
            </a:r>
            <a:r>
              <a:rPr sz="12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00 万</a:t>
            </a:r>
            <a:endParaRPr sz="12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Rectangle 10"/>
          <p:cNvSpPr/>
          <p:nvPr/>
        </p:nvSpPr>
        <p:spPr>
          <a:xfrm>
            <a:off x="8274685" y="958215"/>
            <a:ext cx="2992120" cy="17221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4" name="TextBox 11"/>
          <p:cNvSpPr txBox="1"/>
          <p:nvPr/>
        </p:nvSpPr>
        <p:spPr>
          <a:xfrm>
            <a:off x="8384540" y="1095375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2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周期</a:t>
            </a:r>
            <a:endParaRPr lang="zh-CN" sz="12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5" name="TextBox 12"/>
          <p:cNvSpPr txBox="1"/>
          <p:nvPr/>
        </p:nvSpPr>
        <p:spPr>
          <a:xfrm>
            <a:off x="8384540" y="1369695"/>
            <a:ext cx="260604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12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个月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13"/>
          <p:cNvSpPr txBox="1"/>
          <p:nvPr/>
        </p:nvSpPr>
        <p:spPr>
          <a:xfrm>
            <a:off x="8384540" y="1754505"/>
            <a:ext cx="260604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形成硬件原型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软件产品</a:t>
            </a:r>
            <a:endParaRPr lang="zh-CN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算法迭代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数据标定</a:t>
            </a:r>
            <a:r>
              <a:rPr lang="en-US" alt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深度学习</a:t>
            </a:r>
            <a:endParaRPr lang="zh-CN" altLang="en-US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启动产品商用</a:t>
            </a:r>
            <a:endParaRPr lang="zh-CN" altLang="en-US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Rectangle 14"/>
          <p:cNvSpPr/>
          <p:nvPr/>
        </p:nvSpPr>
        <p:spPr>
          <a:xfrm>
            <a:off x="4840605" y="3034665"/>
            <a:ext cx="2992120" cy="159702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8" name="TextBox 15"/>
          <p:cNvSpPr txBox="1"/>
          <p:nvPr/>
        </p:nvSpPr>
        <p:spPr>
          <a:xfrm>
            <a:off x="4949825" y="3171825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资金用途</a:t>
            </a:r>
            <a:endParaRPr sz="12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9" name="TextBox 16"/>
          <p:cNvSpPr txBox="1"/>
          <p:nvPr/>
        </p:nvSpPr>
        <p:spPr>
          <a:xfrm>
            <a:off x="4961255" y="3377565"/>
            <a:ext cx="2584450" cy="1050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研发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/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团队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：180</a:t>
            </a:r>
            <a:r>
              <a:rPr lang="zh-CN" altLang="en-US" sz="12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200">
                <a:latin typeface="Arial" panose="020B0604020202090204"/>
                <a:ea typeface="苹方-简" panose="020B0400000000000000" charset="-122"/>
                <a:sym typeface="+mn-ea"/>
              </a:rPr>
              <a:t>，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50%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sz="1200">
                <a:latin typeface="Arial" panose="020B0604020202090204"/>
                <a:ea typeface="苹方-简" panose="020B0400000000000000" charset="-122"/>
                <a:sym typeface="+mn-ea"/>
              </a:rPr>
              <a:t>设备</a:t>
            </a:r>
            <a:r>
              <a:rPr lang="en-US" altLang="zh-CN" sz="12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/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lang="zh-CN" sz="1200">
                <a:latin typeface="Arial" panose="020B0604020202090204"/>
                <a:ea typeface="苹方-简" panose="020B0400000000000000" charset="-122"/>
                <a:sym typeface="+mn-ea"/>
              </a:rPr>
              <a:t>云服务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：45</a:t>
            </a:r>
            <a:r>
              <a:rPr lang="zh-CN" altLang="en-US" sz="12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200">
                <a:latin typeface="Arial" panose="020B0604020202090204"/>
                <a:ea typeface="苹方-简" panose="020B0400000000000000" charset="-122"/>
                <a:sym typeface="+mn-ea"/>
              </a:rPr>
              <a:t>，15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%
获客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 / </a:t>
            </a:r>
            <a:r>
              <a:rPr lang="zh-CN" altLang="en-US" sz="1200">
                <a:latin typeface="Arial" panose="020B0604020202090204"/>
                <a:ea typeface="苹方-简" panose="020B0400000000000000" charset="-122"/>
                <a:sym typeface="+mn-ea"/>
              </a:rPr>
              <a:t>运营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：45</a:t>
            </a:r>
            <a:r>
              <a:rPr lang="zh-CN" altLang="en-US" sz="12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200">
                <a:latin typeface="Arial" panose="020B0604020202090204"/>
                <a:ea typeface="苹方-简" panose="020B0400000000000000" charset="-122"/>
                <a:sym typeface="+mn-ea"/>
              </a:rPr>
              <a:t>，15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%
</a:t>
            </a:r>
            <a:r>
              <a:rPr lang="zh-CN" sz="1200">
                <a:latin typeface="Arial" panose="020B0604020202090204"/>
                <a:ea typeface="苹方-简" panose="020B0400000000000000" charset="-122"/>
                <a:sym typeface="+mn-ea"/>
              </a:rPr>
              <a:t>行政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 / 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其他</a:t>
            </a:r>
            <a:r>
              <a:rPr lang="en-US" sz="1200">
                <a:latin typeface="Arial" panose="020B0604020202090204"/>
                <a:ea typeface="苹方-简" panose="020B0400000000000000" charset="-122"/>
                <a:sym typeface="+mn-ea"/>
              </a:rPr>
              <a:t>：30</a:t>
            </a:r>
            <a:r>
              <a:rPr lang="zh-CN" altLang="en-US" sz="12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200">
                <a:latin typeface="Arial" panose="020B0604020202090204"/>
                <a:ea typeface="苹方-简" panose="020B0400000000000000" charset="-122"/>
                <a:sym typeface="+mn-ea"/>
              </a:rPr>
              <a:t>，</a:t>
            </a:r>
            <a:r>
              <a:rPr sz="1200">
                <a:latin typeface="Arial" panose="020B0604020202090204"/>
                <a:ea typeface="苹方-简" panose="020B0400000000000000" charset="-122"/>
                <a:sym typeface="+mn-ea"/>
              </a:rPr>
              <a:t>10%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50" name="Rectangle 17"/>
          <p:cNvSpPr/>
          <p:nvPr/>
        </p:nvSpPr>
        <p:spPr>
          <a:xfrm>
            <a:off x="8274685" y="3028950"/>
            <a:ext cx="2992120" cy="159702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51" name="TextBox 18"/>
          <p:cNvSpPr txBox="1"/>
          <p:nvPr/>
        </p:nvSpPr>
        <p:spPr>
          <a:xfrm>
            <a:off x="8384540" y="3166110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关键里程碑</a:t>
            </a:r>
            <a:endParaRPr sz="12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8372475" y="3371850"/>
            <a:ext cx="2606040" cy="1050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5,000 户装机
国产 SoC 降本样机
误报 &lt;2 次/周/户
启动 A 轮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1357630" y="5236845"/>
          <a:ext cx="9789795" cy="128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835"/>
                <a:gridCol w="2214245"/>
                <a:gridCol w="1995170"/>
                <a:gridCol w="2709545"/>
              </a:tblGrid>
              <a:tr h="384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Q1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Q2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Q3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Q4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7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90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万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研发冲刺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模型训练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硬件采购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75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万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商用上线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种子获客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65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万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商业化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运营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迭代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50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万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推进商业化</a:t>
                      </a:r>
                      <a:endParaRPr lang="en-US" altLang="zh-CN" sz="1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4572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Vision · 愿景</a:t>
            </a:r>
            <a:endParaRPr sz="1400" b="0" i="0" spc="12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303520" cy="1196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做居家养老的</a:t>
            </a:r>
            <a:endParaRPr sz="3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8000"/>
              </a:lnSpc>
            </a:pPr>
            <a:r>
              <a:rPr sz="3600" b="0" i="1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健康基础设施</a:t>
            </a:r>
            <a:endParaRPr sz="3600" b="0" i="1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971800"/>
            <a:ext cx="5303520" cy="111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DDE4F5"/>
                </a:solidFill>
                <a:latin typeface="Arial" panose="020B0604020202090204"/>
                <a:ea typeface="苹方-简" panose="020B0400000000000000" charset="-122"/>
              </a:rPr>
              <a:t>中国进入深度老龄化，未来二十年数以亿计的老人在家养老。他们的健康对子女、对医疗养老体系长期是盲区。家安用持续、连续的居家健康数据把盲区补上</a:t>
            </a:r>
            <a:r>
              <a:rPr lang="en-US" sz="1400" b="0" i="0">
                <a:solidFill>
                  <a:srgbClr val="DDE4F5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DDE4F5"/>
                </a:solidFill>
                <a:latin typeface="Arial" panose="020B0604020202090204"/>
                <a:ea typeface="苹方-简" panose="020B0400000000000000" charset="-122"/>
              </a:rPr>
              <a:t>让每个在家变老的人被持续看见、被及时守护。</a:t>
            </a:r>
            <a:endParaRPr sz="1400" b="0" i="0">
              <a:solidFill>
                <a:srgbClr val="DDE4F5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53035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 housafe · 天使轮 </a:t>
            </a:r>
            <a:r>
              <a:rPr lang="en-US" sz="14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14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00 万</a:t>
            </a:r>
            <a:endParaRPr sz="1400" b="1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TAKEAWAYS</a:t>
            </a:r>
            <a:endParaRPr sz="850" b="0" i="0" spc="12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890270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01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1177290"/>
            <a:ext cx="5029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切入点足够痛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1623060"/>
            <a:ext cx="5029200" cy="786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2.2 亿老人、跌倒首位死因、现有方案失效。独居老人背后的异地子女是一个被忽视的付费群体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有支付意愿，缺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少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真正能用的产品。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2647188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02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934208"/>
            <a:ext cx="5029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壁垒足够深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3345688"/>
            <a:ext cx="5029200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ELPD 世界模型 + 自研 Encoder + 数据飞轮。架构代际差异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跨学科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壁垒、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时间复利效应三重叠加，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实现竞争优势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4429506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03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4716526"/>
            <a:ext cx="5029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路径足够清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5162296"/>
            <a:ext cx="5029200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买断获客（硬件微利建规模）→ 降本转正（国产 SoC 抬毛利）→ 数据变现（B 端健康数据服务）。三步自洽，拐点明确。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36*233"/>
  <p:tag name="TABLE_ENDDRAG_RECT" val="599*102*336*233"/>
</p:tagLst>
</file>

<file path=ppt/tags/tag2.xml><?xml version="1.0" encoding="utf-8"?>
<p:tagLst xmlns:p="http://schemas.openxmlformats.org/presentationml/2006/main">
  <p:tag name="TABLE_ENDDRAG_ORIGIN_RECT" val="839*171"/>
  <p:tag name="TABLE_ENDDRAG_RECT" val="60*313*839*171"/>
</p:tagLst>
</file>

<file path=ppt/tags/tag3.xml><?xml version="1.0" encoding="utf-8"?>
<p:tagLst xmlns:p="http://schemas.openxmlformats.org/presentationml/2006/main">
  <p:tag name="TABLE_ENDDRAG_ORIGIN_RECT" val="300*185"/>
  <p:tag name="TABLE_ENDDRAG_RECT" val="23*104*300*185"/>
</p:tagLst>
</file>

<file path=ppt/tags/tag4.xml><?xml version="1.0" encoding="utf-8"?>
<p:tagLst xmlns:p="http://schemas.openxmlformats.org/presentationml/2006/main">
  <p:tag name="TABLE_ENDDRAG_ORIGIN_RECT" val="300*66"/>
  <p:tag name="TABLE_ENDDRAG_RECT" val="23*305*300*66"/>
</p:tagLst>
</file>

<file path=ppt/tags/tag5.xml><?xml version="1.0" encoding="utf-8"?>
<p:tagLst xmlns:p="http://schemas.openxmlformats.org/presentationml/2006/main">
  <p:tag name="TABLE_ENDDRAG_ORIGIN_RECT" val="770*101"/>
  <p:tag name="TABLE_ENDDRAG_RECT" val="114*382*770*10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10555</Words>
  <Application>WPS 表格</Application>
  <PresentationFormat>On-screen Show (4:3)</PresentationFormat>
  <Paragraphs>938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Helvetica Neue</vt:lpstr>
      <vt:lpstr>Arial</vt:lpstr>
      <vt:lpstr>苹方-简</vt:lpstr>
      <vt:lpstr>DejaVu Math TeX Gyre</vt:lpstr>
      <vt:lpstr>PingFang SC Semibold</vt:lpstr>
      <vt:lpstr>PingFang SC Regular</vt:lpstr>
      <vt:lpstr>微软雅黑</vt:lpstr>
      <vt:lpstr>宋体</vt:lpstr>
      <vt:lpstr>Arial Unicode MS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高宇驰</cp:lastModifiedBy>
  <cp:revision>69</cp:revision>
  <dcterms:created xsi:type="dcterms:W3CDTF">2026-07-22T15:58:11Z</dcterms:created>
  <dcterms:modified xsi:type="dcterms:W3CDTF">2026-07-22T15:58:11Z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B4E548D9509540AEF1505E6A97081FAB_43</vt:lpwstr>
  </property>
</Properties>
</file>