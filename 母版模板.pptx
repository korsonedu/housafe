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家安 housafe · 商业计划书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2026 · 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FFFFFF"/>
                </a:solidFill>
                <a:latin typeface="Arial"/>
                <a:ea typeface="微软雅黑"/>
              </a:rPr>
              <a:t>HOUSAFE · 居家养老 AI 健康守护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4000" b="0" i="0">
                <a:solidFill>
                  <a:srgbClr val="FFFFFF"/>
                </a:solidFill>
                <a:latin typeface="Arial"/>
                <a:ea typeface="微软雅黑"/>
              </a:rPr>
              <a:t>让每个在家变老的人，</a:t>
            </a:r>
          </a:p>
          <a:p>
            <a:pPr>
              <a:lnSpc>
                <a:spcPct val="108000"/>
              </a:lnSpc>
            </a:pPr>
            <a:r>
              <a:rPr sz="4000" b="0" i="1">
                <a:solidFill>
                  <a:srgbClr val="FFFFFF"/>
                </a:solidFill>
                <a:latin typeface="Arial"/>
                <a:ea typeface="微软雅黑"/>
              </a:rPr>
              <a:t>被持续看见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4800600"/>
            <a:ext cx="11183112" cy="0"/>
          </a:xfrm>
          <a:prstGeom prst="bentConnector3">
            <a:avLst/>
          </a:prstGeom>
          <a:ln w="12700">
            <a:solidFill>
              <a:srgbClr val="6E8AC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4983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FFFFF"/>
                </a:solidFill>
                <a:latin typeface="Arial"/>
                <a:ea typeface="微软雅黑"/>
              </a:rPr>
              <a:t>面向异地子女的非接触式 AI 居家健康监测系统。毫米波雷达组网，无感采集老人在家的活动与生命体征，AI 识别异常、分级通知子女——从跌倒监测切入，做居家养老的健康基础设施。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20">
                <a:solidFill>
                  <a:srgbClr val="D5DDF2"/>
                </a:solidFill>
                <a:latin typeface="Arial"/>
                <a:ea typeface="微软雅黑"/>
              </a:rPr>
              <a:t>天使轮 · 拟融资 800 万 / 18 个月跑道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09360"/>
            <a:ext cx="4370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20">
                <a:solidFill>
                  <a:srgbClr val="D5DDF2"/>
                </a:solidFill>
                <a:latin typeface="Arial"/>
                <a:ea typeface="微软雅黑"/>
              </a:rPr>
              <a:t>housafe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浅色内容版式 · LIGHT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LAYOUT /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002FA7"/>
                </a:solidFill>
                <a:latin typeface="Arial"/>
                <a:ea typeface="微软雅黑"/>
              </a:rPr>
              <a:t>KICKER · 章节英文标签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0" i="0">
                <a:solidFill>
                  <a:srgbClr val="0A0A0A"/>
                </a:solidFill>
                <a:latin typeface="Arial"/>
                <a:ea typeface="微软雅黑"/>
              </a:rPr>
              <a:t>主标题占位 · 无衬线细体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356616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01 卡片标签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卡片标题占位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24612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Arial"/>
                <a:ea typeface="微软雅黑"/>
              </a:rPr>
              <a:t>正文占位。瑞士风：直角纯色块 + 无衬线 + 单一 IKB 强调色 + 发丝线。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194560"/>
            <a:ext cx="356616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02 卡片标签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卡片标题占位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24612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Arial"/>
                <a:ea typeface="微软雅黑"/>
              </a:rPr>
              <a:t>正文占位。瑞士风：直角纯色块 + 无衬线 + 单一 IKB 强调色 + 发丝线。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2194560"/>
            <a:ext cx="3566160" cy="21945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10">
                <a:solidFill>
                  <a:srgbClr val="737373"/>
                </a:solidFill>
                <a:latin typeface="Arial"/>
                <a:ea typeface="微软雅黑"/>
              </a:rPr>
              <a:t>03 卡片标签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卡片标题占位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324612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44444"/>
                </a:solidFill>
                <a:latin typeface="Arial"/>
                <a:ea typeface="微软雅黑"/>
              </a:rPr>
              <a:t>正文占位。瑞士风：直角纯色块 + 无衬线 + 单一 IKB 强调色 + 发丝线。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37373"/>
                </a:solidFill>
                <a:latin typeface="Arial"/>
                <a:ea typeface="微软雅黑"/>
              </a:rPr>
              <a:t>来源脚注版式 · 数据来源统一放这里，9pt 灰字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深色内容版式 · DARK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LAYOUT /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5B7BFF"/>
                </a:solidFill>
                <a:latin typeface="Arial"/>
                <a:ea typeface="微软雅黑"/>
              </a:rPr>
              <a:t>KICKER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深色页用于痛点/技术/护城河/竞争/融资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5394960" cy="201168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786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  <a:ea typeface="微软雅黑"/>
              </a:rPr>
              <a:t>浅色卡片（灰底黑字）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377440"/>
            <a:ext cx="5394960" cy="20116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5786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  <a:ea typeface="微软雅黑"/>
              </a:rPr>
              <a:t>IKB 强调卡（蓝底白字）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11183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Arial"/>
                <a:ea typeface="微软雅黑"/>
              </a:rPr>
              <a:t>深色页脚注版式 · 白色 62% 透明近似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FFFFFF"/>
                </a:solidFill>
                <a:latin typeface="Arial"/>
                <a:ea typeface="微软雅黑"/>
              </a:rPr>
              <a:t>Vision · 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50">
                <a:solidFill>
                  <a:srgbClr val="FFFFFF"/>
                </a:solidFill>
                <a:latin typeface="Arial"/>
                <a:ea typeface="微软雅黑"/>
              </a:rPr>
              <a:t>TEN-YEAR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700" b="0" i="0">
                <a:solidFill>
                  <a:srgbClr val="FFFFFF"/>
                </a:solidFill>
                <a:latin typeface="Arial"/>
                <a:ea typeface="微软雅黑"/>
              </a:rPr>
              <a:t>从跌倒监测切入，</a:t>
            </a:r>
          </a:p>
          <a:p>
            <a:pPr>
              <a:lnSpc>
                <a:spcPct val="110000"/>
              </a:lnSpc>
            </a:pPr>
            <a:r>
              <a:rPr sz="2700" b="0" i="0">
                <a:solidFill>
                  <a:srgbClr val="FFFFFF"/>
                </a:solidFill>
                <a:latin typeface="Arial"/>
                <a:ea typeface="微软雅黑"/>
              </a:rPr>
              <a:t>做居家养老的</a:t>
            </a:r>
          </a:p>
          <a:p>
            <a:pPr>
              <a:lnSpc>
                <a:spcPct val="110000"/>
              </a:lnSpc>
            </a:pPr>
            <a:r>
              <a:rPr sz="2700" b="0" i="1">
                <a:solidFill>
                  <a:srgbClr val="FFFFFF"/>
                </a:solidFill>
                <a:latin typeface="Arial"/>
                <a:ea typeface="微软雅黑"/>
              </a:rPr>
              <a:t>健康基础设施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DDE4F5"/>
                </a:solidFill>
                <a:latin typeface="Arial"/>
                <a:ea typeface="微软雅黑"/>
              </a:rPr>
              <a:t>中国正进入深度老龄化，未来二十年数以亿计的老人在家养老，他们的健康对子女、对医疗养老体系长期是盲区。家安用持续、连续的居家健康数据把盲区补上。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  <a:ea typeface="微软雅黑"/>
              </a:rPr>
              <a:t>让每个在家变老的人，被持续看见、被及时守护。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2918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切入点足够痛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762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2.2 亿老人、跌倒首位死因、现有方案全失效。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27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壁垒足够深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5478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自研点云 + 数据飞轮，越用越准、短期难复制。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06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002FA7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498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A0A0A"/>
                </a:solidFill>
                <a:latin typeface="Arial"/>
                <a:ea typeface="微软雅黑"/>
              </a:rPr>
              <a:t>路径足够清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9194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444444"/>
                </a:solidFill>
                <a:latin typeface="Arial"/>
                <a:ea typeface="微软雅黑"/>
              </a:rPr>
              <a:t>买断获客 → 降本转正 → 数据变现，自洽可信。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6309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00">
                <a:solidFill>
                  <a:srgbClr val="737373"/>
                </a:solidFill>
                <a:latin typeface="Arial"/>
                <a:ea typeface="微软雅黑"/>
              </a:rPr>
              <a:t>家安 housafe · 天使轮 800 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样式规范 · 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0895" y="329184"/>
            <a:ext cx="5897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737373"/>
                </a:solidFill>
                <a:latin typeface="Arial"/>
                <a:ea typeface="微软雅黑"/>
              </a:rPr>
              <a:t>MASTER /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55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0" i="0">
                <a:solidFill>
                  <a:srgbClr val="0A0A0A"/>
                </a:solidFill>
                <a:latin typeface="Arial"/>
                <a:ea typeface="微软雅黑"/>
              </a:rPr>
              <a:t>视觉规范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645920" cy="914400"/>
          </a:xfrm>
          <a:prstGeom prst="rect">
            <a:avLst/>
          </a:prstGeom>
          <a:solidFill>
            <a:srgbClr val="002FA7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IKB 克莱因蓝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#002FA7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6584" y="1828800"/>
            <a:ext cx="1645920" cy="914400"/>
          </a:xfrm>
          <a:prstGeom prst="rect">
            <a:avLst/>
          </a:prstGeom>
          <a:solidFill>
            <a:srgbClr val="0A0A0A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墨黑 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#0A0A0A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828800"/>
            <a:ext cx="1645920" cy="914400"/>
          </a:xfrm>
          <a:prstGeom prst="rect">
            <a:avLst/>
          </a:prstGeom>
          <a:solidFill>
            <a:srgbClr val="FAFAF8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纸白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#FAFAF8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828800"/>
            <a:ext cx="1645920" cy="914400"/>
          </a:xfrm>
          <a:prstGeom prst="rect">
            <a:avLst/>
          </a:prstGeom>
          <a:solidFill>
            <a:srgbClr val="F5F5F4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浅灰卡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#F5F5F4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1828800"/>
            <a:ext cx="1645920" cy="914400"/>
          </a:xfrm>
          <a:prstGeom prst="rect">
            <a:avLst/>
          </a:prstGeom>
          <a:solidFill>
            <a:srgbClr val="D4D4D2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6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中灰线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#D4D4D2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828800"/>
            <a:ext cx="1645920" cy="914400"/>
          </a:xfrm>
          <a:prstGeom prst="rect">
            <a:avLst/>
          </a:prstGeom>
          <a:solidFill>
            <a:srgbClr val="737373"/>
          </a:solidFill>
          <a:ln w="6350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834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A0A0A"/>
                </a:solidFill>
                <a:latin typeface="Arial"/>
                <a:ea typeface="微软雅黑"/>
              </a:rPr>
              <a:t>辅助灰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30632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37373"/>
                </a:solidFill>
                <a:latin typeface="Arial"/>
                <a:ea typeface="微软雅黑"/>
              </a:rPr>
              <a:t>#737373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A0A0A"/>
                </a:solidFill>
                <a:latin typeface="Arial"/>
                <a:ea typeface="微软雅黑"/>
              </a:rPr>
              <a:t>字体：中文 微软雅黑 / 西文·数字 Arial（无衬线）。标题大字号不加粗，模拟瑞士风细体。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44444"/>
                </a:solidFill>
                <a:latin typeface="Arial"/>
                <a:ea typeface="微软雅黑"/>
              </a:rPr>
              <a:t>字号阶梯：封面 40pt · 章节标题 24–27pt · KPI 数字 22–30pt · 正文 10–11pt · 脚注/标签 9pt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44444"/>
                </a:solidFill>
                <a:latin typeface="Arial"/>
                <a:ea typeface="微软雅黑"/>
              </a:rPr>
              <a:t>版式：直角纯色块、发丝线分隔、单一 IKB 强调色、大幅留白、深/浅/蓝三种页底交替。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37373"/>
                </a:solidFill>
                <a:latin typeface="Arial"/>
                <a:ea typeface="微软雅黑"/>
              </a:rPr>
              <a:t>明暗节奏：封面(蓝) 浅 深 浅 浅 深 浅 深 浅 浅 深 浅 浅 深 收尾(蓝)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